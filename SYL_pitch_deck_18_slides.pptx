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val-epoch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hreshold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clf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eval-retrain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distribution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18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Mẫu khảo sát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Không báo kịp</a:t>
          </a:r>
        </a:p>
      </p:txBody>
    </p:sp>
    <p:sp>
      <p:nvSpPr>
        <p:cNvPr id="32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18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225936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sự cố không báo kịp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18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18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18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18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18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18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18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18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18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0–4 tuần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Đối tác nhận được gì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Đang tìm 2 đối tác cung cấp camera và 1 đối tác cung cấp địa điểm thử nghiệm. Đổi lại: đối tác camera nhận đội kỹ thuật hỗ trợ riêng + ưu đãi giá; đối tác địa điểm nhận sản phẩm dùng thử miễn phí 3 tháng.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Mục tiêu pilot · 4–12 tuần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Xác nhận hệ thống đạt Recall ≥85% và Precision với độ trễ cảnh báo chấp nhận được trên phần cứng/mạng thực tế của đối tác, không chỉ trong môi trường test nội bộ.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18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18</a:t>
          </a:r>
        </a:p>
      </p:txBody>
    </p:sp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Training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Validation theo epoch cho thấy metric duy trì ổn định trên ngưỡng mục tiêu.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val-epoch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14 / 18</a:t>
          </a:r>
        </a:p>
      </p:txBody>
    </p:sp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Threshold Tuning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Ngưỡng validation được theo dõi qua từng epoch để chọn điểm cắt phù hợp.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hreshold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15 / 18</a:t>
          </a:r>
        </a:p>
      </p:txBody>
    </p:sp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Test Classification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Biểu đồ lỗi phân loại giúp định hướng dữ liệu cần bổ sung cho re-train.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est-clf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16 / 18</a:t>
          </a:r>
        </a:p>
      </p:txBody>
    </p:sp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859536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Highlighted Evaluation</a:t>
          </a:r>
        </a:p>
      </p:txBody>
    </p:sp>
    <p:sp>
      <p:nvSpPr>
        <p:cNvPr id="13" name="Text"/>
        <p:cNvSpPr txBox="1"/>
        <p:nvPr/>
      </p:nvSpPr>
      <p:spPr>
        <a:xfrm>
          <a:off x="804672" y="1170432"/>
          <a:ext cx="10469880" cy="7498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550" dirty="0">
              <a:b/>
              <a:solidFill>
                <a:srgbClr val="EEFDF8"/>
              </a:solidFill>
              <a:latin typeface="Aptos Display"/>
              <a:cs typeface="Arial"/>
            </a:rPr>
            <a:t>Eval re-train xác nhận hiệu năng trên locked test và điều kiện chạy gần real-time.</a:t>
          </a:r>
        </a:p>
      </p:txBody>
    </p:sp>
    <p:sp>
      <p:nvSpPr>
        <p:cNvPr id="14" name="Panel"/>
        <p:cNvSpPr/>
        <p:nvPr/>
      </p:nvSpPr>
      <p:spPr>
        <a:xfrm>
          <a:off x="749808" y="2505456"/>
          <a:ext cx="6565392" cy="3346704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eval-retrai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77824" y="2651760"/>
          <a:ext cx="6309360" cy="3054096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7534656" y="2505456"/>
          <a:ext cx="3767328" cy="276148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Panel"/>
        <p:cNvSpPr/>
        <p:nvPr/>
      </p:nvSpPr>
      <p:spPr>
        <a:xfrm>
          <a:off x="7534656" y="2505456"/>
          <a:ext cx="3767328" cy="475488"/>
        </a:xfrm>
        <a:prstGeom prst="roundRect">
          <a:avLst/>
        </a:prstGeom>
        <a:solidFill>
          <a:srgbClr val="24402F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7607808" y="2651760"/>
          <a:ext cx="100584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Metric</a:t>
          </a:r>
        </a:p>
      </p:txBody>
    </p:sp>
    <p:sp>
      <p:nvSpPr>
        <p:cNvPr id="19" name="Text"/>
        <p:cNvSpPr txBox="1"/>
        <p:nvPr/>
      </p:nvSpPr>
      <p:spPr>
        <a:xfrm>
          <a:off x="8723376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VPS</a:t>
          </a:r>
        </a:p>
      </p:txBody>
    </p:sp>
    <p:sp>
      <p:nvSpPr>
        <p:cNvPr id="20" name="Text"/>
        <p:cNvSpPr txBox="1"/>
        <p:nvPr/>
      </p:nvSpPr>
      <p:spPr>
        <a:xfrm>
          <a:off x="10021824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local</a:t>
          </a:r>
        </a:p>
      </p:txBody>
    </p:sp>
    <p:sp>
      <p:nvSpPr>
        <p:cNvPr id="21" name="Panel"/>
        <p:cNvSpPr/>
        <p:nvPr/>
      </p:nvSpPr>
      <p:spPr>
        <a:xfrm>
          <a:off x="7534656" y="2980944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7607808" y="3154680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Average latency</a:t>
          </a:r>
        </a:p>
      </p:txBody>
    </p:sp>
    <p:sp>
      <p:nvSpPr>
        <p:cNvPr id="23" name="Text"/>
        <p:cNvSpPr txBox="1"/>
        <p:nvPr/>
      </p:nvSpPr>
      <p:spPr>
        <a:xfrm>
          <a:off x="8723376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332,467 ms</a:t>
          </a:r>
        </a:p>
      </p:txBody>
    </p:sp>
    <p:sp>
      <p:nvSpPr>
        <p:cNvPr id="24" name="Text"/>
        <p:cNvSpPr txBox="1"/>
        <p:nvPr/>
      </p:nvSpPr>
      <p:spPr>
        <a:xfrm>
          <a:off x="10021824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155,544 ms</a:t>
          </a:r>
        </a:p>
      </p:txBody>
    </p:sp>
    <p:sp>
      <p:nvSpPr>
        <p:cNvPr id="25" name="Panel"/>
        <p:cNvSpPr/>
        <p:nvPr/>
      </p:nvSpPr>
      <p:spPr>
        <a:xfrm>
          <a:off x="7534656" y="3694176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7607808" y="3867912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p95 latency</a:t>
          </a:r>
        </a:p>
      </p:txBody>
    </p:sp>
    <p:sp>
      <p:nvSpPr>
        <p:cNvPr id="27" name="Text"/>
        <p:cNvSpPr txBox="1"/>
        <p:nvPr/>
      </p:nvSpPr>
      <p:spPr>
        <a:xfrm>
          <a:off x="8723376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511,749 ms</a:t>
          </a:r>
        </a:p>
      </p:txBody>
    </p:sp>
    <p:sp>
      <p:nvSpPr>
        <p:cNvPr id="28" name="Text"/>
        <p:cNvSpPr txBox="1"/>
        <p:nvPr/>
      </p:nvSpPr>
      <p:spPr>
        <a:xfrm>
          <a:off x="10021824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194,355 ms</a:t>
          </a:r>
        </a:p>
      </p:txBody>
    </p:sp>
    <p:sp>
      <p:nvSpPr>
        <p:cNvPr id="29" name="Panel"/>
        <p:cNvSpPr/>
        <p:nvPr/>
      </p:nvSpPr>
      <p:spPr>
        <a:xfrm>
          <a:off x="7534656" y="4407408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7607808" y="4581144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FPS</a:t>
          </a:r>
        </a:p>
      </p:txBody>
    </p:sp>
    <p:sp>
      <p:nvSpPr>
        <p:cNvPr id="31" name="Text"/>
        <p:cNvSpPr txBox="1"/>
        <p:nvPr/>
      </p:nvSpPr>
      <p:spPr>
        <a:xfrm>
          <a:off x="8723376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3,22–5,55 FPS</a:t>
          </a:r>
        </a:p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phụ thuộc đường truyền</a:t>
          </a:r>
        </a:p>
      </p:txBody>
    </p:sp>
    <p:sp>
      <p:nvSpPr>
        <p:cNvPr id="32" name="Text"/>
        <p:cNvSpPr txBox="1"/>
        <p:nvPr/>
      </p:nvSpPr>
      <p:spPr>
        <a:xfrm>
          <a:off x="10021824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6,43–8,45 FPS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17 / 18</a:t>
          </a:r>
        </a:p>
      </p:txBody>
    </p:sp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Evidence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1440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Phân phối xác suất dự đoán trên tập test cho thấy hai nhóm fall/non-fall tách biệt rõ.</a:t>
          </a:r>
        </a:p>
      </p:txBody>
    </p:sp>
    <p:sp>
      <p:nvSpPr>
        <p:cNvPr id="14" name="Panel"/>
        <p:cNvSpPr/>
        <p:nvPr/>
      </p:nvSpPr>
      <p:spPr>
        <a:xfrm>
          <a:off x="987552" y="2542032"/>
          <a:ext cx="10222992" cy="3328416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st-distributio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1115568" y="2670048"/>
          <a:ext cx="9966960" cy="3072384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18 / 18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