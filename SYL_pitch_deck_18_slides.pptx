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syl-her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survey-missed-alert.png"/><Relationship Id="rId4" Type="http://schemas.openxmlformats.org/officeDocument/2006/relationships/image" Target="../media/survey-support-solution.png"/><Relationship Id="rId5" Type="http://schemas.openxmlformats.org/officeDocument/2006/relationships/image" Target="../media/survey-early-access.png"/><Relationship Id="rId6" Type="http://schemas.openxmlformats.org/officeDocument/2006/relationships/image" Target="../media/survey-false-alarm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overview-diagram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video" Target="../media/demo.mp4"/><Relationship Id="rId4" Type="http://schemas.microsoft.com/office/2007/relationships/media" Target="../media/demo.mp4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val-epoch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threshold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test-clf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eval-retrain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tech-test-distribution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syl-hero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0" y="0"/>
          <a:ext cx="12191999" cy="6858000"/>
        </a:xfrm>
        <a:prstGeom prst="rect">
          <a:avLst/>
        </a:prstGeom>
      </p:spPr>
    </p:pic>
    <p:sp>
      <p:nvSpPr>
        <p:cNvPr id="12" name="Overlay"/>
        <p:cNvSpPr/>
        <p:nvPr/>
      </p:nvSpPr>
      <p:spPr>
        <a:xfrm>
          <a:off x="0" y="0"/>
          <a:ext cx="12191999" cy="6858000"/>
        </a:xfrm>
        <a:prstGeom prst="rect">
          <a:avLst/>
        </a:prstGeom>
        <a:solidFill>
          <a:srgbClr val="102018">
            <a:alpha val="28000"/>
          </a:srgbClr>
        </a:solidFill>
        <a:ln>
          <a:noFill/>
        </a:ln>
      </p:spPr>
    </p:sp>
    <p:pic>
      <p:nvPicPr>
        <p:cNvPr id="13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4" name="Text"/>
        <p:cNvSpPr txBox="1"/>
        <p:nvPr/>
      </p:nvSpPr>
      <p:spPr>
        <a:xfrm>
          <a:off x="841248" y="1234440"/>
          <a:ext cx="6217920" cy="31089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59E0D0"/>
              </a:solidFill>
              <a:latin typeface="Aptos Display"/>
              <a:cs typeface="Arial"/>
            </a:rPr>
            <a:t>Fall detection · Stranger alert · Privacy by role</a:t>
          </a:r>
        </a:p>
      </p:txBody>
    </p:sp>
    <p:sp>
      <p:nvSpPr>
        <p:cNvPr id="15" name="Text"/>
        <p:cNvSpPr txBox="1"/>
        <p:nvPr/>
      </p:nvSpPr>
      <p:spPr>
        <a:xfrm>
          <a:off x="804672" y="1664208"/>
          <a:ext cx="3749039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6" name="Text"/>
        <p:cNvSpPr txBox="1"/>
        <p:nvPr/>
      </p:nvSpPr>
      <p:spPr>
        <a:xfrm>
          <a:off x="877824" y="2743200"/>
          <a:ext cx="5943600" cy="6217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solidFill>
                <a:srgbClr val="D8F4EF"/>
              </a:solidFill>
              <a:latin typeface="Aptos Display"/>
              <a:cs typeface="Arial"/>
            </a:rPr>
            <a:t>Lớp AI an toàn cho gia đình có người cao tuổi: phát hiện té ngã, cảnh báo người lạ và kích hoạt hỗ trợ khẩn cấp đúng lúc.</a:t>
          </a:r>
        </a:p>
      </p:txBody>
    </p:sp>
    <p:sp>
      <p:nvSpPr>
        <p:cNvPr id="17" name="Panel"/>
        <p:cNvSpPr/>
        <p:nvPr/>
      </p:nvSpPr>
      <p:spPr>
        <a:xfrm>
          <a:off x="877824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950976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YOLO Pose</a:t>
          </a:r>
        </a:p>
      </p:txBody>
    </p:sp>
    <p:sp>
      <p:nvSpPr>
        <p:cNvPr id="19" name="Panel"/>
        <p:cNvSpPr/>
        <p:nvPr/>
      </p:nvSpPr>
      <p:spPr>
        <a:xfrm>
          <a:off x="2578608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2651760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Real-time alerts</a:t>
          </a:r>
        </a:p>
      </p:txBody>
    </p:sp>
    <p:sp>
      <p:nvSpPr>
        <p:cNvPr id="21" name="Panel"/>
        <p:cNvSpPr/>
        <p:nvPr/>
      </p:nvSpPr>
      <p:spPr>
        <a:xfrm>
          <a:off x="4279392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4352544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WebRTC/HLS streaming</a:t>
          </a:r>
        </a:p>
      </p:txBody>
    </p:sp>
    <p:sp>
      <p:nvSpPr>
        <p:cNvPr id="23" name="Panel"/>
        <p:cNvSpPr/>
        <p:nvPr/>
      </p:nvSpPr>
      <p:spPr>
        <a:xfrm>
          <a:off x="5980176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053328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B2B2C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01 / 18</a:t>
          </a:r>
        </a:p>
      </p:txBody>
    </p:sp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Problem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Khoảnh khắc nguy hiểm nhất thường xảy ra khi không ai đang nhìn.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Gia đình cần một hệ thống biết phân biệt sự cố thật với chuyển động bình thường, thay vì chỉ gửi thêm nhiều thông báo nhiễu.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trễ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Người đi làm hoặc sống xa không thể luôn theo dõi camera để biết cha mẹ gặp sự cố.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Alert fatigue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Motion alert quá nhiều khiến người dùng dễ tắt thông báo và bỏ lỡ cảnh báo quan trọng.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Rủi ro riêng tư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Camera gia đình phải kiểm soát ai được xem, xem trong bao lâu và xem vì lý do gì.</a:t>
          </a:r>
        </a:p>
      </p:txBody>
    </p:sp>
    <p:sp>
      <p:nvSpPr>
        <p:cNvPr id="24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5" name="Text"/>
        <p:cNvSpPr txBox="1"/>
        <p:nvPr/>
      </p:nvSpPr>
      <p:spPr>
        <a:xfrm>
          <a:off x="96926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Mẫu khảo sát</a:t>
          </a:r>
        </a:p>
      </p:txBody>
    </p:sp>
    <p:sp>
      <p:nvSpPr>
        <p:cNvPr id="26" name="Text"/>
        <p:cNvSpPr txBox="1"/>
        <p:nvPr/>
      </p:nvSpPr>
      <p:spPr>
        <a:xfrm>
          <a:off x="195681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52</a:t>
          </a:r>
        </a:p>
      </p:txBody>
    </p:sp>
    <p:sp>
      <p:nvSpPr>
        <p:cNvPr id="27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8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Báo động giả</a:t>
          </a:r>
        </a:p>
      </p:txBody>
    </p:sp>
    <p:sp>
      <p:nvSpPr>
        <p:cNvPr id="29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34,6%</a:t>
          </a:r>
        </a:p>
      </p:txBody>
    </p:sp>
    <p:sp>
      <p:nvSpPr>
        <p:cNvPr id="30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544982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Không báo kịp</a:t>
          </a:r>
        </a:p>
      </p:txBody>
    </p:sp>
    <p:sp>
      <p:nvSpPr>
        <p:cNvPr id="32" name="Text"/>
        <p:cNvSpPr txBox="1"/>
        <p:nvPr/>
      </p:nvSpPr>
      <p:spPr>
        <a:xfrm>
          <a:off x="643737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46,2%</a:t>
          </a:r>
        </a:p>
      </p:txBody>
    </p:sp>
    <p:sp>
      <p:nvSpPr>
        <p:cNvPr id="33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02 / 18</a:t>
          </a:r>
        </a:p>
      </p:txBody>
    </p:sp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Market Signal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Survey xác nhận nỗi lo thật và mức sẵn sàng thử nghiệm.</a:t>
          </a:r>
        </a:p>
      </p:txBody>
    </p:sp>
    <p:sp>
      <p:nvSpPr>
        <p:cNvPr id="14" name="Panel"/>
        <p:cNvSpPr/>
        <p:nvPr/>
      </p:nvSpPr>
      <p:spPr>
        <a:xfrm>
          <a:off x="658368" y="2651760"/>
          <a:ext cx="1353312" cy="98755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749808" y="2798064"/>
          <a:ext cx="1170432" cy="2926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20" dirty="0">
              <a:b/>
              <a:solidFill>
                <a:srgbClr val="70F0A8"/>
              </a:solidFill>
              <a:latin typeface="Aptos Display"/>
              <a:cs typeface="Arial"/>
            </a:rPr>
            <a:t>52</a:t>
          </a:r>
        </a:p>
      </p:txBody>
    </p:sp>
    <p:sp>
      <p:nvSpPr>
        <p:cNvPr id="16" name="Text"/>
        <p:cNvSpPr txBox="1"/>
        <p:nvPr/>
      </p:nvSpPr>
      <p:spPr>
        <a:xfrm>
          <a:off x="749808" y="3172968"/>
          <a:ext cx="1170432" cy="28346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25" dirty="0">
              <a:solidFill>
                <a:srgbClr val="A8C4C0"/>
              </a:solidFill>
              <a:latin typeface="Aptos Display"/>
              <a:cs typeface="Arial"/>
            </a:rPr>
            <a:t>câu trả lời khảo sát về nhu cầu chăm sóc người thân lớn tuổi tại nhà.</a:t>
          </a:r>
        </a:p>
      </p:txBody>
    </p:sp>
    <p:sp>
      <p:nvSpPr>
        <p:cNvPr id="17" name="Panel"/>
        <p:cNvSpPr/>
        <p:nvPr/>
      </p:nvSpPr>
      <p:spPr>
        <a:xfrm>
          <a:off x="2167128" y="2651760"/>
          <a:ext cx="1353312" cy="98755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2258568" y="2798064"/>
          <a:ext cx="1170432" cy="2926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20" dirty="0">
              <a:b/>
              <a:solidFill>
                <a:srgbClr val="70F0A8"/>
              </a:solidFill>
              <a:latin typeface="Aptos Display"/>
              <a:cs typeface="Arial"/>
            </a:rPr>
            <a:t>85%</a:t>
          </a:r>
        </a:p>
      </p:txBody>
    </p:sp>
    <p:sp>
      <p:nvSpPr>
        <p:cNvPr id="19" name="Text"/>
        <p:cNvSpPr txBox="1"/>
        <p:nvPr/>
      </p:nvSpPr>
      <p:spPr>
        <a:xfrm>
          <a:off x="2258568" y="3172968"/>
          <a:ext cx="1170432" cy="28346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25" dirty="0">
              <a:solidFill>
                <a:srgbClr val="A8C4C0"/>
              </a:solidFill>
              <a:latin typeface="Aptos Display"/>
              <a:cs typeface="Arial"/>
            </a:rPr>
            <a:t>có người lớn tuổi trong gia đình và lo lắng khi họ ở nhà một mình.</a:t>
          </a:r>
        </a:p>
      </p:txBody>
    </p:sp>
    <p:sp>
      <p:nvSpPr>
        <p:cNvPr id="20" name="Panel"/>
        <p:cNvSpPr/>
        <p:nvPr/>
      </p:nvSpPr>
      <p:spPr>
        <a:xfrm>
          <a:off x="3675887" y="2651760"/>
          <a:ext cx="1353312" cy="98755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3767327" y="2798064"/>
          <a:ext cx="1170432" cy="2926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20" dirty="0">
              <a:b/>
              <a:solidFill>
                <a:srgbClr val="70F0A8"/>
              </a:solidFill>
              <a:latin typeface="Aptos Display"/>
              <a:cs typeface="Arial"/>
            </a:rPr>
            <a:t>66,7%</a:t>
          </a:r>
        </a:p>
      </p:txBody>
    </p:sp>
    <p:sp>
      <p:nvSpPr>
        <p:cNvPr id="22" name="Text"/>
        <p:cNvSpPr txBox="1"/>
        <p:nvPr/>
      </p:nvSpPr>
      <p:spPr>
        <a:xfrm>
          <a:off x="3767327" y="3172968"/>
          <a:ext cx="1170432" cy="28346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25" dirty="0">
              <a:solidFill>
                <a:srgbClr val="A8C4C0"/>
              </a:solidFill>
              <a:latin typeface="Aptos Display"/>
              <a:cs typeface="Arial"/>
            </a:rPr>
            <a:t>tin dùng thiết bị điện tử để hỗ trợ theo dõi người thân lớn tuổi.</a:t>
          </a:r>
        </a:p>
      </p:txBody>
    </p:sp>
    <p:sp>
      <p:nvSpPr>
        <p:cNvPr id="23" name="Panel"/>
        <p:cNvSpPr/>
        <p:nvPr/>
      </p:nvSpPr>
      <p:spPr>
        <a:xfrm>
          <a:off x="658368" y="3858768"/>
          <a:ext cx="4480560" cy="157276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41248" y="3986784"/>
          <a:ext cx="406908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EEFDF8"/>
              </a:solidFill>
              <a:latin typeface="Aptos Display"/>
              <a:cs typeface="Arial"/>
            </a:rPr>
            <a:t>Tín hiệu nhu cầu từ report &amp; survey</a:t>
          </a:r>
        </a:p>
      </p:txBody>
    </p:sp>
    <p:sp>
      <p:nvSpPr>
        <p:cNvPr id="25" name="Text"/>
        <p:cNvSpPr txBox="1"/>
        <p:nvPr/>
      </p:nvSpPr>
      <p:spPr>
        <a:xfrm>
          <a:off x="841248" y="427024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Có NCT &amp; lo lắng</a:t>
          </a:r>
        </a:p>
      </p:txBody>
    </p:sp>
    <p:sp>
      <p:nvSpPr>
        <p:cNvPr id="26" name="Panel"/>
        <p:cNvSpPr/>
        <p:nvPr/>
      </p:nvSpPr>
      <p:spPr>
        <a:xfrm>
          <a:off x="2267712" y="427939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27" name="Panel"/>
        <p:cNvSpPr/>
        <p:nvPr/>
      </p:nvSpPr>
      <p:spPr>
        <a:xfrm>
          <a:off x="2267712" y="4279392"/>
          <a:ext cx="1694383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8" name="Text"/>
        <p:cNvSpPr txBox="1"/>
        <p:nvPr/>
      </p:nvSpPr>
      <p:spPr>
        <a:xfrm>
          <a:off x="4370832" y="427024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85%</a:t>
          </a:r>
        </a:p>
      </p:txBody>
    </p:sp>
    <p:sp>
      <p:nvSpPr>
        <p:cNvPr id="29" name="Text"/>
        <p:cNvSpPr txBox="1"/>
        <p:nvPr/>
      </p:nvSpPr>
      <p:spPr>
        <a:xfrm>
          <a:off x="841248" y="445312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Tin thiết bị điện tử</a:t>
          </a:r>
        </a:p>
      </p:txBody>
    </p:sp>
    <p:sp>
      <p:nvSpPr>
        <p:cNvPr id="30" name="Panel"/>
        <p:cNvSpPr/>
        <p:nvPr/>
      </p:nvSpPr>
      <p:spPr>
        <a:xfrm>
          <a:off x="2267712" y="446227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2267712" y="4462272"/>
          <a:ext cx="1329592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4370832" y="445312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66,7%</a:t>
          </a:r>
        </a:p>
      </p:txBody>
    </p:sp>
    <p:sp>
      <p:nvSpPr>
        <p:cNvPr id="33" name="Text"/>
        <p:cNvSpPr txBox="1"/>
        <p:nvPr/>
      </p:nvSpPr>
      <p:spPr>
        <a:xfrm>
          <a:off x="841248" y="463600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Quan tâm sản phẩm</a:t>
          </a:r>
        </a:p>
      </p:txBody>
    </p:sp>
    <p:sp>
      <p:nvSpPr>
        <p:cNvPr id="34" name="Panel"/>
        <p:cNvSpPr/>
        <p:nvPr/>
      </p:nvSpPr>
      <p:spPr>
        <a:xfrm>
          <a:off x="2267712" y="464515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35" name="Panel"/>
        <p:cNvSpPr/>
        <p:nvPr/>
      </p:nvSpPr>
      <p:spPr>
        <a:xfrm>
          <a:off x="2267712" y="4645152"/>
          <a:ext cx="1176101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6" name="Text"/>
        <p:cNvSpPr txBox="1"/>
        <p:nvPr/>
      </p:nvSpPr>
      <p:spPr>
        <a:xfrm>
          <a:off x="4370832" y="463600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59%</a:t>
          </a:r>
        </a:p>
      </p:txBody>
    </p:sp>
    <p:sp>
      <p:nvSpPr>
        <p:cNvPr id="37" name="Text"/>
        <p:cNvSpPr txBox="1"/>
        <p:nvPr/>
      </p:nvSpPr>
      <p:spPr>
        <a:xfrm>
          <a:off x="841248" y="481888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Có sự cố không báo kịp</a:t>
          </a:r>
        </a:p>
      </p:txBody>
    </p:sp>
    <p:sp>
      <p:nvSpPr>
        <p:cNvPr id="38" name="Panel"/>
        <p:cNvSpPr/>
        <p:nvPr/>
      </p:nvSpPr>
      <p:spPr>
        <a:xfrm>
          <a:off x="2267712" y="4828031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39" name="Panel"/>
        <p:cNvSpPr/>
        <p:nvPr/>
      </p:nvSpPr>
      <p:spPr>
        <a:xfrm>
          <a:off x="2267712" y="4828031"/>
          <a:ext cx="920947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0" name="Text"/>
        <p:cNvSpPr txBox="1"/>
        <p:nvPr/>
      </p:nvSpPr>
      <p:spPr>
        <a:xfrm>
          <a:off x="4370832" y="481888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46,2%</a:t>
          </a:r>
        </a:p>
      </p:txBody>
    </p:sp>
    <p:sp>
      <p:nvSpPr>
        <p:cNvPr id="41" name="Text"/>
        <p:cNvSpPr txBox="1"/>
        <p:nvPr/>
      </p:nvSpPr>
      <p:spPr>
        <a:xfrm>
          <a:off x="841248" y="500176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Chắc chắn demo</a:t>
          </a:r>
        </a:p>
      </p:txBody>
    </p:sp>
    <p:sp>
      <p:nvSpPr>
        <p:cNvPr id="42" name="Panel"/>
        <p:cNvSpPr/>
        <p:nvPr/>
      </p:nvSpPr>
      <p:spPr>
        <a:xfrm>
          <a:off x="2267712" y="501091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2267712" y="5010912"/>
          <a:ext cx="767455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4" name="Text"/>
        <p:cNvSpPr txBox="1"/>
        <p:nvPr/>
      </p:nvSpPr>
      <p:spPr>
        <a:xfrm>
          <a:off x="4370832" y="500176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38,5%</a:t>
          </a:r>
        </a:p>
      </p:txBody>
    </p:sp>
    <p:sp>
      <p:nvSpPr>
        <p:cNvPr id="45" name="Text"/>
        <p:cNvSpPr txBox="1"/>
        <p:nvPr/>
      </p:nvSpPr>
      <p:spPr>
        <a:xfrm>
          <a:off x="841248" y="5184648"/>
          <a:ext cx="1389888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15" dirty="0">
              <a:solidFill>
                <a:srgbClr val="A8C4C0"/>
              </a:solidFill>
              <a:latin typeface="Aptos Display"/>
              <a:cs typeface="Arial"/>
            </a:rPr>
            <a:t>Báo động giả</a:t>
          </a:r>
        </a:p>
      </p:txBody>
    </p:sp>
    <p:sp>
      <p:nvSpPr>
        <p:cNvPr id="46" name="Panel"/>
        <p:cNvSpPr/>
        <p:nvPr/>
      </p:nvSpPr>
      <p:spPr>
        <a:xfrm>
          <a:off x="2267712" y="5193792"/>
          <a:ext cx="1993392" cy="73152"/>
        </a:xfrm>
        <a:prstGeom prst="roundRect">
          <a:avLst/>
        </a:prstGeom>
        <a:solidFill>
          <a:srgbClr val="2B3A24">
            <a:alpha val="90000"/>
          </a:srgbClr>
        </a:solidFill>
        <a:ln w="12700">
          <a:solidFill>
            <a:srgbClr val="2B3A24">
              <a:alpha val="52000"/>
            </a:srgbClr>
          </a:solidFill>
        </a:ln>
      </p:spPr>
    </p:sp>
    <p:sp>
      <p:nvSpPr>
        <p:cNvPr id="47" name="Panel"/>
        <p:cNvSpPr/>
        <p:nvPr/>
      </p:nvSpPr>
      <p:spPr>
        <a:xfrm>
          <a:off x="2267712" y="5193792"/>
          <a:ext cx="689713" cy="7315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8" name="Text"/>
        <p:cNvSpPr txBox="1"/>
        <p:nvPr/>
      </p:nvSpPr>
      <p:spPr>
        <a:xfrm>
          <a:off x="4370832" y="5184648"/>
          <a:ext cx="50292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615" dirty="0">
              <a:b/>
              <a:solidFill>
                <a:srgbClr val="70F0A8"/>
              </a:solidFill>
              <a:latin typeface="Aptos Display"/>
              <a:cs typeface="Arial"/>
            </a:rPr>
            <a:t>34,6%</a:t>
          </a:r>
        </a:p>
      </p:txBody>
    </p:sp>
    <p:sp>
      <p:nvSpPr>
        <p:cNvPr id="49" name="Panel"/>
        <p:cNvSpPr/>
        <p:nvPr/>
      </p:nvSpPr>
      <p:spPr>
        <a:xfrm>
          <a:off x="5376672" y="254203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0" name="missed-alert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5468112" y="2633472"/>
          <a:ext cx="2670048" cy="1170432"/>
        </a:xfrm>
        <a:prstGeom prst="rect">
          <a:avLst/>
        </a:prstGeom>
      </p:spPr>
    </p:pic>
    <p:sp>
      <p:nvSpPr>
        <p:cNvPr id="51" name="Panel"/>
        <p:cNvSpPr/>
        <p:nvPr/>
      </p:nvSpPr>
      <p:spPr>
        <a:xfrm>
          <a:off x="8394192" y="254203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2" name="support-solution.png"/>
        <p:cNvPicPr>
          <a:picLocks noChangeAspect="1"/>
        </p:cNvPicPr>
        <p:nvPr/>
      </p:nvPicPr>
      <p:blipFill>
        <a:blip r:embed="rId4"/>
        <a:stretch>
          <a:fillRect/>
        </a:stretch>
      </p:blipFill>
      <p:spPr>
        <a:xfrm>
          <a:off x="8485632" y="2633472"/>
          <a:ext cx="2670048" cy="1170432"/>
        </a:xfrm>
        <a:prstGeom prst="rect">
          <a:avLst/>
        </a:prstGeom>
      </p:spPr>
    </p:pic>
    <p:sp>
      <p:nvSpPr>
        <p:cNvPr id="53" name="Panel"/>
        <p:cNvSpPr/>
        <p:nvPr/>
      </p:nvSpPr>
      <p:spPr>
        <a:xfrm>
          <a:off x="5376672" y="409651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4" name="early-access.png"/>
        <p:cNvPicPr>
          <a:picLocks noChangeAspect="1"/>
        </p:cNvPicPr>
        <p:nvPr/>
      </p:nvPicPr>
      <p:blipFill>
        <a:blip r:embed="rId5"/>
        <a:stretch>
          <a:fillRect/>
        </a:stretch>
      </p:blipFill>
      <p:spPr>
        <a:xfrm>
          <a:off x="5468112" y="4187952"/>
          <a:ext cx="2670048" cy="1170432"/>
        </a:xfrm>
        <a:prstGeom prst="rect">
          <a:avLst/>
        </a:prstGeom>
      </p:spPr>
    </p:pic>
    <p:sp>
      <p:nvSpPr>
        <p:cNvPr id="55" name="Panel"/>
        <p:cNvSpPr/>
        <p:nvPr/>
      </p:nvSpPr>
      <p:spPr>
        <a:xfrm>
          <a:off x="8394192" y="4096512"/>
          <a:ext cx="2852928" cy="1353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56" name="false-alarm.png"/>
        <p:cNvPicPr>
          <a:picLocks noChangeAspect="1"/>
        </p:cNvPicPr>
        <p:nvPr/>
      </p:nvPicPr>
      <p:blipFill>
        <a:blip r:embed="rId6"/>
        <a:stretch>
          <a:fillRect/>
        </a:stretch>
      </p:blipFill>
      <p:spPr>
        <a:xfrm>
          <a:off x="8485632" y="4187952"/>
          <a:ext cx="2670048" cy="1170432"/>
        </a:xfrm>
        <a:prstGeom prst="rect">
          <a:avLst/>
        </a:prstGeom>
      </p:spPr>
    </p:pic>
    <p:sp>
      <p:nvSpPr>
        <p:cNvPr id="57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58" name="Text"/>
        <p:cNvSpPr txBox="1"/>
        <p:nvPr/>
      </p:nvSpPr>
      <p:spPr>
        <a:xfrm>
          <a:off x="1024128" y="5413248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solidFill>
                <a:srgbClr val="D8F4EF"/>
              </a:solidFill>
              <a:latin typeface="Aptos Display"/>
              <a:cs typeface="Arial"/>
            </a:rPr>
            <a:t>Nền thị trường: khoảng 16,1 triệu người cao tuổi tại Việt Nam và 1,5–1,9 triệu ca té ngã mỗi năm tạo nhu cầu rõ cho cảnh báo sớm tại nhà.</a:t>
          </a:r>
        </a:p>
      </p:txBody>
    </p:sp>
    <p:sp>
      <p:nvSpPr>
        <p:cNvPr id="59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03 / 18</a:t>
          </a:r>
        </a:p>
      </p:txBody>
    </p:sp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Solution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SYL biến camera hiện có thành hệ thống chăm sóc chủ động.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Gateway AI kết nối camera IP, phân tích hình ảnh thời gian thực và gửi cảnh báo có bằng chứng đến đúng người xử lý.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té ngã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Nhận biết tư thế/ngữ cảnh nguy hiểm để kích hoạt cảnh báo khẩn.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người lạ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Đối chiếu người nhà với người lạ để giảm rủi ro an ninh trong nhà.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Bằng chứng tức thì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Email/app gửi snapshot hoặc video evidence để gia đình xác minh nhanh.</a:t>
          </a:r>
        </a:p>
      </p:txBody>
    </p:sp>
    <p:sp>
      <p:nvSpPr>
        <p:cNvPr id="24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5" name="Text"/>
        <p:cNvSpPr txBox="1"/>
        <p:nvPr/>
      </p:nvSpPr>
      <p:spPr>
        <a:xfrm>
          <a:off x="96926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Fall recall</a:t>
          </a:r>
        </a:p>
      </p:txBody>
    </p:sp>
    <p:sp>
      <p:nvSpPr>
        <p:cNvPr id="26" name="Text"/>
        <p:cNvSpPr txBox="1"/>
        <p:nvPr/>
      </p:nvSpPr>
      <p:spPr>
        <a:xfrm>
          <a:off x="195681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≥85%</a:t>
          </a:r>
        </a:p>
      </p:txBody>
    </p:sp>
    <p:sp>
      <p:nvSpPr>
        <p:cNvPr id="27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8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Stranger F1</a:t>
          </a:r>
        </a:p>
      </p:txBody>
    </p:sp>
    <p:sp>
      <p:nvSpPr>
        <p:cNvPr id="29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83%</a:t>
          </a:r>
        </a:p>
      </p:txBody>
    </p:sp>
    <p:sp>
      <p:nvSpPr>
        <p:cNvPr id="30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Evidence flow</a:t>
          </a:r>
        </a:p>
      </p:txBody>
    </p:sp>
    <p:sp>
      <p:nvSpPr>
        <p:cNvPr id="32" name="Panel"/>
        <p:cNvSpPr/>
        <p:nvPr/>
      </p:nvSpPr>
      <p:spPr>
        <a:xfrm>
          <a:off x="5486400" y="5758891"/>
          <a:ext cx="292608" cy="9326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3" name="Panel"/>
        <p:cNvSpPr/>
        <p:nvPr/>
      </p:nvSpPr>
      <p:spPr>
        <a:xfrm>
          <a:off x="5879592" y="5671840"/>
          <a:ext cx="292608" cy="180319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4" name="Panel"/>
        <p:cNvSpPr/>
        <p:nvPr/>
      </p:nvSpPr>
      <p:spPr>
        <a:xfrm>
          <a:off x="6272784" y="5584789"/>
          <a:ext cx="292608" cy="26737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04 / 18</a:t>
          </a:r>
        </a:p>
      </p:txBody>
    </p:sp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Product Flow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Từ camera đến hành động khẩn cấp trong vài bước.</a:t>
          </a:r>
        </a:p>
      </p:txBody>
    </p:sp>
    <p:sp>
      <p:nvSpPr>
        <p:cNvPr id="14" name="Panel"/>
        <p:cNvSpPr/>
        <p:nvPr/>
      </p:nvSpPr>
      <p:spPr>
        <a:xfrm>
          <a:off x="841248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60120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01</a:t>
          </a:r>
        </a:p>
      </p:txBody>
    </p:sp>
    <p:sp>
      <p:nvSpPr>
        <p:cNvPr id="16" name="Text"/>
        <p:cNvSpPr txBox="1"/>
        <p:nvPr/>
      </p:nvSpPr>
      <p:spPr>
        <a:xfrm>
          <a:off x="960120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Stream</a:t>
          </a:r>
        </a:p>
      </p:txBody>
    </p:sp>
    <p:sp>
      <p:nvSpPr>
        <p:cNvPr id="17" name="Text"/>
        <p:cNvSpPr txBox="1"/>
        <p:nvPr/>
      </p:nvSpPr>
      <p:spPr>
        <a:xfrm>
          <a:off x="960120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Camera IP gửi RTSP qua mạng LAN hoặc tunnel bảo mật.</a:t>
          </a:r>
        </a:p>
      </p:txBody>
    </p:sp>
    <p:sp>
      <p:nvSpPr>
        <p:cNvPr id="18" name="Panel"/>
        <p:cNvSpPr/>
        <p:nvPr/>
      </p:nvSpPr>
      <p:spPr>
        <a:xfrm>
          <a:off x="2968142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3087014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02</a:t>
          </a:r>
        </a:p>
      </p:txBody>
    </p:sp>
    <p:sp>
      <p:nvSpPr>
        <p:cNvPr id="20" name="Text"/>
        <p:cNvSpPr txBox="1"/>
        <p:nvPr/>
      </p:nvSpPr>
      <p:spPr>
        <a:xfrm>
          <a:off x="3087014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Infer</a:t>
          </a:r>
        </a:p>
      </p:txBody>
    </p:sp>
    <p:sp>
      <p:nvSpPr>
        <p:cNvPr id="21" name="Text"/>
        <p:cNvSpPr txBox="1"/>
        <p:nvPr/>
      </p:nvSpPr>
      <p:spPr>
        <a:xfrm>
          <a:off x="3087014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Model pose/face chạy inference và bám theo người trong khung hình.</a:t>
          </a:r>
        </a:p>
      </p:txBody>
    </p:sp>
    <p:sp>
      <p:nvSpPr>
        <p:cNvPr id="22" name="Panel"/>
        <p:cNvSpPr/>
        <p:nvPr/>
      </p:nvSpPr>
      <p:spPr>
        <a:xfrm>
          <a:off x="5095036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5213908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03</a:t>
          </a:r>
        </a:p>
      </p:txBody>
    </p:sp>
    <p:sp>
      <p:nvSpPr>
        <p:cNvPr id="24" name="Text"/>
        <p:cNvSpPr txBox="1"/>
        <p:nvPr/>
      </p:nvSpPr>
      <p:spPr>
        <a:xfrm>
          <a:off x="5213908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Classify</a:t>
          </a:r>
        </a:p>
      </p:txBody>
    </p:sp>
    <p:sp>
      <p:nvSpPr>
        <p:cNvPr id="25" name="Text"/>
        <p:cNvSpPr txBox="1"/>
        <p:nvPr/>
      </p:nvSpPr>
      <p:spPr>
        <a:xfrm>
          <a:off x="5213908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Temporal classifier xác định té ngã, bất động hoặc người lạ.</a:t>
          </a:r>
        </a:p>
      </p:txBody>
    </p:sp>
    <p:sp>
      <p:nvSpPr>
        <p:cNvPr id="26" name="Panel"/>
        <p:cNvSpPr/>
        <p:nvPr/>
      </p:nvSpPr>
      <p:spPr>
        <a:xfrm>
          <a:off x="7221931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7340803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04</a:t>
          </a:r>
        </a:p>
      </p:txBody>
    </p:sp>
    <p:sp>
      <p:nvSpPr>
        <p:cNvPr id="28" name="Text"/>
        <p:cNvSpPr txBox="1"/>
        <p:nvPr/>
      </p:nvSpPr>
      <p:spPr>
        <a:xfrm>
          <a:off x="7340803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Alert</a:t>
          </a:r>
        </a:p>
      </p:txBody>
    </p:sp>
    <p:sp>
      <p:nvSpPr>
        <p:cNvPr id="29" name="Text"/>
        <p:cNvSpPr txBox="1"/>
        <p:nvPr/>
      </p:nvSpPr>
      <p:spPr>
        <a:xfrm>
          <a:off x="7340803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Hệ thống gửi cảnh báo real-time kèm bằng chứng.</a:t>
          </a:r>
        </a:p>
      </p:txBody>
    </p:sp>
    <p:sp>
      <p:nvSpPr>
        <p:cNvPr id="30" name="Panel"/>
        <p:cNvSpPr/>
        <p:nvPr/>
      </p:nvSpPr>
      <p:spPr>
        <a:xfrm>
          <a:off x="9348825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9467697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05</a:t>
          </a:r>
        </a:p>
      </p:txBody>
    </p:sp>
    <p:sp>
      <p:nvSpPr>
        <p:cNvPr id="32" name="Text"/>
        <p:cNvSpPr txBox="1"/>
        <p:nvPr/>
      </p:nvSpPr>
      <p:spPr>
        <a:xfrm>
          <a:off x="9467697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Respond</a:t>
          </a:r>
        </a:p>
      </p:txBody>
    </p:sp>
    <p:sp>
      <p:nvSpPr>
        <p:cNvPr id="33" name="Text"/>
        <p:cNvSpPr txBox="1"/>
        <p:nvPr/>
      </p:nvSpPr>
      <p:spPr>
        <a:xfrm>
          <a:off x="9467697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Gia đình/admin/bác sĩ phối hợp xử lý trên app.</a:t>
          </a:r>
        </a:p>
      </p:txBody>
    </p:sp>
    <p:sp>
      <p:nvSpPr>
        <p:cNvPr id="34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Camera</a:t>
          </a:r>
        </a:p>
      </p:txBody>
    </p:sp>
    <p:sp>
      <p:nvSpPr>
        <p:cNvPr id="36" name="Panel"/>
        <p:cNvSpPr/>
        <p:nvPr/>
      </p:nvSpPr>
      <p:spPr>
        <a:xfrm>
          <a:off x="1005840" y="5696712"/>
          <a:ext cx="292608" cy="15544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Panel"/>
        <p:cNvSpPr/>
        <p:nvPr/>
      </p:nvSpPr>
      <p:spPr>
        <a:xfrm>
          <a:off x="1399032" y="5634532"/>
          <a:ext cx="292608" cy="21762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8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9" name="Text"/>
        <p:cNvSpPr txBox="1"/>
        <p:nvPr/>
      </p:nvSpPr>
      <p:spPr>
        <a:xfrm>
          <a:off x="320954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AI pipeline</a:t>
          </a:r>
        </a:p>
      </p:txBody>
    </p:sp>
    <p:sp>
      <p:nvSpPr>
        <p:cNvPr id="40" name="Panel"/>
        <p:cNvSpPr/>
        <p:nvPr/>
      </p:nvSpPr>
      <p:spPr>
        <a:xfrm>
          <a:off x="3246120" y="5743346"/>
          <a:ext cx="292608" cy="10881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1" name="Panel"/>
        <p:cNvSpPr/>
        <p:nvPr/>
      </p:nvSpPr>
      <p:spPr>
        <a:xfrm>
          <a:off x="3639312" y="5650077"/>
          <a:ext cx="292608" cy="20208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2" name="Panel"/>
        <p:cNvSpPr/>
        <p:nvPr/>
      </p:nvSpPr>
      <p:spPr>
        <a:xfrm>
          <a:off x="4032504" y="5572353"/>
          <a:ext cx="292608" cy="27980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4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Response</a:t>
          </a:r>
        </a:p>
      </p:txBody>
    </p:sp>
    <p:sp>
      <p:nvSpPr>
        <p:cNvPr id="45" name="Panel"/>
        <p:cNvSpPr/>
        <p:nvPr/>
      </p:nvSpPr>
      <p:spPr>
        <a:xfrm>
          <a:off x="5486400" y="5712256"/>
          <a:ext cx="292608" cy="13990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6" name="Panel"/>
        <p:cNvSpPr/>
        <p:nvPr/>
      </p:nvSpPr>
      <p:spPr>
        <a:xfrm>
          <a:off x="5879592" y="5603443"/>
          <a:ext cx="292608" cy="24871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05 / 18</a:t>
          </a:r>
        </a:p>
      </p:txBody>
    </p:sp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System Architecture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Kiến trúc triển khai thật: camera LAN, AI services, streaming và web app.</a:t>
          </a:r>
        </a:p>
      </p:txBody>
    </p:sp>
    <p:sp>
      <p:nvSpPr>
        <p:cNvPr id="14" name="Panel"/>
        <p:cNvSpPr/>
        <p:nvPr/>
      </p:nvSpPr>
      <p:spPr>
        <a:xfrm>
          <a:off x="594360" y="2395728"/>
          <a:ext cx="7543800" cy="3639312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overview-diagram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731520" y="2532888"/>
          <a:ext cx="7269480" cy="3364992"/>
        </a:xfrm>
        <a:prstGeom prst="rect">
          <a:avLst/>
        </a:prstGeom>
      </p:spPr>
    </p:pic>
    <p:sp>
      <p:nvSpPr>
        <p:cNvPr id="16" name="Panel"/>
        <p:cNvSpPr/>
        <p:nvPr/>
      </p:nvSpPr>
      <p:spPr>
        <a:xfrm>
          <a:off x="8339327" y="2395728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7" name="Text"/>
        <p:cNvSpPr txBox="1"/>
        <p:nvPr/>
      </p:nvSpPr>
      <p:spPr>
        <a:xfrm>
          <a:off x="8476488" y="2478024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Ingestion</a:t>
          </a:r>
        </a:p>
      </p:txBody>
    </p:sp>
    <p:sp>
      <p:nvSpPr>
        <p:cNvPr id="18" name="Text"/>
        <p:cNvSpPr txBox="1"/>
        <p:nvPr/>
      </p:nvSpPr>
      <p:spPr>
        <a:xfrm>
          <a:off x="8476488" y="2679192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IMOU/IP Camera qua RTSP, SSH reverse tunnel, MediaMTX và FFmpeg.</a:t>
          </a:r>
        </a:p>
      </p:txBody>
    </p:sp>
    <p:sp>
      <p:nvSpPr>
        <p:cNvPr id="19" name="Panel"/>
        <p:cNvSpPr/>
        <p:nvPr/>
      </p:nvSpPr>
      <p:spPr>
        <a:xfrm>
          <a:off x="8339327" y="3163824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8476488" y="3246120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AI pipeline</a:t>
          </a:r>
        </a:p>
      </p:txBody>
    </p:sp>
    <p:sp>
      <p:nvSpPr>
        <p:cNvPr id="21" name="Text"/>
        <p:cNvSpPr txBox="1"/>
        <p:nvPr/>
      </p:nvSpPr>
      <p:spPr>
        <a:xfrm>
          <a:off x="8476488" y="3447288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YOLO Pose ONNX, ONNX Runtime, OpenCV, ByteTrack, Temporal Fall Classifier, YuNet &amp; SFace.</a:t>
          </a:r>
        </a:p>
      </p:txBody>
    </p:sp>
    <p:sp>
      <p:nvSpPr>
        <p:cNvPr id="22" name="Panel"/>
        <p:cNvSpPr/>
        <p:nvPr/>
      </p:nvSpPr>
      <p:spPr>
        <a:xfrm>
          <a:off x="8339327" y="3931920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8476488" y="4014215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4" name="Text"/>
        <p:cNvSpPr txBox="1"/>
        <p:nvPr/>
      </p:nvSpPr>
      <p:spPr>
        <a:xfrm>
          <a:off x="8476488" y="4215383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điều phối alert và quyền truy cập.</a:t>
          </a:r>
        </a:p>
      </p:txBody>
    </p:sp>
    <p:sp>
      <p:nvSpPr>
        <p:cNvPr id="25" name="Panel"/>
        <p:cNvSpPr/>
        <p:nvPr/>
      </p:nvSpPr>
      <p:spPr>
        <a:xfrm>
          <a:off x="8339327" y="4700016"/>
          <a:ext cx="3044952" cy="621792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8476488" y="4782312"/>
          <a:ext cx="274320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b/>
              <a:solidFill>
                <a:srgbClr val="EEFDF8"/>
              </a:solidFill>
              <a:latin typeface="Aptos Display"/>
              <a:cs typeface="Arial"/>
            </a:rPr>
            <a:t>Data layer</a:t>
          </a:r>
        </a:p>
      </p:txBody>
    </p:sp>
    <p:sp>
      <p:nvSpPr>
        <p:cNvPr id="27" name="Text"/>
        <p:cNvSpPr txBox="1"/>
        <p:nvPr/>
      </p:nvSpPr>
      <p:spPr>
        <a:xfrm>
          <a:off x="8476488" y="4983480"/>
          <a:ext cx="2706624" cy="1920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680" dirty="0">
              <a:solidFill>
                <a:srgbClr val="A8C4C0"/>
              </a:solidFill>
              <a:latin typeface="Aptos Display"/>
              <a:cs typeface="Arial"/>
            </a:rPr>
            <a:t>PostgreSQL metadata, Redis cache, MinIO cho snapshot/video evidence.</a:t>
          </a:r>
        </a:p>
      </p:txBody>
    </p:sp>
    <p:sp>
      <p:nvSpPr>
        <p:cNvPr id="28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06 / 18</a:t>
          </a:r>
        </a:p>
      </p:txBody>
    </p:sp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Tech Stack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Nền tảng đủ sâu để chạy real-time, đủ gọn để triển khai thực tế.</a:t>
          </a:r>
        </a:p>
      </p:txBody>
    </p:sp>
    <p:sp>
      <p:nvSpPr>
        <p:cNvPr id="14" name="Panel"/>
        <p:cNvSpPr/>
        <p:nvPr/>
      </p:nvSpPr>
      <p:spPr>
        <a:xfrm>
          <a:off x="841248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Computer Vision</a:t>
          </a:r>
        </a:p>
      </p:txBody>
    </p:sp>
    <p:sp>
      <p:nvSpPr>
        <p:cNvPr id="16" name="Text"/>
        <p:cNvSpPr txBox="1"/>
        <p:nvPr/>
      </p:nvSpPr>
      <p:spPr>
        <a:xfrm>
          <a:off x="987552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YOLO Pose, ONNX Runtime, OpenCV, ByteTrack, Temporal Fall Classifier, YuNet &amp; SFace.</a:t>
          </a:r>
        </a:p>
      </p:txBody>
    </p:sp>
    <p:sp>
      <p:nvSpPr>
        <p:cNvPr id="17" name="Panel"/>
        <p:cNvSpPr/>
        <p:nvPr/>
      </p:nvSpPr>
      <p:spPr>
        <a:xfrm>
          <a:off x="4401312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Streaming</a:t>
          </a:r>
        </a:p>
      </p:txBody>
    </p:sp>
    <p:sp>
      <p:nvSpPr>
        <p:cNvPr id="19" name="Text"/>
        <p:cNvSpPr txBox="1"/>
        <p:nvPr/>
      </p:nvSpPr>
      <p:spPr>
        <a:xfrm>
          <a:off x="4547616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MediaMTX, WebRTC/HLS, FFmpeg và SSH Reverse Tunnel cho camera LAN.</a:t>
          </a:r>
        </a:p>
      </p:txBody>
    </p:sp>
    <p:sp>
      <p:nvSpPr>
        <p:cNvPr id="20" name="Panel"/>
        <p:cNvSpPr/>
        <p:nvPr/>
      </p:nvSpPr>
      <p:spPr>
        <a:xfrm>
          <a:off x="7961376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Frontend</a:t>
          </a:r>
        </a:p>
      </p:txBody>
    </p:sp>
    <p:sp>
      <p:nvSpPr>
        <p:cNvPr id="22" name="Text"/>
        <p:cNvSpPr txBox="1"/>
        <p:nvPr/>
      </p:nvSpPr>
      <p:spPr>
        <a:xfrm>
          <a:off x="8107680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React, TypeScript, Vite, hls.js, Canvas overlay; prototype React Native.</a:t>
          </a:r>
        </a:p>
      </p:txBody>
    </p:sp>
    <p:sp>
      <p:nvSpPr>
        <p:cNvPr id="23" name="Panel"/>
        <p:cNvSpPr/>
        <p:nvPr/>
      </p:nvSpPr>
      <p:spPr>
        <a:xfrm>
          <a:off x="841248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987552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5" name="Text"/>
        <p:cNvSpPr txBox="1"/>
        <p:nvPr/>
      </p:nvSpPr>
      <p:spPr>
        <a:xfrm>
          <a:off x="987552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cho workflow cảnh báo.</a:t>
          </a:r>
        </a:p>
      </p:txBody>
    </p:sp>
    <p:sp>
      <p:nvSpPr>
        <p:cNvPr id="26" name="Panel"/>
        <p:cNvSpPr/>
        <p:nvPr/>
      </p:nvSpPr>
      <p:spPr>
        <a:xfrm>
          <a:off x="4401312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4547616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Storage</a:t>
          </a:r>
        </a:p>
      </p:txBody>
    </p:sp>
    <p:sp>
      <p:nvSpPr>
        <p:cNvPr id="28" name="Text"/>
        <p:cNvSpPr txBox="1"/>
        <p:nvPr/>
      </p:nvSpPr>
      <p:spPr>
        <a:xfrm>
          <a:off x="4547616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PostgreSQL, Redis và MinIO để lưu metadata, cache và object evidence.</a:t>
          </a:r>
        </a:p>
      </p:txBody>
    </p:sp>
    <p:sp>
      <p:nvSpPr>
        <p:cNvPr id="29" name="Panel"/>
        <p:cNvSpPr/>
        <p:nvPr/>
      </p:nvSpPr>
      <p:spPr>
        <a:xfrm>
          <a:off x="7961376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8107680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DevOps</a:t>
          </a:r>
        </a:p>
      </p:txBody>
    </p:sp>
    <p:sp>
      <p:nvSpPr>
        <p:cNvPr id="31" name="Text"/>
        <p:cNvSpPr txBox="1"/>
        <p:nvPr/>
      </p:nvSpPr>
      <p:spPr>
        <a:xfrm>
          <a:off x="8107680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Docker Compose, Caddy HTTPS, uv, pnpm, Pytest, Ruff và MyPy.</a:t>
          </a:r>
        </a:p>
      </p:txBody>
    </p:sp>
    <p:sp>
      <p:nvSpPr>
        <p:cNvPr id="32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3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Runtime</a:t>
          </a:r>
        </a:p>
      </p:txBody>
    </p:sp>
    <p:sp>
      <p:nvSpPr>
        <p:cNvPr id="34" name="Panel"/>
        <p:cNvSpPr/>
        <p:nvPr/>
      </p:nvSpPr>
      <p:spPr>
        <a:xfrm>
          <a:off x="1005840" y="5687385"/>
          <a:ext cx="292608" cy="16477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5" name="Panel"/>
        <p:cNvSpPr/>
        <p:nvPr/>
      </p:nvSpPr>
      <p:spPr>
        <a:xfrm>
          <a:off x="1399032" y="5625205"/>
          <a:ext cx="292608" cy="22695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6" name="Panel"/>
        <p:cNvSpPr/>
        <p:nvPr/>
      </p:nvSpPr>
      <p:spPr>
        <a:xfrm>
          <a:off x="1792224" y="5541264"/>
          <a:ext cx="292608" cy="31089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8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Coverage</a:t>
          </a:r>
        </a:p>
      </p:txBody>
    </p:sp>
    <p:sp>
      <p:nvSpPr>
        <p:cNvPr id="39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100%</a:t>
          </a:r>
        </a:p>
      </p:txBody>
    </p:sp>
    <p:sp>
      <p:nvSpPr>
        <p:cNvPr id="40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1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Pipeline</a:t>
          </a:r>
        </a:p>
      </p:txBody>
    </p:sp>
    <p:sp>
      <p:nvSpPr>
        <p:cNvPr id="42" name="Panel"/>
        <p:cNvSpPr/>
        <p:nvPr/>
      </p:nvSpPr>
      <p:spPr>
        <a:xfrm>
          <a:off x="5486400" y="5727801"/>
          <a:ext cx="292608" cy="12435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5879592" y="5659404"/>
          <a:ext cx="292608" cy="19275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4" name="Panel"/>
        <p:cNvSpPr/>
        <p:nvPr/>
      </p:nvSpPr>
      <p:spPr>
        <a:xfrm>
          <a:off x="6272784" y="5615879"/>
          <a:ext cx="292608" cy="23628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5" name="Panel"/>
        <p:cNvSpPr/>
        <p:nvPr/>
      </p:nvSpPr>
      <p:spPr>
        <a:xfrm>
          <a:off x="6665976" y="5566135"/>
          <a:ext cx="292608" cy="286024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07 / 18</a:t>
          </a:r>
        </a:p>
      </p:txBody>
    </p:sp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Traction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Không chỉ là ý tưởng: hệ thống đã chạy được end-to-end.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240/240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automated tests passed; Ruff và TypeScript type-check đạt 100%.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8–15 FPS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runtime YOLO26n-pose, phụ thuộc cấu hình máy và điều kiện mạng.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83.05%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F1 cho bài toán phát hiện người lạ trong thử nghiệm nội bộ.</a:t>
          </a:r>
        </a:p>
      </p:txBody>
    </p:sp>
    <p:sp>
      <p:nvSpPr>
        <p:cNvPr id="23" name="Panel"/>
        <p:cNvSpPr/>
        <p:nvPr/>
      </p:nvSpPr>
      <p:spPr>
        <a:xfrm>
          <a:off x="841248" y="5669280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797296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D8F4EF"/>
              </a:solidFill>
              <a:latin typeface="Aptos Display"/>
              <a:cs typeface="Arial"/>
            </a:rPr>
            <a:t>Web, API và Media Gateway đã triển khai trên VPS; kết nối thành công camera IP LAN qua SSH Tunnel và gửi email kèm snapshot/video evidence.</a:t>
          </a:r>
        </a:p>
      </p:txBody>
    </p:sp>
    <p:sp>
      <p:nvSpPr>
        <p:cNvPr id="25" name="Panel"/>
        <p:cNvSpPr/>
        <p:nvPr/>
      </p:nvSpPr>
      <p:spPr>
        <a:xfrm>
          <a:off x="841248" y="5010912"/>
          <a:ext cx="2057400" cy="460857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969264" y="5102352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Test pass</a:t>
          </a:r>
        </a:p>
      </p:txBody>
    </p:sp>
    <p:sp>
      <p:nvSpPr>
        <p:cNvPr id="27" name="Text"/>
        <p:cNvSpPr txBox="1"/>
        <p:nvPr/>
      </p:nvSpPr>
      <p:spPr>
        <a:xfrm>
          <a:off x="1956816" y="5164531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944" dirty="0">
              <a:b/>
              <a:solidFill>
                <a:srgbClr val="70F0A8"/>
              </a:solidFill>
              <a:latin typeface="Aptos Display"/>
              <a:cs typeface="Arial"/>
            </a:rPr>
            <a:t>100%</a:t>
          </a:r>
        </a:p>
      </p:txBody>
    </p:sp>
    <p:sp>
      <p:nvSpPr>
        <p:cNvPr id="28" name="Panel"/>
        <p:cNvSpPr/>
        <p:nvPr/>
      </p:nvSpPr>
      <p:spPr>
        <a:xfrm>
          <a:off x="3081528" y="5010912"/>
          <a:ext cx="2057400" cy="460857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9" name="Text"/>
        <p:cNvSpPr txBox="1"/>
        <p:nvPr/>
      </p:nvSpPr>
      <p:spPr>
        <a:xfrm>
          <a:off x="3209544" y="5102352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FPS range</a:t>
          </a:r>
        </a:p>
      </p:txBody>
    </p:sp>
    <p:sp>
      <p:nvSpPr>
        <p:cNvPr id="30" name="Panel"/>
        <p:cNvSpPr/>
        <p:nvPr/>
      </p:nvSpPr>
      <p:spPr>
        <a:xfrm>
          <a:off x="3246120" y="5266815"/>
          <a:ext cx="292608" cy="11534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3639312" y="5223290"/>
          <a:ext cx="292608" cy="15886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2" name="Panel"/>
        <p:cNvSpPr/>
        <p:nvPr/>
      </p:nvSpPr>
      <p:spPr>
        <a:xfrm>
          <a:off x="4032504" y="5164531"/>
          <a:ext cx="292608" cy="21762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3" name="Panel"/>
        <p:cNvSpPr/>
        <p:nvPr/>
      </p:nvSpPr>
      <p:spPr>
        <a:xfrm>
          <a:off x="5321808" y="5010912"/>
          <a:ext cx="2057400" cy="460857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4" name="Text"/>
        <p:cNvSpPr txBox="1"/>
        <p:nvPr/>
      </p:nvSpPr>
      <p:spPr>
        <a:xfrm>
          <a:off x="5449824" y="5102352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F1 score</a:t>
          </a:r>
        </a:p>
      </p:txBody>
    </p:sp>
    <p:sp>
      <p:nvSpPr>
        <p:cNvPr id="35" name="Text"/>
        <p:cNvSpPr txBox="1"/>
        <p:nvPr/>
      </p:nvSpPr>
      <p:spPr>
        <a:xfrm>
          <a:off x="6437376" y="5164531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944" dirty="0">
              <a:b/>
              <a:solidFill>
                <a:srgbClr val="70F0A8"/>
              </a:solidFill>
              <a:latin typeface="Aptos Display"/>
              <a:cs typeface="Arial"/>
            </a:rPr>
            <a:t>83%</a:t>
          </a:r>
        </a:p>
      </p:txBody>
    </p:sp>
    <p:sp>
      <p:nvSpPr>
        <p:cNvPr id="3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08 / 18</a:t>
          </a:r>
        </a:p>
      </p:txBody>
    </p:sp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Demo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7772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00" dirty="0">
              <a:b/>
              <a:solidFill>
                <a:srgbClr val="EEFDF8"/>
              </a:solidFill>
              <a:latin typeface="Aptos Display"/>
              <a:cs typeface="Arial"/>
            </a:rPr>
            <a:t>Product demo: SYL phát hiện, ghi nhận và cảnh báo theo thời gian thực.</a:t>
          </a:r>
        </a:p>
      </p:txBody>
    </p:sp>
    <p:sp>
      <p:nvSpPr>
        <p:cNvPr id="14" name="Panel"/>
        <p:cNvSpPr/>
        <p:nvPr/>
      </p:nvSpPr>
      <p:spPr>
        <a:xfrm>
          <a:off x="960120" y="2331720"/>
          <a:ext cx="10287000" cy="3456432"/>
        </a:xfrm>
        <a:prstGeom prst="roundRect">
          <a:avLst/>
        </a:prstGeom>
        <a:solidFill>
          <a:srgbClr val="050807">
            <a:alpha val="96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demo.mp4">
          <a:hlinkClick action="ppaction://media"/>
        </p:cNvPr>
        <p:cNvPicPr>
          <a:picLocks noChangeAspect="1"/>
        </p:cNvPicPr>
        <p:nvPr>
          <a:videoFile r:link="rId3"/>
          <p:extLst>
            <p:ext uri="{DAA4B4D4-6D71-4841-9C94-3DE7FCFBF8DC}">
              <p14:media r:embed="rId4"/>
            </p:ext>
          </p:extLst>
        </p:nvPr>
      </p:nvPicPr>
      <p:blipFill>
        <a:blip r:embed="rId2"/>
        <a:stretch>
          <a:fillRect/>
        </a:stretch>
      </p:blipFill>
      <p:spPr>
        <a:xfrm>
          <a:off x="1170432" y="2514600"/>
          <a:ext cx="9857232" cy="3090672"/>
        </a:xfrm>
        <a:prstGeom prst="rect">
          <a:avLst/>
        </a:prstGeom>
      </p:spPr>
    </p:pic>
    <p:sp>
      <p:nvSpPr>
        <p:cNvPr id="16" name="Text"/>
        <p:cNvSpPr txBox="1"/>
        <p:nvPr/>
      </p:nvSpPr>
      <p:spPr>
        <a:xfrm>
          <a:off x="841248" y="5870448"/>
          <a:ext cx="105156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050" dirty="0">
              <a:b/>
              <a:solidFill>
                <a:srgbClr val="A8C4C0"/>
              </a:solidFill>
              <a:latin typeface="Aptos Display"/>
              <a:cs typeface="Arial"/>
            </a:rPr>
            <a:t>Demo video: demo.mp4</a:t>
          </a:r>
        </a:p>
      </p:txBody>
    </p:sp>
    <p:sp>
      <p:nvSpPr>
        <p:cNvPr id="1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09 / 18</a:t>
          </a:r>
        </a:p>
      </p:txBody>
    </p:sp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Business Model · Competitive Position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SYL có mức giá dễ tiếp cận hơn camera chuyên dụng, nhưng thông minh hơn camera phổ thông.</a:t>
          </a:r>
        </a:p>
      </p:txBody>
    </p:sp>
    <p:sp>
      <p:nvSpPr>
        <p:cNvPr id="14" name="Panel"/>
        <p:cNvSpPr/>
        <p:nvPr/>
      </p:nvSpPr>
      <p:spPr>
        <a:xfrm>
          <a:off x="841248" y="2743200"/>
          <a:ext cx="498348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2852928"/>
          <a:ext cx="19202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Standard</a:t>
          </a:r>
        </a:p>
      </p:txBody>
    </p:sp>
    <p:sp>
      <p:nvSpPr>
        <p:cNvPr id="16" name="Text"/>
        <p:cNvSpPr txBox="1"/>
        <p:nvPr/>
      </p:nvSpPr>
      <p:spPr>
        <a:xfrm>
          <a:off x="2971800" y="2852928"/>
          <a:ext cx="11430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FFD166"/>
              </a:solidFill>
              <a:latin typeface="Aptos Display"/>
              <a:cs typeface="Arial"/>
            </a:rPr>
            <a:t>5.2tr</a:t>
          </a:r>
        </a:p>
      </p:txBody>
    </p:sp>
    <p:sp>
      <p:nvSpPr>
        <p:cNvPr id="17" name="Text"/>
        <p:cNvSpPr txBox="1"/>
        <p:nvPr/>
      </p:nvSpPr>
      <p:spPr>
        <a:xfrm>
          <a:off x="1005840" y="3127248"/>
          <a:ext cx="452628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Raspberry Pi 5 4GB + hệ thống SYL cho nhu cầu cơ bản.</a:t>
          </a:r>
        </a:p>
      </p:txBody>
    </p:sp>
    <p:sp>
      <p:nvSpPr>
        <p:cNvPr id="18" name="Panel"/>
        <p:cNvSpPr/>
        <p:nvPr/>
      </p:nvSpPr>
      <p:spPr>
        <a:xfrm>
          <a:off x="841248" y="3703320"/>
          <a:ext cx="498348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1005840" y="3813048"/>
          <a:ext cx="19202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Plus</a:t>
          </a:r>
        </a:p>
      </p:txBody>
    </p:sp>
    <p:sp>
      <p:nvSpPr>
        <p:cNvPr id="20" name="Text"/>
        <p:cNvSpPr txBox="1"/>
        <p:nvPr/>
      </p:nvSpPr>
      <p:spPr>
        <a:xfrm>
          <a:off x="2971800" y="3813048"/>
          <a:ext cx="11430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FFD166"/>
              </a:solidFill>
              <a:latin typeface="Aptos Display"/>
              <a:cs typeface="Arial"/>
            </a:rPr>
            <a:t>8.5tr</a:t>
          </a:r>
        </a:p>
      </p:txBody>
    </p:sp>
    <p:sp>
      <p:nvSpPr>
        <p:cNvPr id="21" name="Text"/>
        <p:cNvSpPr txBox="1"/>
        <p:nvPr/>
      </p:nvSpPr>
      <p:spPr>
        <a:xfrm>
          <a:off x="1005840" y="4087368"/>
          <a:ext cx="452628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Raspberry Pi 5 8GB + hệ thống SYL cho cấu hình mạnh hơn.</a:t>
          </a:r>
        </a:p>
      </p:txBody>
    </p:sp>
    <p:sp>
      <p:nvSpPr>
        <p:cNvPr id="22" name="Panel"/>
        <p:cNvSpPr/>
        <p:nvPr/>
      </p:nvSpPr>
      <p:spPr>
        <a:xfrm>
          <a:off x="841248" y="4663440"/>
          <a:ext cx="498348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1005840" y="4773168"/>
          <a:ext cx="19202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Pro</a:t>
          </a:r>
        </a:p>
      </p:txBody>
    </p:sp>
    <p:sp>
      <p:nvSpPr>
        <p:cNvPr id="24" name="Text"/>
        <p:cNvSpPr txBox="1"/>
        <p:nvPr/>
      </p:nvSpPr>
      <p:spPr>
        <a:xfrm>
          <a:off x="2971800" y="4773168"/>
          <a:ext cx="11430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FFD166"/>
              </a:solidFill>
              <a:latin typeface="Aptos Display"/>
              <a:cs typeface="Arial"/>
            </a:rPr>
            <a:t>10tr</a:t>
          </a:r>
        </a:p>
      </p:txBody>
    </p:sp>
    <p:sp>
      <p:nvSpPr>
        <p:cNvPr id="25" name="Text"/>
        <p:cNvSpPr txBox="1"/>
        <p:nvPr/>
      </p:nvSpPr>
      <p:spPr>
        <a:xfrm>
          <a:off x="1005840" y="5047488"/>
          <a:ext cx="452628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8GB + nâng cấp bản mới nhất, miễn phí 6 tháng đăng ký đầu.</a:t>
          </a:r>
        </a:p>
      </p:txBody>
    </p:sp>
    <p:sp>
      <p:nvSpPr>
        <p:cNvPr id="26" name="Panel"/>
        <p:cNvSpPr/>
        <p:nvPr/>
      </p:nvSpPr>
      <p:spPr>
        <a:xfrm>
          <a:off x="6080760" y="2743200"/>
          <a:ext cx="507492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6245352" y="2852928"/>
          <a:ext cx="470916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EZVIZ/IMOU</a:t>
          </a:r>
        </a:p>
      </p:txBody>
    </p:sp>
    <p:sp>
      <p:nvSpPr>
        <p:cNvPr id="28" name="Text"/>
        <p:cNvSpPr txBox="1"/>
        <p:nvPr/>
      </p:nvSpPr>
      <p:spPr>
        <a:xfrm>
          <a:off x="6245352" y="3127248"/>
          <a:ext cx="461772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Mạnh về giá và phân phối, nhưng chủ yếu là motion detection hoặc human detection.</a:t>
          </a:r>
        </a:p>
      </p:txBody>
    </p:sp>
    <p:sp>
      <p:nvSpPr>
        <p:cNvPr id="29" name="Panel"/>
        <p:cNvSpPr/>
        <p:nvPr/>
      </p:nvSpPr>
      <p:spPr>
        <a:xfrm>
          <a:off x="6080760" y="3703320"/>
          <a:ext cx="507492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6245352" y="3813048"/>
          <a:ext cx="470916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Hanwha/i-PRO/Hikvision</a:t>
          </a:r>
        </a:p>
      </p:txBody>
    </p:sp>
    <p:sp>
      <p:nvSpPr>
        <p:cNvPr id="31" name="Text"/>
        <p:cNvSpPr txBox="1"/>
        <p:nvPr/>
      </p:nvSpPr>
      <p:spPr>
        <a:xfrm>
          <a:off x="6245352" y="4087368"/>
          <a:ext cx="461772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Có hướng fall detection chuyên dụng nhưng chi phí cao hoặc chưa dễ tiếp cận tại Việt Nam.</a:t>
          </a:r>
        </a:p>
      </p:txBody>
    </p:sp>
    <p:sp>
      <p:nvSpPr>
        <p:cNvPr id="32" name="Panel"/>
        <p:cNvSpPr/>
        <p:nvPr/>
      </p:nvSpPr>
      <p:spPr>
        <a:xfrm>
          <a:off x="6080760" y="4663440"/>
          <a:ext cx="5074920" cy="7498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3" name="Text"/>
        <p:cNvSpPr txBox="1"/>
        <p:nvPr/>
      </p:nvSpPr>
      <p:spPr>
        <a:xfrm>
          <a:off x="6245352" y="4773168"/>
          <a:ext cx="470916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34" name="Text"/>
        <p:cNvSpPr txBox="1"/>
        <p:nvPr/>
      </p:nvSpPr>
      <p:spPr>
        <a:xfrm>
          <a:off x="6245352" y="5047488"/>
          <a:ext cx="461772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90" dirty="0">
              <a:solidFill>
                <a:srgbClr val="A8C4C0"/>
              </a:solidFill>
              <a:latin typeface="Aptos Display"/>
              <a:cs typeface="Arial"/>
            </a:rPr>
            <a:t>Định vị là lớp AI chăm sóc: fall detection, stranger alert, evidence và phân quyền.</a:t>
          </a:r>
        </a:p>
      </p:txBody>
    </p:sp>
    <p:sp>
      <p:nvSpPr>
        <p:cNvPr id="35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6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Price ladder</a:t>
          </a:r>
        </a:p>
      </p:txBody>
    </p:sp>
    <p:sp>
      <p:nvSpPr>
        <p:cNvPr id="37" name="Panel"/>
        <p:cNvSpPr/>
        <p:nvPr/>
      </p:nvSpPr>
      <p:spPr>
        <a:xfrm>
          <a:off x="1005840" y="5690494"/>
          <a:ext cx="292608" cy="16166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8" name="Panel"/>
        <p:cNvSpPr/>
        <p:nvPr/>
      </p:nvSpPr>
      <p:spPr>
        <a:xfrm>
          <a:off x="1399032" y="5587898"/>
          <a:ext cx="292608" cy="264261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9" name="Panel"/>
        <p:cNvSpPr/>
        <p:nvPr/>
      </p:nvSpPr>
      <p:spPr>
        <a:xfrm>
          <a:off x="1792224" y="5541264"/>
          <a:ext cx="292608" cy="31089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0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1" name="Text"/>
        <p:cNvSpPr txBox="1"/>
        <p:nvPr/>
      </p:nvSpPr>
      <p:spPr>
        <a:xfrm>
          <a:off x="320954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Positioning</a:t>
          </a:r>
        </a:p>
      </p:txBody>
    </p:sp>
    <p:sp>
      <p:nvSpPr>
        <p:cNvPr id="42" name="Panel"/>
        <p:cNvSpPr/>
        <p:nvPr/>
      </p:nvSpPr>
      <p:spPr>
        <a:xfrm>
          <a:off x="3246120" y="5712256"/>
          <a:ext cx="292608" cy="13990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3" name="Panel"/>
        <p:cNvSpPr/>
        <p:nvPr/>
      </p:nvSpPr>
      <p:spPr>
        <a:xfrm>
          <a:off x="3639312" y="5618988"/>
          <a:ext cx="292608" cy="23317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4" name="Panel"/>
        <p:cNvSpPr/>
        <p:nvPr/>
      </p:nvSpPr>
      <p:spPr>
        <a:xfrm>
          <a:off x="4032504" y="5681167"/>
          <a:ext cx="292608" cy="17099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5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46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Go-to-market</a:t>
          </a:r>
        </a:p>
      </p:txBody>
    </p:sp>
    <p:sp>
      <p:nvSpPr>
        <p:cNvPr id="47" name="Panel"/>
        <p:cNvSpPr/>
        <p:nvPr/>
      </p:nvSpPr>
      <p:spPr>
        <a:xfrm>
          <a:off x="5486400" y="5702929"/>
          <a:ext cx="292608" cy="14923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8" name="Panel"/>
        <p:cNvSpPr/>
        <p:nvPr/>
      </p:nvSpPr>
      <p:spPr>
        <a:xfrm>
          <a:off x="5879592" y="5609661"/>
          <a:ext cx="292608" cy="24249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49" name="Panel"/>
        <p:cNvSpPr/>
        <p:nvPr/>
      </p:nvSpPr>
      <p:spPr>
        <a:xfrm>
          <a:off x="6272784" y="5553699"/>
          <a:ext cx="292608" cy="298460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50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10 / 18</a:t>
          </a:r>
        </a:p>
      </p:txBody>
    </p:sp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Privacy &amp; Roles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Cảnh báo khẩn cấp phải đi cùng quyền riêng tư có kiểm soát.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Admin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Thêm camera, phân quyền, xem dashboard và kiểm tra lỗi hệ thống.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Gia đình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Chỉ xem camera được cấp phép và nhận cảnh báo liên quan đến người thân.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Bác sĩ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Được cấp quyền tạm thời khi có sự cố, phục vụ tư vấn hoặc đánh giá nhanh.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5 phút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Quyền xem tình huống khẩn cấp tự thu hồi để giảm rủi ro lạm dụng dữ liệu.</a:t>
          </a:r>
        </a:p>
      </p:txBody>
    </p:sp>
    <p:sp>
      <p:nvSpPr>
        <p:cNvPr id="26" name="Panel"/>
        <p:cNvSpPr/>
        <p:nvPr/>
      </p:nvSpPr>
      <p:spPr>
        <a:xfrm>
          <a:off x="84124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96926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Access scope</a:t>
          </a:r>
        </a:p>
      </p:txBody>
    </p:sp>
    <p:sp>
      <p:nvSpPr>
        <p:cNvPr id="28" name="Panel"/>
        <p:cNvSpPr/>
        <p:nvPr/>
      </p:nvSpPr>
      <p:spPr>
        <a:xfrm>
          <a:off x="1005840" y="5541264"/>
          <a:ext cx="292608" cy="31089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29" name="Panel"/>
        <p:cNvSpPr/>
        <p:nvPr/>
      </p:nvSpPr>
      <p:spPr>
        <a:xfrm>
          <a:off x="1399032" y="5653186"/>
          <a:ext cx="292608" cy="198973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0" name="Panel"/>
        <p:cNvSpPr/>
        <p:nvPr/>
      </p:nvSpPr>
      <p:spPr>
        <a:xfrm>
          <a:off x="1792224" y="5740237"/>
          <a:ext cx="292608" cy="11192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308152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3209544" y="5413248"/>
          <a:ext cx="109728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Doctor window</a:t>
          </a:r>
        </a:p>
      </p:txBody>
    </p:sp>
    <p:sp>
      <p:nvSpPr>
        <p:cNvPr id="33" name="Text"/>
        <p:cNvSpPr txBox="1"/>
        <p:nvPr/>
      </p:nvSpPr>
      <p:spPr>
        <a:xfrm>
          <a:off x="4197096" y="5541264"/>
          <a:ext cx="749808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1350" dirty="0">
              <a:b/>
              <a:solidFill>
                <a:srgbClr val="70F0A8"/>
              </a:solidFill>
              <a:latin typeface="Aptos Display"/>
              <a:cs typeface="Arial"/>
            </a:rPr>
            <a:t>5p</a:t>
          </a:r>
        </a:p>
      </p:txBody>
    </p:sp>
    <p:sp>
      <p:nvSpPr>
        <p:cNvPr id="34" name="Panel"/>
        <p:cNvSpPr/>
        <p:nvPr/>
      </p:nvSpPr>
      <p:spPr>
        <a:xfrm>
          <a:off x="5321808" y="5321808"/>
          <a:ext cx="2057400" cy="658368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5449824" y="541324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Data risk</a:t>
          </a:r>
        </a:p>
      </p:txBody>
    </p:sp>
    <p:sp>
      <p:nvSpPr>
        <p:cNvPr id="36" name="Panel"/>
        <p:cNvSpPr/>
        <p:nvPr/>
      </p:nvSpPr>
      <p:spPr>
        <a:xfrm>
          <a:off x="5486400" y="5572353"/>
          <a:ext cx="292608" cy="279806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Panel"/>
        <p:cNvSpPr/>
        <p:nvPr/>
      </p:nvSpPr>
      <p:spPr>
        <a:xfrm>
          <a:off x="5879592" y="5690494"/>
          <a:ext cx="292608" cy="16166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8" name="Panel"/>
        <p:cNvSpPr/>
        <p:nvPr/>
      </p:nvSpPr>
      <p:spPr>
        <a:xfrm>
          <a:off x="6272784" y="5777544"/>
          <a:ext cx="292608" cy="74615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9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11 / 18</a:t>
          </a:r>
        </a:p>
      </p:txBody>
    </p:sp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Next Step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Từ ý tưởng đến sản phẩm thị trường trong 19 tuần.</a:t>
          </a:r>
        </a:p>
      </p:txBody>
    </p:sp>
    <p:sp>
      <p:nvSpPr>
        <p:cNvPr id="14" name="Panel"/>
        <p:cNvSpPr/>
        <p:nvPr/>
      </p:nvSpPr>
      <p:spPr>
        <a:xfrm>
          <a:off x="841248" y="2834640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96696" y="2944368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1 · 0–4 tuần</a:t>
          </a:r>
        </a:p>
      </p:txBody>
    </p:sp>
    <p:sp>
      <p:nvSpPr>
        <p:cNvPr id="16" name="Text"/>
        <p:cNvSpPr txBox="1"/>
        <p:nvPr/>
      </p:nvSpPr>
      <p:spPr>
        <a:xfrm>
          <a:off x="996696" y="3227832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Hoàn thiện MVP: access control, emergency alerts và demo run ổn định.</a:t>
          </a:r>
        </a:p>
      </p:txBody>
    </p:sp>
    <p:sp>
      <p:nvSpPr>
        <p:cNvPr id="17" name="Panel"/>
        <p:cNvSpPr/>
        <p:nvPr/>
      </p:nvSpPr>
      <p:spPr>
        <a:xfrm>
          <a:off x="6199632" y="2834640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6355080" y="2944368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2 · 3 tuần</a:t>
          </a:r>
        </a:p>
      </p:txBody>
    </p:sp>
    <p:sp>
      <p:nvSpPr>
        <p:cNvPr id="19" name="Text"/>
        <p:cNvSpPr txBox="1"/>
        <p:nvPr/>
      </p:nvSpPr>
      <p:spPr>
        <a:xfrm>
          <a:off x="6355080" y="3227832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Benchmark trên các gateway/camera phổ biến để đo FPS, độ trễ và độ ổn định.</a:t>
          </a:r>
        </a:p>
      </p:txBody>
    </p:sp>
    <p:sp>
      <p:nvSpPr>
        <p:cNvPr id="20" name="Panel"/>
        <p:cNvSpPr/>
        <p:nvPr/>
      </p:nvSpPr>
      <p:spPr>
        <a:xfrm>
          <a:off x="841248" y="4133087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996696" y="4242816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Đối tác nhận được gì</a:t>
          </a:r>
        </a:p>
      </p:txBody>
    </p:sp>
    <p:sp>
      <p:nvSpPr>
        <p:cNvPr id="22" name="Text"/>
        <p:cNvSpPr txBox="1"/>
        <p:nvPr/>
      </p:nvSpPr>
      <p:spPr>
        <a:xfrm>
          <a:off x="996696" y="4526279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Đang tìm 2 đối tác cung cấp camera và 1 đối tác cung cấp địa điểm thử nghiệm. Đổi lại: đối tác camera nhận đội kỹ thuật hỗ trợ riêng + ưu đãi giá; đối tác địa điểm nhận sản phẩm dùng thử miễn phí 3 tháng.</a:t>
          </a:r>
        </a:p>
      </p:txBody>
    </p:sp>
    <p:sp>
      <p:nvSpPr>
        <p:cNvPr id="23" name="Panel"/>
        <p:cNvSpPr/>
        <p:nvPr/>
      </p:nvSpPr>
      <p:spPr>
        <a:xfrm>
          <a:off x="6199632" y="4133087"/>
          <a:ext cx="5074920" cy="106070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355080" y="4242816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Mục tiêu pilot · 4–12 tuần</a:t>
          </a:r>
        </a:p>
      </p:txBody>
    </p:sp>
    <p:sp>
      <p:nvSpPr>
        <p:cNvPr id="25" name="Text"/>
        <p:cNvSpPr txBox="1"/>
        <p:nvPr/>
      </p:nvSpPr>
      <p:spPr>
        <a:xfrm>
          <a:off x="6355080" y="4526279"/>
          <a:ext cx="47091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Xác nhận hệ thống đạt Recall ≥85% và Precision với độ trễ cảnh báo chấp nhận được trên phần cứng/mạng thực tế của đối tác, không chỉ trong môi trường test nội bộ.</a:t>
          </a:r>
        </a:p>
      </p:txBody>
    </p:sp>
    <p:sp>
      <p:nvSpPr>
        <p:cNvPr id="26" name="Panel"/>
        <p:cNvSpPr/>
        <p:nvPr/>
      </p:nvSpPr>
      <p:spPr>
        <a:xfrm>
          <a:off x="841248" y="5669280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1024128" y="5797296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D8F4EF"/>
              </a:solidFill>
              <a:latin typeface="Aptos Display"/>
              <a:cs typeface="Arial"/>
            </a:rPr>
            <a:t>Kết luận: SYL có thể triển khai và launch ra thị trường trong 19 tuần, tính từ lúc hình thành ý tưởng đến sản phẩm hoàn chỉnh.</a:t>
          </a:r>
        </a:p>
      </p:txBody>
    </p:sp>
    <p:sp>
      <p:nvSpPr>
        <p:cNvPr id="28" name="Panel"/>
        <p:cNvSpPr/>
        <p:nvPr/>
      </p:nvSpPr>
      <p:spPr>
        <a:xfrm>
          <a:off x="841248" y="5138928"/>
          <a:ext cx="2057400" cy="362102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9" name="Text"/>
        <p:cNvSpPr txBox="1"/>
        <p:nvPr/>
      </p:nvSpPr>
      <p:spPr>
        <a:xfrm>
          <a:off x="969264" y="523036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MVP</a:t>
          </a:r>
        </a:p>
      </p:txBody>
    </p:sp>
    <p:sp>
      <p:nvSpPr>
        <p:cNvPr id="30" name="Panel"/>
        <p:cNvSpPr/>
        <p:nvPr/>
      </p:nvSpPr>
      <p:spPr>
        <a:xfrm>
          <a:off x="1005840" y="5374193"/>
          <a:ext cx="292608" cy="56427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1" name="Panel"/>
        <p:cNvSpPr/>
        <p:nvPr/>
      </p:nvSpPr>
      <p:spPr>
        <a:xfrm>
          <a:off x="3081528" y="5138928"/>
          <a:ext cx="2057400" cy="362102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2" name="Text"/>
        <p:cNvSpPr txBox="1"/>
        <p:nvPr/>
      </p:nvSpPr>
      <p:spPr>
        <a:xfrm>
          <a:off x="3209544" y="523036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Benchmark</a:t>
          </a:r>
        </a:p>
      </p:txBody>
    </p:sp>
    <p:sp>
      <p:nvSpPr>
        <p:cNvPr id="33" name="Panel"/>
        <p:cNvSpPr/>
        <p:nvPr/>
      </p:nvSpPr>
      <p:spPr>
        <a:xfrm>
          <a:off x="3246120" y="5387873"/>
          <a:ext cx="292608" cy="42748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4" name="Panel"/>
        <p:cNvSpPr/>
        <p:nvPr/>
      </p:nvSpPr>
      <p:spPr>
        <a:xfrm>
          <a:off x="5321808" y="5138928"/>
          <a:ext cx="2057400" cy="362102"/>
        </a:xfrm>
        <a:prstGeom prst="roundRect">
          <a:avLst/>
        </a:prstGeom>
        <a:solidFill>
          <a:srgbClr val="1A2B20">
            <a:alpha val="83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5" name="Text"/>
        <p:cNvSpPr txBox="1"/>
        <p:nvPr/>
      </p:nvSpPr>
      <p:spPr>
        <a:xfrm>
          <a:off x="5449824" y="5230368"/>
          <a:ext cx="1737360" cy="10972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b/>
              <a:solidFill>
                <a:srgbClr val="EEFDF8"/>
              </a:solidFill>
              <a:latin typeface="Aptos Display"/>
              <a:cs typeface="Arial"/>
            </a:rPr>
            <a:t>Trial</a:t>
          </a:r>
        </a:p>
      </p:txBody>
    </p:sp>
    <p:sp>
      <p:nvSpPr>
        <p:cNvPr id="36" name="Panel"/>
        <p:cNvSpPr/>
        <p:nvPr/>
      </p:nvSpPr>
      <p:spPr>
        <a:xfrm>
          <a:off x="5486400" y="5259628"/>
          <a:ext cx="292608" cy="170992"/>
        </a:xfrm>
        <a:prstGeom prst="roundRect">
          <a:avLst/>
        </a:prstGeom>
        <a:solidFill>
          <a:srgbClr val="59E0D0">
            <a:alpha val="100000"/>
          </a:srgbClr>
        </a:solidFill>
        <a:ln w="12700">
          <a:solidFill>
            <a:srgbClr val="59E0D0">
              <a:alpha val="52000"/>
            </a:srgbClr>
          </a:solidFill>
        </a:ln>
      </p:spPr>
    </p:sp>
    <p:sp>
      <p:nvSpPr>
        <p:cNvPr id="37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12 / 18</a:t>
          </a:r>
        </a:p>
      </p:txBody>
    </p:sp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sp>
      <p:nvSpPr>
        <p:cNvPr id="11" name="Panel"/>
        <p:cNvSpPr/>
        <p:nvPr/>
      </p:nvSpPr>
      <p:spPr>
        <a:xfrm>
          <a:off x="1353312" y="640080"/>
          <a:ext cx="9491472" cy="4572000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2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1783080" y="1097280"/>
          <a:ext cx="8641080" cy="3703320"/>
        </a:xfrm>
        <a:prstGeom prst="rect">
          <a:avLst/>
        </a:prstGeom>
      </p:spPr>
    </p:pic>
    <p:sp>
      <p:nvSpPr>
        <p:cNvPr id="13" name="Text"/>
        <p:cNvSpPr txBox="1"/>
        <p:nvPr/>
      </p:nvSpPr>
      <p:spPr>
        <a:xfrm>
          <a:off x="841248" y="5486400"/>
          <a:ext cx="105156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2500" dirty="0">
              <a:b/>
              <a:solidFill>
                <a:srgbClr val="EEFDF8"/>
              </a:solidFill>
              <a:latin typeface="Aptos Display"/>
              <a:cs typeface="Arial"/>
            </a:rPr>
            <a:t>melphins</a:t>
          </a:r>
        </a:p>
      </p:txBody>
    </p:sp>
    <p:sp>
      <p:nvSpPr>
        <p:cNvPr id="1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13 / 18</a:t>
          </a:r>
        </a:p>
      </p:txBody>
    </p:sp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Model Training</a:t>
          </a:r>
        </a:p>
      </p:txBody>
    </p:sp>
    <p:sp>
      <p:nvSpPr>
        <p:cNvPr id="13" name="Text"/>
        <p:cNvSpPr txBox="1"/>
        <p:nvPr/>
      </p:nvSpPr>
      <p:spPr>
        <a:xfrm>
          <a:off x="804672" y="1316736"/>
          <a:ext cx="10424160" cy="8412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00" dirty="0">
              <a:b/>
              <a:solidFill>
                <a:srgbClr val="EEFDF8"/>
              </a:solidFill>
              <a:latin typeface="Aptos Display"/>
              <a:cs typeface="Arial"/>
            </a:rPr>
            <a:t>Validation theo epoch cho thấy metric duy trì ổn định trên ngưỡng mục tiêu.</a:t>
          </a:r>
        </a:p>
      </p:txBody>
    </p:sp>
    <p:sp>
      <p:nvSpPr>
        <p:cNvPr id="14" name="Panel"/>
        <p:cNvSpPr/>
        <p:nvPr/>
      </p:nvSpPr>
      <p:spPr>
        <a:xfrm>
          <a:off x="786384" y="2432304"/>
          <a:ext cx="10607040" cy="3493008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tech-val-epoch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932688" y="2578608"/>
          <a:ext cx="10314432" cy="3200400"/>
        </a:xfrm>
        <a:prstGeom prst="rect">
          <a:avLst/>
        </a:prstGeom>
      </p:spPr>
    </p:pic>
    <p:sp>
      <p:nvSpPr>
        <p:cNvPr id="1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14 / 18</a:t>
          </a:r>
        </a:p>
      </p:txBody>
    </p:sp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Threshold Tuning</a:t>
          </a:r>
        </a:p>
      </p:txBody>
    </p:sp>
    <p:sp>
      <p:nvSpPr>
        <p:cNvPr id="13" name="Text"/>
        <p:cNvSpPr txBox="1"/>
        <p:nvPr/>
      </p:nvSpPr>
      <p:spPr>
        <a:xfrm>
          <a:off x="804672" y="1316736"/>
          <a:ext cx="10424160" cy="8412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00" dirty="0">
              <a:b/>
              <a:solidFill>
                <a:srgbClr val="EEFDF8"/>
              </a:solidFill>
              <a:latin typeface="Aptos Display"/>
              <a:cs typeface="Arial"/>
            </a:rPr>
            <a:t>Ngưỡng validation được theo dõi qua từng epoch để chọn điểm cắt phù hợp.</a:t>
          </a:r>
        </a:p>
      </p:txBody>
    </p:sp>
    <p:sp>
      <p:nvSpPr>
        <p:cNvPr id="14" name="Panel"/>
        <p:cNvSpPr/>
        <p:nvPr/>
      </p:nvSpPr>
      <p:spPr>
        <a:xfrm>
          <a:off x="786384" y="2432304"/>
          <a:ext cx="10607040" cy="3493008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tech-threshold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932688" y="2578608"/>
          <a:ext cx="10314432" cy="3200400"/>
        </a:xfrm>
        <a:prstGeom prst="rect">
          <a:avLst/>
        </a:prstGeom>
      </p:spPr>
    </p:pic>
    <p:sp>
      <p:nvSpPr>
        <p:cNvPr id="1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15 / 18</a:t>
          </a:r>
        </a:p>
      </p:txBody>
    </p:sp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Test Classification</a:t>
          </a:r>
        </a:p>
      </p:txBody>
    </p:sp>
    <p:sp>
      <p:nvSpPr>
        <p:cNvPr id="13" name="Text"/>
        <p:cNvSpPr txBox="1"/>
        <p:nvPr/>
      </p:nvSpPr>
      <p:spPr>
        <a:xfrm>
          <a:off x="804672" y="1316736"/>
          <a:ext cx="10424160" cy="8412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00" dirty="0">
              <a:b/>
              <a:solidFill>
                <a:srgbClr val="EEFDF8"/>
              </a:solidFill>
              <a:latin typeface="Aptos Display"/>
              <a:cs typeface="Arial"/>
            </a:rPr>
            <a:t>Biểu đồ lỗi phân loại giúp định hướng dữ liệu cần bổ sung cho re-train.</a:t>
          </a:r>
        </a:p>
      </p:txBody>
    </p:sp>
    <p:sp>
      <p:nvSpPr>
        <p:cNvPr id="14" name="Panel"/>
        <p:cNvSpPr/>
        <p:nvPr/>
      </p:nvSpPr>
      <p:spPr>
        <a:xfrm>
          <a:off x="786384" y="2432304"/>
          <a:ext cx="10607040" cy="3493008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tech-test-clf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932688" y="2578608"/>
          <a:ext cx="10314432" cy="3200400"/>
        </a:xfrm>
        <a:prstGeom prst="rect">
          <a:avLst/>
        </a:prstGeom>
      </p:spPr>
    </p:pic>
    <p:sp>
      <p:nvSpPr>
        <p:cNvPr id="1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16 / 18</a:t>
          </a:r>
        </a:p>
      </p:txBody>
    </p:sp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859536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Highlighted Evaluation</a:t>
          </a:r>
        </a:p>
      </p:txBody>
    </p:sp>
    <p:sp>
      <p:nvSpPr>
        <p:cNvPr id="13" name="Text"/>
        <p:cNvSpPr txBox="1"/>
        <p:nvPr/>
      </p:nvSpPr>
      <p:spPr>
        <a:xfrm>
          <a:off x="804672" y="1170432"/>
          <a:ext cx="10469880" cy="74980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550" dirty="0">
              <a:b/>
              <a:solidFill>
                <a:srgbClr val="EEFDF8"/>
              </a:solidFill>
              <a:latin typeface="Aptos Display"/>
              <a:cs typeface="Arial"/>
            </a:rPr>
            <a:t>Eval re-train xác nhận hiệu năng trên locked test và điều kiện chạy gần real-time.</a:t>
          </a:r>
        </a:p>
      </p:txBody>
    </p:sp>
    <p:sp>
      <p:nvSpPr>
        <p:cNvPr id="14" name="Panel"/>
        <p:cNvSpPr/>
        <p:nvPr/>
      </p:nvSpPr>
      <p:spPr>
        <a:xfrm>
          <a:off x="749808" y="2505456"/>
          <a:ext cx="6565392" cy="3346704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eval-retrain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877824" y="2651760"/>
          <a:ext cx="6309360" cy="3054096"/>
        </a:xfrm>
        <a:prstGeom prst="rect">
          <a:avLst/>
        </a:prstGeom>
      </p:spPr>
    </p:pic>
    <p:sp>
      <p:nvSpPr>
        <p:cNvPr id="16" name="Panel"/>
        <p:cNvSpPr/>
        <p:nvPr/>
      </p:nvSpPr>
      <p:spPr>
        <a:xfrm>
          <a:off x="7534656" y="2505456"/>
          <a:ext cx="3767328" cy="276148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7" name="Panel"/>
        <p:cNvSpPr/>
        <p:nvPr/>
      </p:nvSpPr>
      <p:spPr>
        <a:xfrm>
          <a:off x="7534656" y="2505456"/>
          <a:ext cx="3767328" cy="475488"/>
        </a:xfrm>
        <a:prstGeom prst="roundRect">
          <a:avLst/>
        </a:prstGeom>
        <a:solidFill>
          <a:srgbClr val="24402F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7607808" y="2651760"/>
          <a:ext cx="1005840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19" dirty="0">
              <a:b/>
              <a:solidFill>
                <a:srgbClr val="70F0A8"/>
              </a:solidFill>
              <a:latin typeface="Aptos Display"/>
              <a:cs typeface="Arial"/>
            </a:rPr>
            <a:t>Metric</a:t>
          </a:r>
        </a:p>
      </p:txBody>
    </p:sp>
    <p:sp>
      <p:nvSpPr>
        <p:cNvPr id="19" name="Text"/>
        <p:cNvSpPr txBox="1"/>
        <p:nvPr/>
      </p:nvSpPr>
      <p:spPr>
        <a:xfrm>
          <a:off x="8723376" y="2651760"/>
          <a:ext cx="1188719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19" dirty="0">
              <a:b/>
              <a:solidFill>
                <a:srgbClr val="70F0A8"/>
              </a:solidFill>
              <a:latin typeface="Aptos Display"/>
              <a:cs typeface="Arial"/>
            </a:rPr>
            <a:t>On VPS</a:t>
          </a:r>
        </a:p>
      </p:txBody>
    </p:sp>
    <p:sp>
      <p:nvSpPr>
        <p:cNvPr id="20" name="Text"/>
        <p:cNvSpPr txBox="1"/>
        <p:nvPr/>
      </p:nvSpPr>
      <p:spPr>
        <a:xfrm>
          <a:off x="10021824" y="2651760"/>
          <a:ext cx="1188719" cy="1645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19" dirty="0">
              <a:b/>
              <a:solidFill>
                <a:srgbClr val="70F0A8"/>
              </a:solidFill>
              <a:latin typeface="Aptos Display"/>
              <a:cs typeface="Arial"/>
            </a:rPr>
            <a:t>On local</a:t>
          </a:r>
        </a:p>
      </p:txBody>
    </p:sp>
    <p:sp>
      <p:nvSpPr>
        <p:cNvPr id="21" name="Panel"/>
        <p:cNvSpPr/>
        <p:nvPr/>
      </p:nvSpPr>
      <p:spPr>
        <a:xfrm>
          <a:off x="7534656" y="2980944"/>
          <a:ext cx="3767328" cy="713232"/>
        </a:xfrm>
        <a:prstGeom prst="roundRect">
          <a:avLst/>
        </a:prstGeom>
        <a:solidFill>
          <a:srgbClr val="1A2B20">
            <a:alpha val="78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7607808" y="3154680"/>
          <a:ext cx="10058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Average latency</a:t>
          </a:r>
        </a:p>
      </p:txBody>
    </p:sp>
    <p:sp>
      <p:nvSpPr>
        <p:cNvPr id="23" name="Text"/>
        <p:cNvSpPr txBox="1"/>
        <p:nvPr/>
      </p:nvSpPr>
      <p:spPr>
        <a:xfrm>
          <a:off x="8723376" y="3118104"/>
          <a:ext cx="1188719" cy="32918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332,467 ms</a:t>
          </a:r>
        </a:p>
      </p:txBody>
    </p:sp>
    <p:sp>
      <p:nvSpPr>
        <p:cNvPr id="24" name="Text"/>
        <p:cNvSpPr txBox="1"/>
        <p:nvPr/>
      </p:nvSpPr>
      <p:spPr>
        <a:xfrm>
          <a:off x="10021824" y="3118104"/>
          <a:ext cx="1188719" cy="32918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155,544 ms</a:t>
          </a:r>
        </a:p>
      </p:txBody>
    </p:sp>
    <p:sp>
      <p:nvSpPr>
        <p:cNvPr id="25" name="Panel"/>
        <p:cNvSpPr/>
        <p:nvPr/>
      </p:nvSpPr>
      <p:spPr>
        <a:xfrm>
          <a:off x="7534656" y="3694176"/>
          <a:ext cx="3767328" cy="713232"/>
        </a:xfrm>
        <a:prstGeom prst="roundRect">
          <a:avLst/>
        </a:prstGeom>
        <a:solidFill>
          <a:srgbClr val="1A2B20">
            <a:alpha val="78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7607808" y="3867912"/>
          <a:ext cx="10058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p95 latency</a:t>
          </a:r>
        </a:p>
      </p:txBody>
    </p:sp>
    <p:sp>
      <p:nvSpPr>
        <p:cNvPr id="27" name="Text"/>
        <p:cNvSpPr txBox="1"/>
        <p:nvPr/>
      </p:nvSpPr>
      <p:spPr>
        <a:xfrm>
          <a:off x="8723376" y="3831336"/>
          <a:ext cx="1188719" cy="32918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511,749 ms</a:t>
          </a:r>
        </a:p>
      </p:txBody>
    </p:sp>
    <p:sp>
      <p:nvSpPr>
        <p:cNvPr id="28" name="Text"/>
        <p:cNvSpPr txBox="1"/>
        <p:nvPr/>
      </p:nvSpPr>
      <p:spPr>
        <a:xfrm>
          <a:off x="10021824" y="3831336"/>
          <a:ext cx="1188719" cy="32918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194,355 ms</a:t>
          </a:r>
        </a:p>
      </p:txBody>
    </p:sp>
    <p:sp>
      <p:nvSpPr>
        <p:cNvPr id="29" name="Panel"/>
        <p:cNvSpPr/>
        <p:nvPr/>
      </p:nvSpPr>
      <p:spPr>
        <a:xfrm>
          <a:off x="7534656" y="4407408"/>
          <a:ext cx="3767328" cy="713232"/>
        </a:xfrm>
        <a:prstGeom prst="roundRect">
          <a:avLst/>
        </a:prstGeom>
        <a:solidFill>
          <a:srgbClr val="1A2B20">
            <a:alpha val="78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7607808" y="4581144"/>
          <a:ext cx="100584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80" dirty="0">
              <a:solidFill>
                <a:srgbClr val="A8C4C0"/>
              </a:solidFill>
              <a:latin typeface="Aptos Display"/>
              <a:cs typeface="Arial"/>
            </a:rPr>
            <a:t>FPS</a:t>
          </a:r>
        </a:p>
      </p:txBody>
    </p:sp>
    <p:sp>
      <p:nvSpPr>
        <p:cNvPr id="31" name="Text"/>
        <p:cNvSpPr txBox="1"/>
        <p:nvPr/>
      </p:nvSpPr>
      <p:spPr>
        <a:xfrm>
          <a:off x="8723376" y="4544568"/>
          <a:ext cx="1188719" cy="32918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3,22–5,55 FPS</a:t>
          </a:r>
        </a:p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phụ thuộc đường truyền</a:t>
          </a:r>
        </a:p>
      </p:txBody>
    </p:sp>
    <p:sp>
      <p:nvSpPr>
        <p:cNvPr id="32" name="Text"/>
        <p:cNvSpPr txBox="1"/>
        <p:nvPr/>
      </p:nvSpPr>
      <p:spPr>
        <a:xfrm>
          <a:off x="10021824" y="4544568"/>
          <a:ext cx="1188719" cy="32918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19" dirty="0">
              <a:b/>
              <a:solidFill>
                <a:srgbClr val="EEFDF8"/>
              </a:solidFill>
              <a:latin typeface="Aptos Display"/>
              <a:cs typeface="Arial"/>
            </a:rPr>
            <a:t>6,43 FPS</a:t>
          </a:r>
        </a:p>
      </p:txBody>
    </p:sp>
    <p:sp>
      <p:nvSpPr>
        <p:cNvPr id="33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17 / 18</a:t>
          </a:r>
        </a:p>
      </p:txBody>
    </p:sp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Model Evidence</a:t>
          </a:r>
        </a:p>
      </p:txBody>
    </p:sp>
    <p:sp>
      <p:nvSpPr>
        <p:cNvPr id="13" name="Text"/>
        <p:cNvSpPr txBox="1"/>
        <p:nvPr/>
      </p:nvSpPr>
      <p:spPr>
        <a:xfrm>
          <a:off x="804672" y="1325880"/>
          <a:ext cx="10424160" cy="9144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700" dirty="0">
              <a:b/>
              <a:solidFill>
                <a:srgbClr val="EEFDF8"/>
              </a:solidFill>
              <a:latin typeface="Aptos Display"/>
              <a:cs typeface="Arial"/>
            </a:rPr>
            <a:t>Phân phối xác suất dự đoán trên tập test cho thấy hai nhóm fall/non-fall tách biệt rõ.</a:t>
          </a:r>
        </a:p>
      </p:txBody>
    </p:sp>
    <p:sp>
      <p:nvSpPr>
        <p:cNvPr id="14" name="Panel"/>
        <p:cNvSpPr/>
        <p:nvPr/>
      </p:nvSpPr>
      <p:spPr>
        <a:xfrm>
          <a:off x="987552" y="2542032"/>
          <a:ext cx="10222992" cy="3328416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test-distribution.jp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1115568" y="2670048"/>
          <a:ext cx="9966960" cy="3072384"/>
        </a:xfrm>
        <a:prstGeom prst="rect">
          <a:avLst/>
        </a:prstGeom>
      </p:spPr>
    </p:pic>
    <p:sp>
      <p:nvSpPr>
        <p:cNvPr id="1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18 / 18</a:t>
          </a:r>
        </a:p>
      </p:txBody>
    </p:sp>
  </p:cSld>
  <p:clrMapOvr>
    <a:masterClrMapping/>
  </p:clrMapOvr>
</p:sld>
</file>

<file path=ppt/theme/theme1.xml><?xml version="1.0" encoding="utf-8"?>
<a:theme xmlns:a="http://schemas.openxmlformats.org/drawingml/2006/main" name="SYL Theme">
  <a:themeElements>
    <a:clrScheme name="SYL">
      <a:dk1>
        <a:srgbClr val="102018"/>
      </a:dk1>
      <a:lt1>
        <a:srgbClr val="EEFDF8"/>
      </a:lt1>
      <a:dk2>
        <a:srgbClr val="1F3022"/>
      </a:dk2>
      <a:lt2>
        <a:srgbClr val="A8C4C0"/>
      </a:lt2>
      <a:accent1>
        <a:srgbClr val="59E0D0"/>
      </a:accent1>
      <a:accent2>
        <a:srgbClr val="70F0A8"/>
      </a:accent2>
      <a:accent3>
        <a:srgbClr val="FFD166"/>
      </a:accent3>
      <a:accent4>
        <a:srgbClr val="FF8A9A"/>
      </a:accent4>
      <a:accent5>
        <a:srgbClr val="6E8F55"/>
      </a:accent5>
      <a:accent6>
        <a:srgbClr val="2B3A24"/>
      </a:accent6>
      <a:hlink>
        <a:srgbClr val="59E0D0"/>
      </a:hlink>
      <a:folHlink>
        <a:srgbClr val="70F0A8"/>
      </a:folHlink>
    </a:clrScheme>
    <a:fontScheme name="SYL">
      <a:majorFont>
        <a:latin typeface="Aptos Display"/>
        <a:ea typeface=""/>
        <a:cs typeface="Arial"/>
      </a:majorFont>
      <a:minorFont>
        <a:latin typeface="Aptos"/>
        <a:ea typeface=""/>
        <a:cs typeface="Arial"/>
      </a:minorFont>
    </a:fontScheme>
    <a:fmtScheme name="SY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