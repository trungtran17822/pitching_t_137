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12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12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Thị trường chăm sóc người cao tuổi đã đủ lớn để bắt đầu.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16,1 triệu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người cao tuổi tại Việt Nam theo dữ liệu dân cư quốc gia, cập nhật năm 2025.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&gt;16%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dân số Việt Nam là người cao tuổi; dân số trung bình năm 2025 khoảng 102,3 triệu.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1,5–1,9 triệu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người cao tuổi té ngã mỗi năm, tạo nhu cầu cảnh báo sớm tại nhà.</a:t>
          </a:r>
        </a:p>
      </p:txBody>
    </p:sp>
    <p:sp>
      <p:nvSpPr>
        <p:cNvPr id="23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422392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Dân số già hóa nhanh + con cái đi làm xa + camera gia đình đã phổ biến tạo thời điểm phù hợp cho một lớp AI an toàn giá hợp lý.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12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12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12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841248" y="3154680"/>
          <a:ext cx="5175504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273552"/>
          <a:ext cx="4882896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6" name="Text"/>
        <p:cNvSpPr txBox="1"/>
        <p:nvPr/>
      </p:nvSpPr>
      <p:spPr>
        <a:xfrm>
          <a:off x="987552" y="3566160"/>
          <a:ext cx="4882896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7" name="Panel"/>
        <p:cNvSpPr/>
        <p:nvPr/>
      </p:nvSpPr>
      <p:spPr>
        <a:xfrm>
          <a:off x="6181344" y="3154680"/>
          <a:ext cx="5175504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27648" y="3273552"/>
          <a:ext cx="4882896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19" name="Text"/>
        <p:cNvSpPr txBox="1"/>
        <p:nvPr/>
      </p:nvSpPr>
      <p:spPr>
        <a:xfrm>
          <a:off x="6327648" y="3566160"/>
          <a:ext cx="4882896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0" name="Panel"/>
        <p:cNvSpPr/>
        <p:nvPr/>
      </p:nvSpPr>
      <p:spPr>
        <a:xfrm>
          <a:off x="841248" y="4361688"/>
          <a:ext cx="5175504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87552" y="4480560"/>
          <a:ext cx="4882896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2" name="Text"/>
        <p:cNvSpPr txBox="1"/>
        <p:nvPr/>
      </p:nvSpPr>
      <p:spPr>
        <a:xfrm>
          <a:off x="987552" y="4773168"/>
          <a:ext cx="4882896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3" name="Panel"/>
        <p:cNvSpPr/>
        <p:nvPr/>
      </p:nvSpPr>
      <p:spPr>
        <a:xfrm>
          <a:off x="6181344" y="4361688"/>
          <a:ext cx="5175504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27648" y="4480560"/>
          <a:ext cx="4882896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5" name="Text"/>
        <p:cNvSpPr txBox="1"/>
        <p:nvPr/>
      </p:nvSpPr>
      <p:spPr>
        <a:xfrm>
          <a:off x="6327648" y="4773168"/>
          <a:ext cx="4882896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6" name="Panel"/>
        <p:cNvSpPr/>
        <p:nvPr/>
      </p:nvSpPr>
      <p:spPr>
        <a:xfrm>
          <a:off x="5669280" y="2971800"/>
          <a:ext cx="5806440" cy="2596896"/>
        </a:xfrm>
        <a:prstGeom prst="roundRect">
          <a:avLst/>
        </a:prstGeom>
        <a:solidFill>
          <a:srgbClr val="FFFFFF">
            <a:alpha val="95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27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779008" y="3081528"/>
          <a:ext cx="5577840" cy="2359152"/>
        </a:xfrm>
        <a:prstGeom prst="rect">
          <a:avLst/>
        </a:prstGeom>
      </p:spPr>
    </p:pic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12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12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422392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12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12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Gateway AI + hợp tác phân phối B2B2C.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Giai đoạn đầu bán sỉ qua đối tác camera; dài hạn chuyển sang hoa hồng/doanh thu theo sản phẩm bán ra.</a:t>
          </a:r>
        </a:p>
      </p:txBody>
    </p:sp>
    <p:sp>
      <p:nvSpPr>
        <p:cNvPr id="15" name="Panel"/>
        <p:cNvSpPr/>
        <p:nvPr/>
      </p:nvSpPr>
      <p:spPr>
        <a:xfrm>
          <a:off x="841248" y="36576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7764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Standard · 5.2tr</a:t>
          </a:r>
        </a:p>
      </p:txBody>
    </p:sp>
    <p:sp>
      <p:nvSpPr>
        <p:cNvPr id="17" name="Text"/>
        <p:cNvSpPr txBox="1"/>
        <p:nvPr/>
      </p:nvSpPr>
      <p:spPr>
        <a:xfrm>
          <a:off x="987552" y="40690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4401312" y="36576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7764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Plus · 8.5tr</a:t>
          </a:r>
        </a:p>
      </p:txBody>
    </p:sp>
    <p:sp>
      <p:nvSpPr>
        <p:cNvPr id="20" name="Text"/>
        <p:cNvSpPr txBox="1"/>
        <p:nvPr/>
      </p:nvSpPr>
      <p:spPr>
        <a:xfrm>
          <a:off x="4547616" y="40690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1" name="Panel"/>
        <p:cNvSpPr/>
        <p:nvPr/>
      </p:nvSpPr>
      <p:spPr>
        <a:xfrm>
          <a:off x="7961376" y="36576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7764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Pro · 10tr</a:t>
          </a:r>
        </a:p>
      </p:txBody>
    </p:sp>
    <p:sp>
      <p:nvSpPr>
        <p:cNvPr id="23" name="Text"/>
        <p:cNvSpPr txBox="1"/>
        <p:nvPr/>
      </p:nvSpPr>
      <p:spPr>
        <a:xfrm>
          <a:off x="8107680" y="40690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12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nằm giữa camera phổ thông và hệ thống chuyên dụng đắt tiền.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17" name="Panel"/>
        <p:cNvSpPr/>
        <p:nvPr/>
      </p:nvSpPr>
      <p:spPr>
        <a:xfrm>
          <a:off x="4401312" y="356616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68503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19" name="Text"/>
        <p:cNvSpPr txBox="1"/>
        <p:nvPr/>
      </p:nvSpPr>
      <p:spPr>
        <a:xfrm>
          <a:off x="4547616" y="3977639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20" name="Panel"/>
        <p:cNvSpPr/>
        <p:nvPr/>
      </p:nvSpPr>
      <p:spPr>
        <a:xfrm>
          <a:off x="7961376" y="356616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68503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22" name="Text"/>
        <p:cNvSpPr txBox="1"/>
        <p:nvPr/>
      </p:nvSpPr>
      <p:spPr>
        <a:xfrm>
          <a:off x="8107680" y="3977639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2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12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Cần phần cứng thật, dữ liệu thật và đối tác pilot thật.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0–3 tháng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Hoàn thiện MVP, dashboard admin, phân quyền, cảnh báo khẩn và demo ổn định.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3–6 tháng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Benchmark trên camera/gateway phổ biến, mở rộng dữ liệu đồng ý/ẩn danh.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6–12 tháng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Pilot với đối tác camera, chủ nhà hoặc cơ sở chăm sóc để kiểm chứng giá bán.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Kêu gọi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Tìm 1–2 đối tác thử nghiệm, bộ camera/gateway và cố vấn AI biên/quyền riêng tư.</a:t>
          </a:r>
        </a:p>
      </p:txBody>
    </p:sp>
    <p:sp>
      <p:nvSpPr>
        <p:cNvPr id="2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12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