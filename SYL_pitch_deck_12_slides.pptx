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999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syl-hero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overview-diagram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syl-hero.pn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0" y="0"/>
          <a:ext cx="12191999" cy="6858000"/>
        </a:xfrm>
        <a:prstGeom prst="rect">
          <a:avLst/>
        </a:prstGeom>
      </p:spPr>
    </p:pic>
    <p:sp>
      <p:nvSpPr>
        <p:cNvPr id="12" name="Overlay"/>
        <p:cNvSpPr/>
        <p:nvPr/>
      </p:nvSpPr>
      <p:spPr>
        <a:xfrm>
          <a:off x="0" y="0"/>
          <a:ext cx="12191999" cy="6858000"/>
        </a:xfrm>
        <a:prstGeom prst="rect">
          <a:avLst/>
        </a:prstGeom>
        <a:solidFill>
          <a:srgbClr val="102018">
            <a:alpha val="28000"/>
          </a:srgbClr>
        </a:solidFill>
        <a:ln>
          <a:noFill/>
        </a:ln>
      </p:spPr>
    </p:sp>
    <p:pic>
      <p:nvPicPr>
        <p:cNvPr id="13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4" name="Text"/>
        <p:cNvSpPr txBox="1"/>
        <p:nvPr/>
      </p:nvSpPr>
      <p:spPr>
        <a:xfrm>
          <a:off x="841248" y="1234440"/>
          <a:ext cx="6217920" cy="31089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00" dirty="0">
              <a:b/>
              <a:solidFill>
                <a:srgbClr val="59E0D0"/>
              </a:solidFill>
              <a:latin typeface="Aptos Display"/>
              <a:cs typeface="Arial"/>
            </a:rPr>
            <a:t>Fall detection · Stranger alert · Privacy by role</a:t>
          </a:r>
        </a:p>
      </p:txBody>
    </p:sp>
    <p:sp>
      <p:nvSpPr>
        <p:cNvPr id="15" name="Text"/>
        <p:cNvSpPr txBox="1"/>
        <p:nvPr/>
      </p:nvSpPr>
      <p:spPr>
        <a:xfrm>
          <a:off x="804672" y="1664208"/>
          <a:ext cx="3749039" cy="9601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2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6" name="Text"/>
        <p:cNvSpPr txBox="1"/>
        <p:nvPr/>
      </p:nvSpPr>
      <p:spPr>
        <a:xfrm>
          <a:off x="877824" y="2743200"/>
          <a:ext cx="5943600" cy="6217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950" dirty="0">
              <a:solidFill>
                <a:srgbClr val="D8F4EF"/>
              </a:solidFill>
              <a:latin typeface="Aptos Display"/>
              <a:cs typeface="Arial"/>
            </a:rPr>
            <a:t>Lớp AI an toàn cho gia đình có người cao tuổi: phát hiện té ngã, cảnh báo người lạ và kích hoạt hỗ trợ khẩn cấp đúng lúc.</a:t>
          </a:r>
        </a:p>
      </p:txBody>
    </p:sp>
    <p:sp>
      <p:nvSpPr>
        <p:cNvPr id="17" name="Panel"/>
        <p:cNvSpPr/>
        <p:nvPr/>
      </p:nvSpPr>
      <p:spPr>
        <a:xfrm>
          <a:off x="877824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950976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YOLO Pose</a:t>
          </a:r>
        </a:p>
      </p:txBody>
    </p:sp>
    <p:sp>
      <p:nvSpPr>
        <p:cNvPr id="19" name="Panel"/>
        <p:cNvSpPr/>
        <p:nvPr/>
      </p:nvSpPr>
      <p:spPr>
        <a:xfrm>
          <a:off x="2578608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0" name="Text"/>
        <p:cNvSpPr txBox="1"/>
        <p:nvPr/>
      </p:nvSpPr>
      <p:spPr>
        <a:xfrm>
          <a:off x="2651760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Real-time alerts</a:t>
          </a:r>
        </a:p>
      </p:txBody>
    </p:sp>
    <p:sp>
      <p:nvSpPr>
        <p:cNvPr id="21" name="Panel"/>
        <p:cNvSpPr/>
        <p:nvPr/>
      </p:nvSpPr>
      <p:spPr>
        <a:xfrm>
          <a:off x="4279392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4352544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WebRTC/HLS streaming</a:t>
          </a:r>
        </a:p>
      </p:txBody>
    </p:sp>
    <p:sp>
      <p:nvSpPr>
        <p:cNvPr id="23" name="Panel"/>
        <p:cNvSpPr/>
        <p:nvPr/>
      </p:nvSpPr>
      <p:spPr>
        <a:xfrm>
          <a:off x="5980176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6053328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B2B2C</a:t>
          </a:r>
        </a:p>
      </p:txBody>
    </p:sp>
    <p:sp>
      <p:nvSpPr>
        <p:cNvPr id="2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01 / 12</a:t>
          </a:r>
        </a:p>
      </p:txBody>
    </p:sp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Problem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250" dirty="0">
              <a:b/>
              <a:solidFill>
                <a:srgbClr val="EEFDF8"/>
              </a:solidFill>
              <a:latin typeface="Aptos Display"/>
              <a:cs typeface="Arial"/>
            </a:rPr>
            <a:t>Khoảnh khắc nguy hiểm nhất thường xảy ra khi không ai đang nhìn.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30" dirty="0">
              <a:solidFill>
                <a:srgbClr val="CFE7E3"/>
              </a:solidFill>
              <a:latin typeface="Aptos Display"/>
              <a:cs typeface="Arial"/>
            </a:rPr>
            <a:t>Gia đình cần một hệ thống biết phân biệt sự cố thật với chuyển động bình thường, thay vì chỉ gửi thêm nhiều thông báo nhiễu.</a:t>
          </a:r>
        </a:p>
      </p:txBody>
    </p:sp>
    <p:sp>
      <p:nvSpPr>
        <p:cNvPr id="15" name="Panel"/>
        <p:cNvSpPr/>
        <p:nvPr/>
      </p:nvSpPr>
      <p:spPr>
        <a:xfrm>
          <a:off x="841248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Phát hiện trễ</a:t>
          </a:r>
        </a:p>
      </p:txBody>
    </p:sp>
    <p:sp>
      <p:nvSpPr>
        <p:cNvPr id="17" name="Text"/>
        <p:cNvSpPr txBox="1"/>
        <p:nvPr/>
      </p:nvSpPr>
      <p:spPr>
        <a:xfrm>
          <a:off x="987552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Người đi làm hoặc sống xa không thể luôn theo dõi camera để biết cha mẹ gặp sự cố.</a:t>
          </a:r>
        </a:p>
      </p:txBody>
    </p:sp>
    <p:sp>
      <p:nvSpPr>
        <p:cNvPr id="18" name="Panel"/>
        <p:cNvSpPr/>
        <p:nvPr/>
      </p:nvSpPr>
      <p:spPr>
        <a:xfrm>
          <a:off x="4401312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Alert fatigue</a:t>
          </a:r>
        </a:p>
      </p:txBody>
    </p:sp>
    <p:sp>
      <p:nvSpPr>
        <p:cNvPr id="20" name="Text"/>
        <p:cNvSpPr txBox="1"/>
        <p:nvPr/>
      </p:nvSpPr>
      <p:spPr>
        <a:xfrm>
          <a:off x="4547616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Motion alert quá nhiều khiến người dùng dễ tắt thông báo và bỏ lỡ cảnh báo quan trọng.</a:t>
          </a:r>
        </a:p>
      </p:txBody>
    </p:sp>
    <p:sp>
      <p:nvSpPr>
        <p:cNvPr id="21" name="Panel"/>
        <p:cNvSpPr/>
        <p:nvPr/>
      </p:nvSpPr>
      <p:spPr>
        <a:xfrm>
          <a:off x="7961376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Rủi ro riêng tư</a:t>
          </a:r>
        </a:p>
      </p:txBody>
    </p:sp>
    <p:sp>
      <p:nvSpPr>
        <p:cNvPr id="23" name="Text"/>
        <p:cNvSpPr txBox="1"/>
        <p:nvPr/>
      </p:nvSpPr>
      <p:spPr>
        <a:xfrm>
          <a:off x="8107680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Camera gia đình phải kiểm soát ai được xem, xem trong bao lâu và xem vì lý do gì.</a:t>
          </a:r>
        </a:p>
      </p:txBody>
    </p:sp>
    <p:sp>
      <p:nvSpPr>
        <p:cNvPr id="2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02 / 12</a:t>
          </a:r>
        </a:p>
      </p:txBody>
    </p:sp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Market Signal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250" dirty="0">
              <a:b/>
              <a:solidFill>
                <a:srgbClr val="EEFDF8"/>
              </a:solidFill>
              <a:latin typeface="Aptos Display"/>
              <a:cs typeface="Arial"/>
            </a:rPr>
            <a:t>Thị trường chăm sóc người cao tuổi đã đủ lớn để bắt đầu.</a:t>
          </a:r>
        </a:p>
      </p:txBody>
    </p:sp>
    <p:sp>
      <p:nvSpPr>
        <p:cNvPr id="14" name="Panel"/>
        <p:cNvSpPr/>
        <p:nvPr/>
      </p:nvSpPr>
      <p:spPr>
        <a:xfrm>
          <a:off x="841248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1005840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000" dirty="0">
              <a:b/>
              <a:solidFill>
                <a:srgbClr val="70F0A8"/>
              </a:solidFill>
              <a:latin typeface="Aptos Display"/>
              <a:cs typeface="Arial"/>
            </a:rPr>
            <a:t>16,1 triệu</a:t>
          </a:r>
        </a:p>
      </p:txBody>
    </p:sp>
    <p:sp>
      <p:nvSpPr>
        <p:cNvPr id="16" name="Text"/>
        <p:cNvSpPr txBox="1"/>
        <p:nvPr/>
      </p:nvSpPr>
      <p:spPr>
        <a:xfrm>
          <a:off x="1005840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50" dirty="0">
              <a:solidFill>
                <a:srgbClr val="A8C4C0"/>
              </a:solidFill>
              <a:latin typeface="Aptos Display"/>
              <a:cs typeface="Arial"/>
            </a:rPr>
            <a:t>người cao tuổi tại Việt Nam theo dữ liệu dân cư quốc gia, cập nhật năm 2025.</a:t>
          </a:r>
        </a:p>
      </p:txBody>
    </p:sp>
    <p:sp>
      <p:nvSpPr>
        <p:cNvPr id="17" name="Panel"/>
        <p:cNvSpPr/>
        <p:nvPr/>
      </p:nvSpPr>
      <p:spPr>
        <a:xfrm>
          <a:off x="4434840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99432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000" dirty="0">
              <a:b/>
              <a:solidFill>
                <a:srgbClr val="70F0A8"/>
              </a:solidFill>
              <a:latin typeface="Aptos Display"/>
              <a:cs typeface="Arial"/>
            </a:rPr>
            <a:t>&gt;16%</a:t>
          </a:r>
        </a:p>
      </p:txBody>
    </p:sp>
    <p:sp>
      <p:nvSpPr>
        <p:cNvPr id="19" name="Text"/>
        <p:cNvSpPr txBox="1"/>
        <p:nvPr/>
      </p:nvSpPr>
      <p:spPr>
        <a:xfrm>
          <a:off x="4599432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50" dirty="0">
              <a:solidFill>
                <a:srgbClr val="A8C4C0"/>
              </a:solidFill>
              <a:latin typeface="Aptos Display"/>
              <a:cs typeface="Arial"/>
            </a:rPr>
            <a:t>dân số Việt Nam là người cao tuổi; dân số trung bình năm 2025 khoảng 102,3 triệu.</a:t>
          </a:r>
        </a:p>
      </p:txBody>
    </p:sp>
    <p:sp>
      <p:nvSpPr>
        <p:cNvPr id="20" name="Panel"/>
        <p:cNvSpPr/>
        <p:nvPr/>
      </p:nvSpPr>
      <p:spPr>
        <a:xfrm>
          <a:off x="8028432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93024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000" dirty="0">
              <a:b/>
              <a:solidFill>
                <a:srgbClr val="70F0A8"/>
              </a:solidFill>
              <a:latin typeface="Aptos Display"/>
              <a:cs typeface="Arial"/>
            </a:rPr>
            <a:t>1,5–1,9 triệu</a:t>
          </a:r>
        </a:p>
      </p:txBody>
    </p:sp>
    <p:sp>
      <p:nvSpPr>
        <p:cNvPr id="22" name="Text"/>
        <p:cNvSpPr txBox="1"/>
        <p:nvPr/>
      </p:nvSpPr>
      <p:spPr>
        <a:xfrm>
          <a:off x="8193024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50" dirty="0">
              <a:solidFill>
                <a:srgbClr val="A8C4C0"/>
              </a:solidFill>
              <a:latin typeface="Aptos Display"/>
              <a:cs typeface="Arial"/>
            </a:rPr>
            <a:t>người cao tuổi té ngã mỗi năm, tạo nhu cầu cảnh báo sớm tại nhà.</a:t>
          </a:r>
        </a:p>
      </p:txBody>
    </p:sp>
    <p:sp>
      <p:nvSpPr>
        <p:cNvPr id="23" name="Panel"/>
        <p:cNvSpPr/>
        <p:nvPr/>
      </p:nvSpPr>
      <p:spPr>
        <a:xfrm>
          <a:off x="841248" y="5285232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1024128" y="5422392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50" dirty="0">
              <a:solidFill>
                <a:srgbClr val="D8F4EF"/>
              </a:solidFill>
              <a:latin typeface="Aptos Display"/>
              <a:cs typeface="Arial"/>
            </a:rPr>
            <a:t>Dân số già hóa nhanh + con cái đi làm xa + camera gia đình đã phổ biến tạo thời điểm phù hợp cho một lớp AI an toàn giá hợp lý.</a:t>
          </a:r>
        </a:p>
      </p:txBody>
    </p:sp>
    <p:sp>
      <p:nvSpPr>
        <p:cNvPr id="2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03 / 12</a:t>
          </a:r>
        </a:p>
      </p:txBody>
    </p:sp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Solution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250" dirty="0">
              <a:b/>
              <a:solidFill>
                <a:srgbClr val="EEFDF8"/>
              </a:solidFill>
              <a:latin typeface="Aptos Display"/>
              <a:cs typeface="Arial"/>
            </a:rPr>
            <a:t>SYL biến camera hiện có thành hệ thống chăm sóc chủ động.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30" dirty="0">
              <a:solidFill>
                <a:srgbClr val="CFE7E3"/>
              </a:solidFill>
              <a:latin typeface="Aptos Display"/>
              <a:cs typeface="Arial"/>
            </a:rPr>
            <a:t>Gateway AI kết nối camera IP, phân tích hình ảnh thời gian thực và gửi cảnh báo có bằng chứng đến đúng người xử lý.</a:t>
          </a:r>
        </a:p>
      </p:txBody>
    </p:sp>
    <p:sp>
      <p:nvSpPr>
        <p:cNvPr id="15" name="Panel"/>
        <p:cNvSpPr/>
        <p:nvPr/>
      </p:nvSpPr>
      <p:spPr>
        <a:xfrm>
          <a:off x="841248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Phát hiện té ngã</a:t>
          </a:r>
        </a:p>
      </p:txBody>
    </p:sp>
    <p:sp>
      <p:nvSpPr>
        <p:cNvPr id="17" name="Text"/>
        <p:cNvSpPr txBox="1"/>
        <p:nvPr/>
      </p:nvSpPr>
      <p:spPr>
        <a:xfrm>
          <a:off x="987552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Nhận biết tư thế/ngữ cảnh nguy hiểm để kích hoạt cảnh báo khẩn.</a:t>
          </a:r>
        </a:p>
      </p:txBody>
    </p:sp>
    <p:sp>
      <p:nvSpPr>
        <p:cNvPr id="18" name="Panel"/>
        <p:cNvSpPr/>
        <p:nvPr/>
      </p:nvSpPr>
      <p:spPr>
        <a:xfrm>
          <a:off x="4401312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Phát hiện người lạ</a:t>
          </a:r>
        </a:p>
      </p:txBody>
    </p:sp>
    <p:sp>
      <p:nvSpPr>
        <p:cNvPr id="20" name="Text"/>
        <p:cNvSpPr txBox="1"/>
        <p:nvPr/>
      </p:nvSpPr>
      <p:spPr>
        <a:xfrm>
          <a:off x="4547616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Đối chiếu người nhà với người lạ để giảm rủi ro an ninh trong nhà.</a:t>
          </a:r>
        </a:p>
      </p:txBody>
    </p:sp>
    <p:sp>
      <p:nvSpPr>
        <p:cNvPr id="21" name="Panel"/>
        <p:cNvSpPr/>
        <p:nvPr/>
      </p:nvSpPr>
      <p:spPr>
        <a:xfrm>
          <a:off x="7961376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Bằng chứng tức thì</a:t>
          </a:r>
        </a:p>
      </p:txBody>
    </p:sp>
    <p:sp>
      <p:nvSpPr>
        <p:cNvPr id="23" name="Text"/>
        <p:cNvSpPr txBox="1"/>
        <p:nvPr/>
      </p:nvSpPr>
      <p:spPr>
        <a:xfrm>
          <a:off x="8107680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Email/app gửi snapshot hoặc video evidence để gia đình xác minh nhanh.</a:t>
          </a:r>
        </a:p>
      </p:txBody>
    </p:sp>
    <p:sp>
      <p:nvSpPr>
        <p:cNvPr id="2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04 / 12</a:t>
          </a:r>
        </a:p>
      </p:txBody>
    </p:sp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Product Flow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250" dirty="0">
              <a:b/>
              <a:solidFill>
                <a:srgbClr val="EEFDF8"/>
              </a:solidFill>
              <a:latin typeface="Aptos Display"/>
              <a:cs typeface="Arial"/>
            </a:rPr>
            <a:t>Từ camera đến hành động khẩn cấp trong vài bước.</a:t>
          </a:r>
        </a:p>
      </p:txBody>
    </p:sp>
    <p:sp>
      <p:nvSpPr>
        <p:cNvPr id="14" name="Panel"/>
        <p:cNvSpPr/>
        <p:nvPr/>
      </p:nvSpPr>
      <p:spPr>
        <a:xfrm>
          <a:off x="841248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60120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01</a:t>
          </a:r>
        </a:p>
      </p:txBody>
    </p:sp>
    <p:sp>
      <p:nvSpPr>
        <p:cNvPr id="16" name="Text"/>
        <p:cNvSpPr txBox="1"/>
        <p:nvPr/>
      </p:nvSpPr>
      <p:spPr>
        <a:xfrm>
          <a:off x="960120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50" dirty="0">
              <a:b/>
              <a:solidFill>
                <a:srgbClr val="EEFDF8"/>
              </a:solidFill>
              <a:latin typeface="Aptos Display"/>
              <a:cs typeface="Arial"/>
            </a:rPr>
            <a:t>Stream</a:t>
          </a:r>
        </a:p>
      </p:txBody>
    </p:sp>
    <p:sp>
      <p:nvSpPr>
        <p:cNvPr id="17" name="Text"/>
        <p:cNvSpPr txBox="1"/>
        <p:nvPr/>
      </p:nvSpPr>
      <p:spPr>
        <a:xfrm>
          <a:off x="960120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Camera IP gửi RTSP qua mạng LAN hoặc tunnel bảo mật.</a:t>
          </a:r>
        </a:p>
      </p:txBody>
    </p:sp>
    <p:sp>
      <p:nvSpPr>
        <p:cNvPr id="18" name="Panel"/>
        <p:cNvSpPr/>
        <p:nvPr/>
      </p:nvSpPr>
      <p:spPr>
        <a:xfrm>
          <a:off x="2968142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3087014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02</a:t>
          </a:r>
        </a:p>
      </p:txBody>
    </p:sp>
    <p:sp>
      <p:nvSpPr>
        <p:cNvPr id="20" name="Text"/>
        <p:cNvSpPr txBox="1"/>
        <p:nvPr/>
      </p:nvSpPr>
      <p:spPr>
        <a:xfrm>
          <a:off x="3087014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50" dirty="0">
              <a:b/>
              <a:solidFill>
                <a:srgbClr val="EEFDF8"/>
              </a:solidFill>
              <a:latin typeface="Aptos Display"/>
              <a:cs typeface="Arial"/>
            </a:rPr>
            <a:t>Infer</a:t>
          </a:r>
        </a:p>
      </p:txBody>
    </p:sp>
    <p:sp>
      <p:nvSpPr>
        <p:cNvPr id="21" name="Text"/>
        <p:cNvSpPr txBox="1"/>
        <p:nvPr/>
      </p:nvSpPr>
      <p:spPr>
        <a:xfrm>
          <a:off x="3087014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Model pose/face chạy inference và bám theo người trong khung hình.</a:t>
          </a:r>
        </a:p>
      </p:txBody>
    </p:sp>
    <p:sp>
      <p:nvSpPr>
        <p:cNvPr id="22" name="Panel"/>
        <p:cNvSpPr/>
        <p:nvPr/>
      </p:nvSpPr>
      <p:spPr>
        <a:xfrm>
          <a:off x="5095036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3" name="Text"/>
        <p:cNvSpPr txBox="1"/>
        <p:nvPr/>
      </p:nvSpPr>
      <p:spPr>
        <a:xfrm>
          <a:off x="5213908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03</a:t>
          </a:r>
        </a:p>
      </p:txBody>
    </p:sp>
    <p:sp>
      <p:nvSpPr>
        <p:cNvPr id="24" name="Text"/>
        <p:cNvSpPr txBox="1"/>
        <p:nvPr/>
      </p:nvSpPr>
      <p:spPr>
        <a:xfrm>
          <a:off x="5213908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50" dirty="0">
              <a:b/>
              <a:solidFill>
                <a:srgbClr val="EEFDF8"/>
              </a:solidFill>
              <a:latin typeface="Aptos Display"/>
              <a:cs typeface="Arial"/>
            </a:rPr>
            <a:t>Classify</a:t>
          </a:r>
        </a:p>
      </p:txBody>
    </p:sp>
    <p:sp>
      <p:nvSpPr>
        <p:cNvPr id="25" name="Text"/>
        <p:cNvSpPr txBox="1"/>
        <p:nvPr/>
      </p:nvSpPr>
      <p:spPr>
        <a:xfrm>
          <a:off x="5213908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Temporal classifier xác định té ngã, bất động hoặc người lạ.</a:t>
          </a:r>
        </a:p>
      </p:txBody>
    </p:sp>
    <p:sp>
      <p:nvSpPr>
        <p:cNvPr id="26" name="Panel"/>
        <p:cNvSpPr/>
        <p:nvPr/>
      </p:nvSpPr>
      <p:spPr>
        <a:xfrm>
          <a:off x="7221931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7340803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04</a:t>
          </a:r>
        </a:p>
      </p:txBody>
    </p:sp>
    <p:sp>
      <p:nvSpPr>
        <p:cNvPr id="28" name="Text"/>
        <p:cNvSpPr txBox="1"/>
        <p:nvPr/>
      </p:nvSpPr>
      <p:spPr>
        <a:xfrm>
          <a:off x="7340803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50" dirty="0">
              <a:b/>
              <a:solidFill>
                <a:srgbClr val="EEFDF8"/>
              </a:solidFill>
              <a:latin typeface="Aptos Display"/>
              <a:cs typeface="Arial"/>
            </a:rPr>
            <a:t>Alert</a:t>
          </a:r>
        </a:p>
      </p:txBody>
    </p:sp>
    <p:sp>
      <p:nvSpPr>
        <p:cNvPr id="29" name="Text"/>
        <p:cNvSpPr txBox="1"/>
        <p:nvPr/>
      </p:nvSpPr>
      <p:spPr>
        <a:xfrm>
          <a:off x="7340803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Hệ thống gửi cảnh báo real-time kèm bằng chứng.</a:t>
          </a:r>
        </a:p>
      </p:txBody>
    </p:sp>
    <p:sp>
      <p:nvSpPr>
        <p:cNvPr id="30" name="Panel"/>
        <p:cNvSpPr/>
        <p:nvPr/>
      </p:nvSpPr>
      <p:spPr>
        <a:xfrm>
          <a:off x="9348825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1" name="Text"/>
        <p:cNvSpPr txBox="1"/>
        <p:nvPr/>
      </p:nvSpPr>
      <p:spPr>
        <a:xfrm>
          <a:off x="9467697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05</a:t>
          </a:r>
        </a:p>
      </p:txBody>
    </p:sp>
    <p:sp>
      <p:nvSpPr>
        <p:cNvPr id="32" name="Text"/>
        <p:cNvSpPr txBox="1"/>
        <p:nvPr/>
      </p:nvSpPr>
      <p:spPr>
        <a:xfrm>
          <a:off x="9467697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50" dirty="0">
              <a:b/>
              <a:solidFill>
                <a:srgbClr val="EEFDF8"/>
              </a:solidFill>
              <a:latin typeface="Aptos Display"/>
              <a:cs typeface="Arial"/>
            </a:rPr>
            <a:t>Respond</a:t>
          </a:r>
        </a:p>
      </p:txBody>
    </p:sp>
    <p:sp>
      <p:nvSpPr>
        <p:cNvPr id="33" name="Text"/>
        <p:cNvSpPr txBox="1"/>
        <p:nvPr/>
      </p:nvSpPr>
      <p:spPr>
        <a:xfrm>
          <a:off x="9467697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Gia đình/admin/bác sĩ phối hợp xử lý trên app.</a:t>
          </a:r>
        </a:p>
      </p:txBody>
    </p:sp>
    <p:sp>
      <p:nvSpPr>
        <p:cNvPr id="3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05 / 12</a:t>
          </a:r>
        </a:p>
      </p:txBody>
    </p:sp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System Architecture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250" dirty="0">
              <a:b/>
              <a:solidFill>
                <a:srgbClr val="EEFDF8"/>
              </a:solidFill>
              <a:latin typeface="Aptos Display"/>
              <a:cs typeface="Arial"/>
            </a:rPr>
            <a:t>Kiến trúc triển khai thật: camera LAN, AI services, streaming và web app.</a:t>
          </a:r>
        </a:p>
      </p:txBody>
    </p:sp>
    <p:sp>
      <p:nvSpPr>
        <p:cNvPr id="14" name="Panel"/>
        <p:cNvSpPr/>
        <p:nvPr/>
      </p:nvSpPr>
      <p:spPr>
        <a:xfrm>
          <a:off x="841248" y="3154680"/>
          <a:ext cx="5175504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273552"/>
          <a:ext cx="4882896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Ingestion</a:t>
          </a:r>
        </a:p>
      </p:txBody>
    </p:sp>
    <p:sp>
      <p:nvSpPr>
        <p:cNvPr id="16" name="Text"/>
        <p:cNvSpPr txBox="1"/>
        <p:nvPr/>
      </p:nvSpPr>
      <p:spPr>
        <a:xfrm>
          <a:off x="987552" y="3566160"/>
          <a:ext cx="4882896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IMOU/IP Camera qua RTSP, SSH reverse tunnel, MediaMTX và FFmpeg.</a:t>
          </a:r>
        </a:p>
      </p:txBody>
    </p:sp>
    <p:sp>
      <p:nvSpPr>
        <p:cNvPr id="17" name="Panel"/>
        <p:cNvSpPr/>
        <p:nvPr/>
      </p:nvSpPr>
      <p:spPr>
        <a:xfrm>
          <a:off x="6181344" y="3154680"/>
          <a:ext cx="5175504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6327648" y="3273552"/>
          <a:ext cx="4882896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AI pipeline</a:t>
          </a:r>
        </a:p>
      </p:txBody>
    </p:sp>
    <p:sp>
      <p:nvSpPr>
        <p:cNvPr id="19" name="Text"/>
        <p:cNvSpPr txBox="1"/>
        <p:nvPr/>
      </p:nvSpPr>
      <p:spPr>
        <a:xfrm>
          <a:off x="6327648" y="3566160"/>
          <a:ext cx="4882896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YOLO Pose ONNX, ONNX Runtime, OpenCV, ByteTrack, Temporal Fall Classifier, YuNet &amp; SFace.</a:t>
          </a:r>
        </a:p>
      </p:txBody>
    </p:sp>
    <p:sp>
      <p:nvSpPr>
        <p:cNvPr id="20" name="Panel"/>
        <p:cNvSpPr/>
        <p:nvPr/>
      </p:nvSpPr>
      <p:spPr>
        <a:xfrm>
          <a:off x="841248" y="4361688"/>
          <a:ext cx="5175504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987552" y="4480560"/>
          <a:ext cx="4882896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Backend</a:t>
          </a:r>
        </a:p>
      </p:txBody>
    </p:sp>
    <p:sp>
      <p:nvSpPr>
        <p:cNvPr id="22" name="Text"/>
        <p:cNvSpPr txBox="1"/>
        <p:nvPr/>
      </p:nvSpPr>
      <p:spPr>
        <a:xfrm>
          <a:off x="987552" y="4773168"/>
          <a:ext cx="4882896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FastAPI, WebSocket, Pydantic, LangChain/LangGraph điều phối alert và quyền truy cập.</a:t>
          </a:r>
        </a:p>
      </p:txBody>
    </p:sp>
    <p:sp>
      <p:nvSpPr>
        <p:cNvPr id="23" name="Panel"/>
        <p:cNvSpPr/>
        <p:nvPr/>
      </p:nvSpPr>
      <p:spPr>
        <a:xfrm>
          <a:off x="6181344" y="4361688"/>
          <a:ext cx="5175504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6327648" y="4480560"/>
          <a:ext cx="4882896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Data layer</a:t>
          </a:r>
        </a:p>
      </p:txBody>
    </p:sp>
    <p:sp>
      <p:nvSpPr>
        <p:cNvPr id="25" name="Text"/>
        <p:cNvSpPr txBox="1"/>
        <p:nvPr/>
      </p:nvSpPr>
      <p:spPr>
        <a:xfrm>
          <a:off x="6327648" y="4773168"/>
          <a:ext cx="4882896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PostgreSQL metadata, Redis cache, MinIO cho snapshot/video evidence.</a:t>
          </a:r>
        </a:p>
      </p:txBody>
    </p:sp>
    <p:sp>
      <p:nvSpPr>
        <p:cNvPr id="26" name="Panel"/>
        <p:cNvSpPr/>
        <p:nvPr/>
      </p:nvSpPr>
      <p:spPr>
        <a:xfrm>
          <a:off x="5669280" y="2971800"/>
          <a:ext cx="5806440" cy="2596896"/>
        </a:xfrm>
        <a:prstGeom prst="roundRect">
          <a:avLst/>
        </a:prstGeom>
        <a:solidFill>
          <a:srgbClr val="FFFFFF">
            <a:alpha val="95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27" name="overview-diagram.pn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5779008" y="3081528"/>
          <a:ext cx="5577840" cy="2359152"/>
        </a:xfrm>
        <a:prstGeom prst="rect">
          <a:avLst/>
        </a:prstGeom>
      </p:spPr>
    </p:pic>
    <p:sp>
      <p:nvSpPr>
        <p:cNvPr id="28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06 / 12</a:t>
          </a:r>
        </a:p>
      </p:txBody>
    </p:sp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Tech Stack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250" dirty="0">
              <a:b/>
              <a:solidFill>
                <a:srgbClr val="EEFDF8"/>
              </a:solidFill>
              <a:latin typeface="Aptos Display"/>
              <a:cs typeface="Arial"/>
            </a:rPr>
            <a:t>Nền tảng đủ sâu để chạy real-time, đủ gọn để triển khai thực tế.</a:t>
          </a:r>
        </a:p>
      </p:txBody>
    </p:sp>
    <p:sp>
      <p:nvSpPr>
        <p:cNvPr id="14" name="Panel"/>
        <p:cNvSpPr/>
        <p:nvPr/>
      </p:nvSpPr>
      <p:spPr>
        <a:xfrm>
          <a:off x="841248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Computer Vision</a:t>
          </a:r>
        </a:p>
      </p:txBody>
    </p:sp>
    <p:sp>
      <p:nvSpPr>
        <p:cNvPr id="16" name="Text"/>
        <p:cNvSpPr txBox="1"/>
        <p:nvPr/>
      </p:nvSpPr>
      <p:spPr>
        <a:xfrm>
          <a:off x="987552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YOLO Pose, ONNX Runtime, OpenCV, ByteTrack, Temporal Fall Classifier, YuNet &amp; SFace.</a:t>
          </a:r>
        </a:p>
      </p:txBody>
    </p:sp>
    <p:sp>
      <p:nvSpPr>
        <p:cNvPr id="17" name="Panel"/>
        <p:cNvSpPr/>
        <p:nvPr/>
      </p:nvSpPr>
      <p:spPr>
        <a:xfrm>
          <a:off x="4401312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47616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Streaming</a:t>
          </a:r>
        </a:p>
      </p:txBody>
    </p:sp>
    <p:sp>
      <p:nvSpPr>
        <p:cNvPr id="19" name="Text"/>
        <p:cNvSpPr txBox="1"/>
        <p:nvPr/>
      </p:nvSpPr>
      <p:spPr>
        <a:xfrm>
          <a:off x="4547616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MediaMTX, WebRTC/HLS, FFmpeg và SSH Reverse Tunnel cho camera LAN.</a:t>
          </a:r>
        </a:p>
      </p:txBody>
    </p:sp>
    <p:sp>
      <p:nvSpPr>
        <p:cNvPr id="20" name="Panel"/>
        <p:cNvSpPr/>
        <p:nvPr/>
      </p:nvSpPr>
      <p:spPr>
        <a:xfrm>
          <a:off x="7961376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07680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Frontend</a:t>
          </a:r>
        </a:p>
      </p:txBody>
    </p:sp>
    <p:sp>
      <p:nvSpPr>
        <p:cNvPr id="22" name="Text"/>
        <p:cNvSpPr txBox="1"/>
        <p:nvPr/>
      </p:nvSpPr>
      <p:spPr>
        <a:xfrm>
          <a:off x="8107680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React, TypeScript, Vite, hls.js, Canvas overlay; prototype React Native.</a:t>
          </a:r>
        </a:p>
      </p:txBody>
    </p:sp>
    <p:sp>
      <p:nvSpPr>
        <p:cNvPr id="23" name="Panel"/>
        <p:cNvSpPr/>
        <p:nvPr/>
      </p:nvSpPr>
      <p:spPr>
        <a:xfrm>
          <a:off x="841248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987552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Backend</a:t>
          </a:r>
        </a:p>
      </p:txBody>
    </p:sp>
    <p:sp>
      <p:nvSpPr>
        <p:cNvPr id="25" name="Text"/>
        <p:cNvSpPr txBox="1"/>
        <p:nvPr/>
      </p:nvSpPr>
      <p:spPr>
        <a:xfrm>
          <a:off x="987552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FastAPI, WebSocket, Pydantic, LangChain/LangGraph cho workflow cảnh báo.</a:t>
          </a:r>
        </a:p>
      </p:txBody>
    </p:sp>
    <p:sp>
      <p:nvSpPr>
        <p:cNvPr id="26" name="Panel"/>
        <p:cNvSpPr/>
        <p:nvPr/>
      </p:nvSpPr>
      <p:spPr>
        <a:xfrm>
          <a:off x="4401312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4547616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Storage</a:t>
          </a:r>
        </a:p>
      </p:txBody>
    </p:sp>
    <p:sp>
      <p:nvSpPr>
        <p:cNvPr id="28" name="Text"/>
        <p:cNvSpPr txBox="1"/>
        <p:nvPr/>
      </p:nvSpPr>
      <p:spPr>
        <a:xfrm>
          <a:off x="4547616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PostgreSQL, Redis và MinIO để lưu metadata, cache và object evidence.</a:t>
          </a:r>
        </a:p>
      </p:txBody>
    </p:sp>
    <p:sp>
      <p:nvSpPr>
        <p:cNvPr id="29" name="Panel"/>
        <p:cNvSpPr/>
        <p:nvPr/>
      </p:nvSpPr>
      <p:spPr>
        <a:xfrm>
          <a:off x="7961376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0" name="Text"/>
        <p:cNvSpPr txBox="1"/>
        <p:nvPr/>
      </p:nvSpPr>
      <p:spPr>
        <a:xfrm>
          <a:off x="8107680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DevOps</a:t>
          </a:r>
        </a:p>
      </p:txBody>
    </p:sp>
    <p:sp>
      <p:nvSpPr>
        <p:cNvPr id="31" name="Text"/>
        <p:cNvSpPr txBox="1"/>
        <p:nvPr/>
      </p:nvSpPr>
      <p:spPr>
        <a:xfrm>
          <a:off x="8107680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Docker Compose, Caddy HTTPS, uv, pnpm, Pytest, Ruff và MyPy.</a:t>
          </a:r>
        </a:p>
      </p:txBody>
    </p:sp>
    <p:sp>
      <p:nvSpPr>
        <p:cNvPr id="32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07 / 12</a:t>
          </a:r>
        </a:p>
      </p:txBody>
    </p:sp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Traction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250" dirty="0">
              <a:b/>
              <a:solidFill>
                <a:srgbClr val="EEFDF8"/>
              </a:solidFill>
              <a:latin typeface="Aptos Display"/>
              <a:cs typeface="Arial"/>
            </a:rPr>
            <a:t>Không chỉ là ý tưởng: hệ thống đã chạy được end-to-end.</a:t>
          </a:r>
        </a:p>
      </p:txBody>
    </p:sp>
    <p:sp>
      <p:nvSpPr>
        <p:cNvPr id="14" name="Panel"/>
        <p:cNvSpPr/>
        <p:nvPr/>
      </p:nvSpPr>
      <p:spPr>
        <a:xfrm>
          <a:off x="841248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1005840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000" dirty="0">
              <a:b/>
              <a:solidFill>
                <a:srgbClr val="70F0A8"/>
              </a:solidFill>
              <a:latin typeface="Aptos Display"/>
              <a:cs typeface="Arial"/>
            </a:rPr>
            <a:t>240/240</a:t>
          </a:r>
        </a:p>
      </p:txBody>
    </p:sp>
    <p:sp>
      <p:nvSpPr>
        <p:cNvPr id="16" name="Text"/>
        <p:cNvSpPr txBox="1"/>
        <p:nvPr/>
      </p:nvSpPr>
      <p:spPr>
        <a:xfrm>
          <a:off x="1005840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50" dirty="0">
              <a:solidFill>
                <a:srgbClr val="A8C4C0"/>
              </a:solidFill>
              <a:latin typeface="Aptos Display"/>
              <a:cs typeface="Arial"/>
            </a:rPr>
            <a:t>automated tests passed; Ruff và TypeScript type-check đạt 100%.</a:t>
          </a:r>
        </a:p>
      </p:txBody>
    </p:sp>
    <p:sp>
      <p:nvSpPr>
        <p:cNvPr id="17" name="Panel"/>
        <p:cNvSpPr/>
        <p:nvPr/>
      </p:nvSpPr>
      <p:spPr>
        <a:xfrm>
          <a:off x="4434840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99432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000" dirty="0">
              <a:b/>
              <a:solidFill>
                <a:srgbClr val="70F0A8"/>
              </a:solidFill>
              <a:latin typeface="Aptos Display"/>
              <a:cs typeface="Arial"/>
            </a:rPr>
            <a:t>8–15 FPS</a:t>
          </a:r>
        </a:p>
      </p:txBody>
    </p:sp>
    <p:sp>
      <p:nvSpPr>
        <p:cNvPr id="19" name="Text"/>
        <p:cNvSpPr txBox="1"/>
        <p:nvPr/>
      </p:nvSpPr>
      <p:spPr>
        <a:xfrm>
          <a:off x="4599432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50" dirty="0">
              <a:solidFill>
                <a:srgbClr val="A8C4C0"/>
              </a:solidFill>
              <a:latin typeface="Aptos Display"/>
              <a:cs typeface="Arial"/>
            </a:rPr>
            <a:t>runtime YOLO26n-pose, phụ thuộc cấu hình máy và điều kiện mạng.</a:t>
          </a:r>
        </a:p>
      </p:txBody>
    </p:sp>
    <p:sp>
      <p:nvSpPr>
        <p:cNvPr id="20" name="Panel"/>
        <p:cNvSpPr/>
        <p:nvPr/>
      </p:nvSpPr>
      <p:spPr>
        <a:xfrm>
          <a:off x="8028432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93024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000" dirty="0">
              <a:b/>
              <a:solidFill>
                <a:srgbClr val="70F0A8"/>
              </a:solidFill>
              <a:latin typeface="Aptos Display"/>
              <a:cs typeface="Arial"/>
            </a:rPr>
            <a:t>83.05%</a:t>
          </a:r>
        </a:p>
      </p:txBody>
    </p:sp>
    <p:sp>
      <p:nvSpPr>
        <p:cNvPr id="22" name="Text"/>
        <p:cNvSpPr txBox="1"/>
        <p:nvPr/>
      </p:nvSpPr>
      <p:spPr>
        <a:xfrm>
          <a:off x="8193024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50" dirty="0">
              <a:solidFill>
                <a:srgbClr val="A8C4C0"/>
              </a:solidFill>
              <a:latin typeface="Aptos Display"/>
              <a:cs typeface="Arial"/>
            </a:rPr>
            <a:t>F1 cho bài toán phát hiện người lạ trong thử nghiệm nội bộ.</a:t>
          </a:r>
        </a:p>
      </p:txBody>
    </p:sp>
    <p:sp>
      <p:nvSpPr>
        <p:cNvPr id="23" name="Panel"/>
        <p:cNvSpPr/>
        <p:nvPr/>
      </p:nvSpPr>
      <p:spPr>
        <a:xfrm>
          <a:off x="841248" y="5285232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1024128" y="5422392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50" dirty="0">
              <a:solidFill>
                <a:srgbClr val="D8F4EF"/>
              </a:solidFill>
              <a:latin typeface="Aptos Display"/>
              <a:cs typeface="Arial"/>
            </a:rPr>
            <a:t>Web, API và Media Gateway đã triển khai trên VPS; kết nối thành công camera IP LAN qua SSH Tunnel và gửi email kèm snapshot/video evidence.</a:t>
          </a:r>
        </a:p>
      </p:txBody>
    </p:sp>
    <p:sp>
      <p:nvSpPr>
        <p:cNvPr id="2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08 / 12</a:t>
          </a:r>
        </a:p>
      </p:txBody>
    </p:sp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Privacy &amp; Roles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250" dirty="0">
              <a:b/>
              <a:solidFill>
                <a:srgbClr val="EEFDF8"/>
              </a:solidFill>
              <a:latin typeface="Aptos Display"/>
              <a:cs typeface="Arial"/>
            </a:rPr>
            <a:t>Cảnh báo khẩn cấp phải đi cùng quyền riêng tư có kiểm soát.</a:t>
          </a:r>
        </a:p>
      </p:txBody>
    </p:sp>
    <p:sp>
      <p:nvSpPr>
        <p:cNvPr id="14" name="Panel"/>
        <p:cNvSpPr/>
        <p:nvPr/>
      </p:nvSpPr>
      <p:spPr>
        <a:xfrm>
          <a:off x="841248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Admin</a:t>
          </a:r>
        </a:p>
      </p:txBody>
    </p:sp>
    <p:sp>
      <p:nvSpPr>
        <p:cNvPr id="16" name="Text"/>
        <p:cNvSpPr txBox="1"/>
        <p:nvPr/>
      </p:nvSpPr>
      <p:spPr>
        <a:xfrm>
          <a:off x="987552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Thêm camera, phân quyền, xem dashboard và kiểm tra lỗi hệ thống.</a:t>
          </a:r>
        </a:p>
      </p:txBody>
    </p:sp>
    <p:sp>
      <p:nvSpPr>
        <p:cNvPr id="17" name="Panel"/>
        <p:cNvSpPr/>
        <p:nvPr/>
      </p:nvSpPr>
      <p:spPr>
        <a:xfrm>
          <a:off x="3511296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3657600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Gia đình</a:t>
          </a:r>
        </a:p>
      </p:txBody>
    </p:sp>
    <p:sp>
      <p:nvSpPr>
        <p:cNvPr id="19" name="Text"/>
        <p:cNvSpPr txBox="1"/>
        <p:nvPr/>
      </p:nvSpPr>
      <p:spPr>
        <a:xfrm>
          <a:off x="3657600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Chỉ xem camera được cấp phép và nhận cảnh báo liên quan đến người thân.</a:t>
          </a:r>
        </a:p>
      </p:txBody>
    </p:sp>
    <p:sp>
      <p:nvSpPr>
        <p:cNvPr id="20" name="Panel"/>
        <p:cNvSpPr/>
        <p:nvPr/>
      </p:nvSpPr>
      <p:spPr>
        <a:xfrm>
          <a:off x="6181344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6327648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Bác sĩ</a:t>
          </a:r>
        </a:p>
      </p:txBody>
    </p:sp>
    <p:sp>
      <p:nvSpPr>
        <p:cNvPr id="22" name="Text"/>
        <p:cNvSpPr txBox="1"/>
        <p:nvPr/>
      </p:nvSpPr>
      <p:spPr>
        <a:xfrm>
          <a:off x="6327648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Được cấp quyền tạm thời khi có sự cố, phục vụ tư vấn hoặc đánh giá nhanh.</a:t>
          </a:r>
        </a:p>
      </p:txBody>
    </p:sp>
    <p:sp>
      <p:nvSpPr>
        <p:cNvPr id="23" name="Panel"/>
        <p:cNvSpPr/>
        <p:nvPr/>
      </p:nvSpPr>
      <p:spPr>
        <a:xfrm>
          <a:off x="8851392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8997696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5 phút</a:t>
          </a:r>
        </a:p>
      </p:txBody>
    </p:sp>
    <p:sp>
      <p:nvSpPr>
        <p:cNvPr id="25" name="Text"/>
        <p:cNvSpPr txBox="1"/>
        <p:nvPr/>
      </p:nvSpPr>
      <p:spPr>
        <a:xfrm>
          <a:off x="8997696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Quyền xem tình huống khẩn cấp tự thu hồi để giảm rủi ro lạm dụng dữ liệu.</a:t>
          </a:r>
        </a:p>
      </p:txBody>
    </p:sp>
    <p:sp>
      <p:nvSpPr>
        <p:cNvPr id="26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09 / 12</a:t>
          </a:r>
        </a:p>
      </p:txBody>
    </p:sp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Business Model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250" dirty="0">
              <a:b/>
              <a:solidFill>
                <a:srgbClr val="EEFDF8"/>
              </a:solidFill>
              <a:latin typeface="Aptos Display"/>
              <a:cs typeface="Arial"/>
            </a:rPr>
            <a:t>Gateway AI + hợp tác phân phối B2B2C.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30" dirty="0">
              <a:solidFill>
                <a:srgbClr val="CFE7E3"/>
              </a:solidFill>
              <a:latin typeface="Aptos Display"/>
              <a:cs typeface="Arial"/>
            </a:rPr>
            <a:t>Giai đoạn đầu bán sỉ qua đối tác camera; dài hạn chuyển sang hoa hồng/doanh thu theo sản phẩm bán ra.</a:t>
          </a:r>
        </a:p>
      </p:txBody>
    </p:sp>
    <p:sp>
      <p:nvSpPr>
        <p:cNvPr id="15" name="Panel"/>
        <p:cNvSpPr/>
        <p:nvPr/>
      </p:nvSpPr>
      <p:spPr>
        <a:xfrm>
          <a:off x="841248" y="36576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7764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Standard · 5.2tr</a:t>
          </a:r>
        </a:p>
      </p:txBody>
    </p:sp>
    <p:sp>
      <p:nvSpPr>
        <p:cNvPr id="17" name="Text"/>
        <p:cNvSpPr txBox="1"/>
        <p:nvPr/>
      </p:nvSpPr>
      <p:spPr>
        <a:xfrm>
          <a:off x="987552" y="40690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Raspberry Pi 5 4GB + hệ thống SYL cho nhu cầu cơ bản.</a:t>
          </a:r>
        </a:p>
      </p:txBody>
    </p:sp>
    <p:sp>
      <p:nvSpPr>
        <p:cNvPr id="18" name="Panel"/>
        <p:cNvSpPr/>
        <p:nvPr/>
      </p:nvSpPr>
      <p:spPr>
        <a:xfrm>
          <a:off x="4401312" y="36576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7764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Plus · 8.5tr</a:t>
          </a:r>
        </a:p>
      </p:txBody>
    </p:sp>
    <p:sp>
      <p:nvSpPr>
        <p:cNvPr id="20" name="Text"/>
        <p:cNvSpPr txBox="1"/>
        <p:nvPr/>
      </p:nvSpPr>
      <p:spPr>
        <a:xfrm>
          <a:off x="4547616" y="40690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Raspberry Pi 5 8GB + hệ thống SYL cho cấu hình mạnh hơn.</a:t>
          </a:r>
        </a:p>
      </p:txBody>
    </p:sp>
    <p:sp>
      <p:nvSpPr>
        <p:cNvPr id="21" name="Panel"/>
        <p:cNvSpPr/>
        <p:nvPr/>
      </p:nvSpPr>
      <p:spPr>
        <a:xfrm>
          <a:off x="7961376" y="36576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7764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Pro · 10tr</a:t>
          </a:r>
        </a:p>
      </p:txBody>
    </p:sp>
    <p:sp>
      <p:nvSpPr>
        <p:cNvPr id="23" name="Text"/>
        <p:cNvSpPr txBox="1"/>
        <p:nvPr/>
      </p:nvSpPr>
      <p:spPr>
        <a:xfrm>
          <a:off x="8107680" y="40690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8GB + nâng cấp bản mới nhất, miễn phí 6 tháng đăng ký đầu.</a:t>
          </a:r>
        </a:p>
      </p:txBody>
    </p:sp>
    <p:sp>
      <p:nvSpPr>
        <p:cNvPr id="2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10 / 12</a:t>
          </a:r>
        </a:p>
      </p:txBody>
    </p:sp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Competitive Position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250" dirty="0">
              <a:b/>
              <a:solidFill>
                <a:srgbClr val="EEFDF8"/>
              </a:solidFill>
              <a:latin typeface="Aptos Display"/>
              <a:cs typeface="Arial"/>
            </a:rPr>
            <a:t>SYL nằm giữa camera phổ thông và hệ thống chuyên dụng đắt tiền.</a:t>
          </a:r>
        </a:p>
      </p:txBody>
    </p:sp>
    <p:sp>
      <p:nvSpPr>
        <p:cNvPr id="14" name="Panel"/>
        <p:cNvSpPr/>
        <p:nvPr/>
      </p:nvSpPr>
      <p:spPr>
        <a:xfrm>
          <a:off x="841248" y="356616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68503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EZVIZ/IMOU</a:t>
          </a:r>
        </a:p>
      </p:txBody>
    </p:sp>
    <p:sp>
      <p:nvSpPr>
        <p:cNvPr id="16" name="Text"/>
        <p:cNvSpPr txBox="1"/>
        <p:nvPr/>
      </p:nvSpPr>
      <p:spPr>
        <a:xfrm>
          <a:off x="987552" y="3977639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Mạnh về giá và phân phối, nhưng chủ yếu là motion detection hoặc human detection.</a:t>
          </a:r>
        </a:p>
      </p:txBody>
    </p:sp>
    <p:sp>
      <p:nvSpPr>
        <p:cNvPr id="17" name="Panel"/>
        <p:cNvSpPr/>
        <p:nvPr/>
      </p:nvSpPr>
      <p:spPr>
        <a:xfrm>
          <a:off x="4401312" y="356616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47616" y="368503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Hanwha/i-PRO/Hikvision</a:t>
          </a:r>
        </a:p>
      </p:txBody>
    </p:sp>
    <p:sp>
      <p:nvSpPr>
        <p:cNvPr id="19" name="Text"/>
        <p:cNvSpPr txBox="1"/>
        <p:nvPr/>
      </p:nvSpPr>
      <p:spPr>
        <a:xfrm>
          <a:off x="4547616" y="3977639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Có hướng fall detection chuyên dụng nhưng chi phí cao hoặc chưa dễ tiếp cận tại Việt Nam.</a:t>
          </a:r>
        </a:p>
      </p:txBody>
    </p:sp>
    <p:sp>
      <p:nvSpPr>
        <p:cNvPr id="20" name="Panel"/>
        <p:cNvSpPr/>
        <p:nvPr/>
      </p:nvSpPr>
      <p:spPr>
        <a:xfrm>
          <a:off x="7961376" y="356616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07680" y="368503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22" name="Text"/>
        <p:cNvSpPr txBox="1"/>
        <p:nvPr/>
      </p:nvSpPr>
      <p:spPr>
        <a:xfrm>
          <a:off x="8107680" y="3977639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Định vị là lớp AI chăm sóc: fall detection, stranger alert, evidence và phân quyền.</a:t>
          </a:r>
        </a:p>
      </p:txBody>
    </p:sp>
    <p:sp>
      <p:nvSpPr>
        <p:cNvPr id="23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11 / 12</a:t>
          </a:r>
        </a:p>
      </p:txBody>
    </p:sp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Next Step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250" dirty="0">
              <a:b/>
              <a:solidFill>
                <a:srgbClr val="EEFDF8"/>
              </a:solidFill>
              <a:latin typeface="Aptos Display"/>
              <a:cs typeface="Arial"/>
            </a:rPr>
            <a:t>Cần phần cứng thật, dữ liệu thật và đối tác pilot thật.</a:t>
          </a:r>
        </a:p>
      </p:txBody>
    </p:sp>
    <p:sp>
      <p:nvSpPr>
        <p:cNvPr id="14" name="Panel"/>
        <p:cNvSpPr/>
        <p:nvPr/>
      </p:nvSpPr>
      <p:spPr>
        <a:xfrm>
          <a:off x="841248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0–3 tháng</a:t>
          </a:r>
        </a:p>
      </p:txBody>
    </p:sp>
    <p:sp>
      <p:nvSpPr>
        <p:cNvPr id="16" name="Text"/>
        <p:cNvSpPr txBox="1"/>
        <p:nvPr/>
      </p:nvSpPr>
      <p:spPr>
        <a:xfrm>
          <a:off x="987552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Hoàn thiện MVP, dashboard admin, phân quyền, cảnh báo khẩn và demo ổn định.</a:t>
          </a:r>
        </a:p>
      </p:txBody>
    </p:sp>
    <p:sp>
      <p:nvSpPr>
        <p:cNvPr id="17" name="Panel"/>
        <p:cNvSpPr/>
        <p:nvPr/>
      </p:nvSpPr>
      <p:spPr>
        <a:xfrm>
          <a:off x="3511296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3657600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3–6 tháng</a:t>
          </a:r>
        </a:p>
      </p:txBody>
    </p:sp>
    <p:sp>
      <p:nvSpPr>
        <p:cNvPr id="19" name="Text"/>
        <p:cNvSpPr txBox="1"/>
        <p:nvPr/>
      </p:nvSpPr>
      <p:spPr>
        <a:xfrm>
          <a:off x="3657600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Benchmark trên camera/gateway phổ biến, mở rộng dữ liệu đồng ý/ẩn danh.</a:t>
          </a:r>
        </a:p>
      </p:txBody>
    </p:sp>
    <p:sp>
      <p:nvSpPr>
        <p:cNvPr id="20" name="Panel"/>
        <p:cNvSpPr/>
        <p:nvPr/>
      </p:nvSpPr>
      <p:spPr>
        <a:xfrm>
          <a:off x="6181344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6327648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6–12 tháng</a:t>
          </a:r>
        </a:p>
      </p:txBody>
    </p:sp>
    <p:sp>
      <p:nvSpPr>
        <p:cNvPr id="22" name="Text"/>
        <p:cNvSpPr txBox="1"/>
        <p:nvPr/>
      </p:nvSpPr>
      <p:spPr>
        <a:xfrm>
          <a:off x="6327648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Pilot với đối tác camera, chủ nhà hoặc cơ sở chăm sóc để kiểm chứng giá bán.</a:t>
          </a:r>
        </a:p>
      </p:txBody>
    </p:sp>
    <p:sp>
      <p:nvSpPr>
        <p:cNvPr id="23" name="Panel"/>
        <p:cNvSpPr/>
        <p:nvPr/>
      </p:nvSpPr>
      <p:spPr>
        <a:xfrm>
          <a:off x="8851392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8997696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750" dirty="0">
              <a:b/>
              <a:solidFill>
                <a:srgbClr val="EEFDF8"/>
              </a:solidFill>
              <a:latin typeface="Aptos Display"/>
              <a:cs typeface="Arial"/>
            </a:rPr>
            <a:t>Kêu gọi</a:t>
          </a:r>
        </a:p>
      </p:txBody>
    </p:sp>
    <p:sp>
      <p:nvSpPr>
        <p:cNvPr id="25" name="Text"/>
        <p:cNvSpPr txBox="1"/>
        <p:nvPr/>
      </p:nvSpPr>
      <p:spPr>
        <a:xfrm>
          <a:off x="8997696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40" dirty="0">
              <a:solidFill>
                <a:srgbClr val="A8C4C0"/>
              </a:solidFill>
              <a:latin typeface="Aptos Display"/>
              <a:cs typeface="Arial"/>
            </a:rPr>
            <a:t>Tìm 1–2 đối tác thử nghiệm, bộ camera/gateway và cố vấn AI biên/quyền riêng tư.</a:t>
          </a:r>
        </a:p>
      </p:txBody>
    </p:sp>
    <p:sp>
      <p:nvSpPr>
        <p:cNvPr id="26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12 / 12</a:t>
          </a:r>
        </a:p>
      </p:txBody>
    </p:sp>
  </p:cSld>
  <p:clrMapOvr>
    <a:masterClrMapping/>
  </p:clrMapOvr>
</p:sld>
</file>

<file path=ppt/theme/theme1.xml><?xml version="1.0" encoding="utf-8"?>
<a:theme xmlns:a="http://schemas.openxmlformats.org/drawingml/2006/main" name="SYL Theme">
  <a:themeElements>
    <a:clrScheme name="SYL">
      <a:dk1>
        <a:srgbClr val="102018"/>
      </a:dk1>
      <a:lt1>
        <a:srgbClr val="EEFDF8"/>
      </a:lt1>
      <a:dk2>
        <a:srgbClr val="1F3022"/>
      </a:dk2>
      <a:lt2>
        <a:srgbClr val="A8C4C0"/>
      </a:lt2>
      <a:accent1>
        <a:srgbClr val="59E0D0"/>
      </a:accent1>
      <a:accent2>
        <a:srgbClr val="70F0A8"/>
      </a:accent2>
      <a:accent3>
        <a:srgbClr val="FFD166"/>
      </a:accent3>
      <a:accent4>
        <a:srgbClr val="FF8A9A"/>
      </a:accent4>
      <a:accent5>
        <a:srgbClr val="6E8F55"/>
      </a:accent5>
      <a:accent6>
        <a:srgbClr val="2B3A24"/>
      </a:accent6>
      <a:hlink>
        <a:srgbClr val="59E0D0"/>
      </a:hlink>
      <a:folHlink>
        <a:srgbClr val="70F0A8"/>
      </a:folHlink>
    </a:clrScheme>
    <a:fontScheme name="SYL">
      <a:majorFont>
        <a:latin typeface="Aptos Display"/>
        <a:ea typeface=""/>
        <a:cs typeface="Arial"/>
      </a:majorFont>
      <a:minorFont>
        <a:latin typeface="Aptos"/>
        <a:ea typeface=""/>
        <a:cs typeface="Arial"/>
      </a:minorFont>
    </a:fontScheme>
    <a:fmtScheme name="SY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