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1999" cy="6858000" type="wide"/>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 Id="rId3" Type="http://schemas.openxmlformats.org/officeDocument/2006/relationships/image" Target="../media/syl-hero.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 Id="rId3" Type="http://schemas.openxmlformats.org/officeDocument/2006/relationships/image" Target="../media/survey-missed-alert.png"/><Relationship Id="rId4" Type="http://schemas.openxmlformats.org/officeDocument/2006/relationships/image" Target="../media/survey-support-solution.png"/><Relationship Id="rId5" Type="http://schemas.openxmlformats.org/officeDocument/2006/relationships/image" Target="../media/survey-early-access.png"/><Relationship Id="rId6" Type="http://schemas.openxmlformats.org/officeDocument/2006/relationships/image" Target="../media/survey-false-alarm.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 Id="rId3" Type="http://schemas.openxmlformats.org/officeDocument/2006/relationships/image" Target="../media/overview-diagram.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 Id="rId3" Type="http://schemas.openxmlformats.org/officeDocument/2006/relationships/video" Target="../media/demo.mp4"/><Relationship Id="rId4" Type="http://schemas.microsoft.com/office/2007/relationships/media" Target="../media/demo.mp4"/></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jpg"/></Relationships>
</file>

<file path=ppt/slides/slide1.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syl-hero.png"/>
        <p:cNvPicPr>
          <a:picLocks noChangeAspect="1"/>
        </p:cNvPicPr>
        <p:nvPr/>
      </p:nvPicPr>
      <p:blipFill>
        <a:blip r:embed="rId3"/>
        <a:stretch>
          <a:fillRect/>
        </a:stretch>
      </p:blipFill>
      <p:spPr>
        <a:xfrm>
          <a:off x="0" y="0"/>
          <a:ext cx="12191999" cy="6858000"/>
        </a:xfrm>
        <a:prstGeom prst="rect">
          <a:avLst/>
        </a:prstGeom>
      </p:spPr>
    </p:pic>
    <p:sp>
      <p:nvSpPr>
        <p:cNvPr id="12" name="Overlay"/>
        <p:cNvSpPr/>
        <p:nvPr/>
      </p:nvSpPr>
      <p:spPr>
        <a:xfrm>
          <a:off x="0" y="0"/>
          <a:ext cx="12191999" cy="6858000"/>
        </a:xfrm>
        <a:prstGeom prst="rect">
          <a:avLst/>
        </a:prstGeom>
        <a:solidFill>
          <a:srgbClr val="102018">
            <a:alpha val="28000"/>
          </a:srgbClr>
        </a:solidFill>
        <a:ln>
          <a:noFill/>
        </a:ln>
      </p:spPr>
    </p:sp>
    <p:pic>
      <p:nvPicPr>
        <p:cNvPr id="13" name="logo.jpg"/>
        <p:cNvPicPr>
          <a:picLocks noChangeAspect="1"/>
        </p:cNvPicPr>
        <p:nvPr/>
      </p:nvPicPr>
      <p:blipFill>
        <a:blip r:embed="rId2"/>
        <a:stretch>
          <a:fillRect/>
        </a:stretch>
      </p:blipFill>
      <p:spPr>
        <a:xfrm>
          <a:off x="658368" y="256032"/>
          <a:ext cx="1024128" cy="502920"/>
        </a:xfrm>
        <a:prstGeom prst="rect">
          <a:avLst/>
        </a:prstGeom>
      </p:spPr>
    </p:pic>
    <p:sp>
      <p:nvSpPr>
        <p:cNvPr id="14" name="Text"/>
        <p:cNvSpPr txBox="1"/>
        <p:nvPr/>
      </p:nvSpPr>
      <p:spPr>
        <a:xfrm>
          <a:off x="841248" y="1234440"/>
          <a:ext cx="6217920" cy="310896"/>
        </a:xfrm>
        <a:prstGeom prst="rect">
          <a:avLst/>
        </a:prstGeom>
        <a:noFill/>
        <a:ln>
          <a:noFill/>
        </a:ln>
      </p:spPr>
      <p:txBody>
        <a:bodyPr wrap="square" anchor="t"/>
        <a:lstStyle/>
        <a:p>
          <a:pPr algn="l"/>
          <a:r>
            <a:rPr lang="vi-VN" sz="1200" dirty="0">
              <a:b/>
              <a:solidFill>
                <a:srgbClr val="59E0D0"/>
              </a:solidFill>
              <a:latin typeface="Aptos Display"/>
              <a:cs typeface="Arial"/>
            </a:rPr>
            <a:t>Fall detection · Stranger alert · Privacy by role</a:t>
          </a:r>
        </a:p>
      </p:txBody>
    </p:sp>
    <p:sp>
      <p:nvSpPr>
        <p:cNvPr id="15" name="Text"/>
        <p:cNvSpPr txBox="1"/>
        <p:nvPr/>
      </p:nvSpPr>
      <p:spPr>
        <a:xfrm>
          <a:off x="804672" y="1664208"/>
          <a:ext cx="3749039" cy="960120"/>
        </a:xfrm>
        <a:prstGeom prst="rect">
          <a:avLst/>
        </a:prstGeom>
        <a:noFill/>
        <a:ln>
          <a:noFill/>
        </a:ln>
      </p:spPr>
      <p:txBody>
        <a:bodyPr wrap="square" anchor="t"/>
        <a:lstStyle/>
        <a:p>
          <a:pPr algn="l"/>
          <a:r>
            <a:rPr lang="vi-VN" sz="7200" dirty="0">
              <a:b/>
              <a:solidFill>
                <a:srgbClr val="EEFDF8"/>
              </a:solidFill>
              <a:latin typeface="Aptos Display"/>
              <a:cs typeface="Arial"/>
            </a:rPr>
            <a:t>SYL</a:t>
          </a:r>
        </a:p>
      </p:txBody>
    </p:sp>
    <p:sp>
      <p:nvSpPr>
        <p:cNvPr id="16" name="Text"/>
        <p:cNvSpPr txBox="1"/>
        <p:nvPr/>
      </p:nvSpPr>
      <p:spPr>
        <a:xfrm>
          <a:off x="877824" y="2743200"/>
          <a:ext cx="5943600" cy="621792"/>
        </a:xfrm>
        <a:prstGeom prst="rect">
          <a:avLst/>
        </a:prstGeom>
        <a:noFill/>
        <a:ln>
          <a:noFill/>
        </a:ln>
      </p:spPr>
      <p:txBody>
        <a:bodyPr wrap="square" anchor="t"/>
        <a:lstStyle/>
        <a:p>
          <a:pPr algn="l"/>
          <a:r>
            <a:rPr lang="vi-VN" sz="1800" dirty="0">
              <a:solidFill>
                <a:srgbClr val="D8F4EF"/>
              </a:solidFill>
              <a:latin typeface="Aptos Display"/>
              <a:cs typeface="Arial"/>
            </a:rPr>
            <a:t>Lớp AI an toàn cho gia đình có người cao tuổi: phát hiện té ngã, cảnh báo người lạ và kích hoạt hỗ trợ khẩn cấp đúng lúc.</a:t>
          </a:r>
        </a:p>
      </p:txBody>
    </p:sp>
    <p:sp>
      <p:nvSpPr>
        <p:cNvPr id="17" name="Panel"/>
        <p:cNvSpPr/>
        <p:nvPr/>
      </p:nvSpPr>
      <p:spPr>
        <a:xfrm>
          <a:off x="877824" y="3611880"/>
          <a:ext cx="1536192" cy="329184"/>
        </a:xfrm>
        <a:prstGeom prst="roundRect">
          <a:avLst/>
        </a:prstGeom>
        <a:solidFill>
          <a:srgbClr val="E7D8B5">
            <a:alpha val="17000"/>
          </a:srgbClr>
        </a:solidFill>
        <a:ln w="12700">
          <a:solidFill>
            <a:srgbClr val="B8D8A4">
              <a:alpha val="52000"/>
            </a:srgbClr>
          </a:solidFill>
        </a:ln>
      </p:spPr>
    </p:sp>
    <p:sp>
      <p:nvSpPr>
        <p:cNvPr id="18" name="Text"/>
        <p:cNvSpPr txBox="1"/>
        <p:nvPr/>
      </p:nvSpPr>
      <p:spPr>
        <a:xfrm>
          <a:off x="950976" y="3694176"/>
          <a:ext cx="1371600" cy="118872"/>
        </a:xfrm>
        <a:prstGeom prst="rect">
          <a:avLst/>
        </a:prstGeom>
        <a:noFill/>
        <a:ln>
          <a:noFill/>
        </a:ln>
      </p:spPr>
      <p:txBody>
        <a:bodyPr wrap="square" anchor="t"/>
        <a:lstStyle/>
        <a:p>
          <a:pPr algn="ctr"/>
          <a:r>
            <a:rPr lang="vi-VN" sz="840" dirty="0">
              <a:b/>
              <a:solidFill>
                <a:srgbClr val="D8F4EF"/>
              </a:solidFill>
              <a:latin typeface="Aptos Display"/>
              <a:cs typeface="Arial"/>
            </a:rPr>
            <a:t>YOLO Pose</a:t>
          </a:r>
        </a:p>
      </p:txBody>
    </p:sp>
    <p:sp>
      <p:nvSpPr>
        <p:cNvPr id="19" name="Panel"/>
        <p:cNvSpPr/>
        <p:nvPr/>
      </p:nvSpPr>
      <p:spPr>
        <a:xfrm>
          <a:off x="2578608" y="3611880"/>
          <a:ext cx="1536192" cy="329184"/>
        </a:xfrm>
        <a:prstGeom prst="roundRect">
          <a:avLst/>
        </a:prstGeom>
        <a:solidFill>
          <a:srgbClr val="E7D8B5">
            <a:alpha val="17000"/>
          </a:srgbClr>
        </a:solidFill>
        <a:ln w="12700">
          <a:solidFill>
            <a:srgbClr val="B8D8A4">
              <a:alpha val="52000"/>
            </a:srgbClr>
          </a:solidFill>
        </a:ln>
      </p:spPr>
    </p:sp>
    <p:sp>
      <p:nvSpPr>
        <p:cNvPr id="20" name="Text"/>
        <p:cNvSpPr txBox="1"/>
        <p:nvPr/>
      </p:nvSpPr>
      <p:spPr>
        <a:xfrm>
          <a:off x="2651760" y="3694176"/>
          <a:ext cx="1371600" cy="118872"/>
        </a:xfrm>
        <a:prstGeom prst="rect">
          <a:avLst/>
        </a:prstGeom>
        <a:noFill/>
        <a:ln>
          <a:noFill/>
        </a:ln>
      </p:spPr>
      <p:txBody>
        <a:bodyPr wrap="square" anchor="t"/>
        <a:lstStyle/>
        <a:p>
          <a:pPr algn="ctr"/>
          <a:r>
            <a:rPr lang="vi-VN" sz="840" dirty="0">
              <a:b/>
              <a:solidFill>
                <a:srgbClr val="D8F4EF"/>
              </a:solidFill>
              <a:latin typeface="Aptos Display"/>
              <a:cs typeface="Arial"/>
            </a:rPr>
            <a:t>Real-time alerts</a:t>
          </a:r>
        </a:p>
      </p:txBody>
    </p:sp>
    <p:sp>
      <p:nvSpPr>
        <p:cNvPr id="21" name="Panel"/>
        <p:cNvSpPr/>
        <p:nvPr/>
      </p:nvSpPr>
      <p:spPr>
        <a:xfrm>
          <a:off x="4279392" y="3611880"/>
          <a:ext cx="1536192" cy="329184"/>
        </a:xfrm>
        <a:prstGeom prst="roundRect">
          <a:avLst/>
        </a:prstGeom>
        <a:solidFill>
          <a:srgbClr val="E7D8B5">
            <a:alpha val="17000"/>
          </a:srgbClr>
        </a:solidFill>
        <a:ln w="12700">
          <a:solidFill>
            <a:srgbClr val="B8D8A4">
              <a:alpha val="52000"/>
            </a:srgbClr>
          </a:solidFill>
        </a:ln>
      </p:spPr>
    </p:sp>
    <p:sp>
      <p:nvSpPr>
        <p:cNvPr id="22" name="Text"/>
        <p:cNvSpPr txBox="1"/>
        <p:nvPr/>
      </p:nvSpPr>
      <p:spPr>
        <a:xfrm>
          <a:off x="4352544" y="3694176"/>
          <a:ext cx="1371600" cy="118872"/>
        </a:xfrm>
        <a:prstGeom prst="rect">
          <a:avLst/>
        </a:prstGeom>
        <a:noFill/>
        <a:ln>
          <a:noFill/>
        </a:ln>
      </p:spPr>
      <p:txBody>
        <a:bodyPr wrap="square" anchor="t"/>
        <a:lstStyle/>
        <a:p>
          <a:pPr algn="ctr"/>
          <a:r>
            <a:rPr lang="vi-VN" sz="840" dirty="0">
              <a:b/>
              <a:solidFill>
                <a:srgbClr val="D8F4EF"/>
              </a:solidFill>
              <a:latin typeface="Aptos Display"/>
              <a:cs typeface="Arial"/>
            </a:rPr>
            <a:t>WebRTC/HLS streaming</a:t>
          </a:r>
        </a:p>
      </p:txBody>
    </p:sp>
    <p:sp>
      <p:nvSpPr>
        <p:cNvPr id="23" name="Panel"/>
        <p:cNvSpPr/>
        <p:nvPr/>
      </p:nvSpPr>
      <p:spPr>
        <a:xfrm>
          <a:off x="5980176" y="3611880"/>
          <a:ext cx="1536192" cy="329184"/>
        </a:xfrm>
        <a:prstGeom prst="roundRect">
          <a:avLst/>
        </a:prstGeom>
        <a:solidFill>
          <a:srgbClr val="E7D8B5">
            <a:alpha val="17000"/>
          </a:srgbClr>
        </a:solidFill>
        <a:ln w="12700">
          <a:solidFill>
            <a:srgbClr val="B8D8A4">
              <a:alpha val="52000"/>
            </a:srgbClr>
          </a:solidFill>
        </a:ln>
      </p:spPr>
    </p:sp>
    <p:sp>
      <p:nvSpPr>
        <p:cNvPr id="24" name="Text"/>
        <p:cNvSpPr txBox="1"/>
        <p:nvPr/>
      </p:nvSpPr>
      <p:spPr>
        <a:xfrm>
          <a:off x="6053328" y="3694176"/>
          <a:ext cx="1371600" cy="118872"/>
        </a:xfrm>
        <a:prstGeom prst="rect">
          <a:avLst/>
        </a:prstGeom>
        <a:noFill/>
        <a:ln>
          <a:noFill/>
        </a:ln>
      </p:spPr>
      <p:txBody>
        <a:bodyPr wrap="square" anchor="t"/>
        <a:lstStyle/>
        <a:p>
          <a:pPr algn="ctr"/>
          <a:r>
            <a:rPr lang="vi-VN" sz="840" dirty="0">
              <a:b/>
              <a:solidFill>
                <a:srgbClr val="D8F4EF"/>
              </a:solidFill>
              <a:latin typeface="Aptos Display"/>
              <a:cs typeface="Arial"/>
            </a:rPr>
            <a:t>B2B2C</a:t>
          </a:r>
        </a:p>
      </p:txBody>
    </p:sp>
    <p:sp>
      <p:nvSpPr>
        <p:cNvPr id="25"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01 / 13</a:t>
          </a:r>
        </a:p>
      </p:txBody>
    </p:sp>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Problem</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Khoảnh khắc nguy hiểm nhất thường xảy ra khi không ai đang nhìn.</a:t>
          </a:r>
        </a:p>
      </p:txBody>
    </p:sp>
    <p:sp>
      <p:nvSpPr>
        <p:cNvPr id="14" name="Text"/>
        <p:cNvSpPr txBox="1"/>
        <p:nvPr/>
      </p:nvSpPr>
      <p:spPr>
        <a:xfrm>
          <a:off x="859536" y="2542032"/>
          <a:ext cx="8595360" cy="502920"/>
        </a:xfrm>
        <a:prstGeom prst="rect">
          <a:avLst/>
        </a:prstGeom>
        <a:noFill/>
        <a:ln>
          <a:noFill/>
        </a:ln>
      </p:spPr>
      <p:txBody>
        <a:bodyPr wrap="square" anchor="t"/>
        <a:lstStyle/>
        <a:p>
          <a:pPr algn="l"/>
          <a:r>
            <a:rPr lang="vi-VN" sz="1320" dirty="0">
              <a:solidFill>
                <a:srgbClr val="CFE7E3"/>
              </a:solidFill>
              <a:latin typeface="Aptos Display"/>
              <a:cs typeface="Arial"/>
            </a:rPr>
            <a:t>Gia đình cần một hệ thống biết phân biệt sự cố thật với chuyển động bình thường, thay vì chỉ gửi thêm nhiều thông báo nhiễu.</a:t>
          </a:r>
        </a:p>
      </p:txBody>
    </p:sp>
    <p:sp>
      <p:nvSpPr>
        <p:cNvPr id="15" name="Panel"/>
        <p:cNvSpPr/>
        <p:nvPr/>
      </p:nvSpPr>
      <p:spPr>
        <a:xfrm>
          <a:off x="841248" y="3749039"/>
          <a:ext cx="3395472" cy="987552"/>
        </a:xfrm>
        <a:prstGeom prst="roundRect">
          <a:avLst/>
        </a:prstGeom>
        <a:solidFill>
          <a:srgbClr val="1F3022">
            <a:alpha val="85000"/>
          </a:srgbClr>
        </a:solidFill>
        <a:ln w="12700">
          <a:solidFill>
            <a:srgbClr val="B8D8A4">
              <a:alpha val="52000"/>
            </a:srgbClr>
          </a:solidFill>
        </a:ln>
      </p:spPr>
    </p:sp>
    <p:sp>
      <p:nvSpPr>
        <p:cNvPr id="16" name="Text"/>
        <p:cNvSpPr txBox="1"/>
        <p:nvPr/>
      </p:nvSpPr>
      <p:spPr>
        <a:xfrm>
          <a:off x="987552"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Phát hiện trễ</a:t>
          </a:r>
        </a:p>
      </p:txBody>
    </p:sp>
    <p:sp>
      <p:nvSpPr>
        <p:cNvPr id="17" name="Text"/>
        <p:cNvSpPr txBox="1"/>
        <p:nvPr/>
      </p:nvSpPr>
      <p:spPr>
        <a:xfrm>
          <a:off x="987552"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Người đi làm hoặc sống xa không thể luôn theo dõi camera để biết cha mẹ gặp sự cố.</a:t>
          </a:r>
        </a:p>
      </p:txBody>
    </p:sp>
    <p:sp>
      <p:nvSpPr>
        <p:cNvPr id="18" name="Panel"/>
        <p:cNvSpPr/>
        <p:nvPr/>
      </p:nvSpPr>
      <p:spPr>
        <a:xfrm>
          <a:off x="4401312" y="3749039"/>
          <a:ext cx="3395472" cy="987552"/>
        </a:xfrm>
        <a:prstGeom prst="roundRect">
          <a:avLst/>
        </a:prstGeom>
        <a:solidFill>
          <a:srgbClr val="1F3022">
            <a:alpha val="85000"/>
          </a:srgbClr>
        </a:solidFill>
        <a:ln w="12700">
          <a:solidFill>
            <a:srgbClr val="B8D8A4">
              <a:alpha val="52000"/>
            </a:srgbClr>
          </a:solidFill>
        </a:ln>
      </p:spPr>
    </p:sp>
    <p:sp>
      <p:nvSpPr>
        <p:cNvPr id="19" name="Text"/>
        <p:cNvSpPr txBox="1"/>
        <p:nvPr/>
      </p:nvSpPr>
      <p:spPr>
        <a:xfrm>
          <a:off x="4547616"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Alert fatigue</a:t>
          </a:r>
        </a:p>
      </p:txBody>
    </p:sp>
    <p:sp>
      <p:nvSpPr>
        <p:cNvPr id="20" name="Text"/>
        <p:cNvSpPr txBox="1"/>
        <p:nvPr/>
      </p:nvSpPr>
      <p:spPr>
        <a:xfrm>
          <a:off x="4547616"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Motion alert quá nhiều khiến người dùng dễ tắt thông báo và bỏ lỡ cảnh báo quan trọng.</a:t>
          </a:r>
        </a:p>
      </p:txBody>
    </p:sp>
    <p:sp>
      <p:nvSpPr>
        <p:cNvPr id="21" name="Panel"/>
        <p:cNvSpPr/>
        <p:nvPr/>
      </p:nvSpPr>
      <p:spPr>
        <a:xfrm>
          <a:off x="7961376" y="3749039"/>
          <a:ext cx="3395472" cy="987552"/>
        </a:xfrm>
        <a:prstGeom prst="roundRect">
          <a:avLst/>
        </a:prstGeom>
        <a:solidFill>
          <a:srgbClr val="1F3022">
            <a:alpha val="85000"/>
          </a:srgbClr>
        </a:solidFill>
        <a:ln w="12700">
          <a:solidFill>
            <a:srgbClr val="B8D8A4">
              <a:alpha val="52000"/>
            </a:srgbClr>
          </a:solidFill>
        </a:ln>
      </p:spPr>
    </p:sp>
    <p:sp>
      <p:nvSpPr>
        <p:cNvPr id="22" name="Text"/>
        <p:cNvSpPr txBox="1"/>
        <p:nvPr/>
      </p:nvSpPr>
      <p:spPr>
        <a:xfrm>
          <a:off x="8107680"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Rủi ro riêng tư</a:t>
          </a:r>
        </a:p>
      </p:txBody>
    </p:sp>
    <p:sp>
      <p:nvSpPr>
        <p:cNvPr id="23" name="Text"/>
        <p:cNvSpPr txBox="1"/>
        <p:nvPr/>
      </p:nvSpPr>
      <p:spPr>
        <a:xfrm>
          <a:off x="8107680"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Camera gia đình phải kiểm soát ai được xem, xem trong bao lâu và xem vì lý do gì.</a:t>
          </a:r>
        </a:p>
      </p:txBody>
    </p:sp>
    <p:sp>
      <p:nvSpPr>
        <p:cNvPr id="24"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25" name="Text"/>
        <p:cNvSpPr txBox="1"/>
        <p:nvPr/>
      </p:nvSpPr>
      <p:spPr>
        <a:xfrm>
          <a:off x="96926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Risk stack</a:t>
          </a:r>
        </a:p>
      </p:txBody>
    </p:sp>
    <p:sp>
      <p:nvSpPr>
        <p:cNvPr id="26" name="Panel"/>
        <p:cNvSpPr/>
        <p:nvPr/>
      </p:nvSpPr>
      <p:spPr>
        <a:xfrm>
          <a:off x="1005840" y="5734019"/>
          <a:ext cx="292608" cy="118140"/>
        </a:xfrm>
        <a:prstGeom prst="roundRect">
          <a:avLst/>
        </a:prstGeom>
        <a:solidFill>
          <a:srgbClr val="59E0D0">
            <a:alpha val="100000"/>
          </a:srgbClr>
        </a:solidFill>
        <a:ln w="12700">
          <a:solidFill>
            <a:srgbClr val="59E0D0">
              <a:alpha val="52000"/>
            </a:srgbClr>
          </a:solidFill>
        </a:ln>
      </p:spPr>
    </p:sp>
    <p:sp>
      <p:nvSpPr>
        <p:cNvPr id="27" name="Panel"/>
        <p:cNvSpPr/>
        <p:nvPr/>
      </p:nvSpPr>
      <p:spPr>
        <a:xfrm>
          <a:off x="1399032" y="5640750"/>
          <a:ext cx="292608" cy="211409"/>
        </a:xfrm>
        <a:prstGeom prst="roundRect">
          <a:avLst/>
        </a:prstGeom>
        <a:solidFill>
          <a:srgbClr val="59E0D0">
            <a:alpha val="100000"/>
          </a:srgbClr>
        </a:solidFill>
        <a:ln w="12700">
          <a:solidFill>
            <a:srgbClr val="59E0D0">
              <a:alpha val="52000"/>
            </a:srgbClr>
          </a:solidFill>
        </a:ln>
      </p:spPr>
    </p:sp>
    <p:sp>
      <p:nvSpPr>
        <p:cNvPr id="28" name="Panel"/>
        <p:cNvSpPr/>
        <p:nvPr/>
      </p:nvSpPr>
      <p:spPr>
        <a:xfrm>
          <a:off x="1792224" y="5566135"/>
          <a:ext cx="292608" cy="286024"/>
        </a:xfrm>
        <a:prstGeom prst="roundRect">
          <a:avLst/>
        </a:prstGeom>
        <a:solidFill>
          <a:srgbClr val="59E0D0">
            <a:alpha val="100000"/>
          </a:srgbClr>
        </a:solidFill>
        <a:ln w="12700">
          <a:solidFill>
            <a:srgbClr val="59E0D0">
              <a:alpha val="52000"/>
            </a:srgbClr>
          </a:solidFill>
        </a:ln>
      </p:spPr>
    </p:sp>
    <p:sp>
      <p:nvSpPr>
        <p:cNvPr id="29"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30" name="Text"/>
        <p:cNvSpPr txBox="1"/>
        <p:nvPr/>
      </p:nvSpPr>
      <p:spPr>
        <a:xfrm>
          <a:off x="320954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False alarm</a:t>
          </a:r>
        </a:p>
      </p:txBody>
    </p:sp>
    <p:sp>
      <p:nvSpPr>
        <p:cNvPr id="31" name="Text"/>
        <p:cNvSpPr txBox="1"/>
        <p:nvPr/>
      </p:nvSpPr>
      <p:spPr>
        <a:xfrm>
          <a:off x="419709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34,6%</a:t>
          </a:r>
        </a:p>
      </p:txBody>
    </p:sp>
    <p:sp>
      <p:nvSpPr>
        <p:cNvPr id="32"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33" name="Text"/>
        <p:cNvSpPr txBox="1"/>
        <p:nvPr/>
      </p:nvSpPr>
      <p:spPr>
        <a:xfrm>
          <a:off x="544982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Missed alert</a:t>
          </a:r>
        </a:p>
      </p:txBody>
    </p:sp>
    <p:sp>
      <p:nvSpPr>
        <p:cNvPr id="34" name="Text"/>
        <p:cNvSpPr txBox="1"/>
        <p:nvPr/>
      </p:nvSpPr>
      <p:spPr>
        <a:xfrm>
          <a:off x="643737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46,2%</a:t>
          </a:r>
        </a:p>
      </p:txBody>
    </p:sp>
    <p:sp>
      <p:nvSpPr>
        <p:cNvPr id="35"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02 / 13</a:t>
          </a:r>
        </a:p>
      </p:txBody>
    </p:sp>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Market Signal</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Survey xác nhận nỗi lo thật và mức sẵn sàng thử nghiệm.</a:t>
          </a:r>
        </a:p>
      </p:txBody>
    </p:sp>
    <p:sp>
      <p:nvSpPr>
        <p:cNvPr id="14" name="Panel"/>
        <p:cNvSpPr/>
        <p:nvPr/>
      </p:nvSpPr>
      <p:spPr>
        <a:xfrm>
          <a:off x="658368" y="2651760"/>
          <a:ext cx="1353312" cy="987552"/>
        </a:xfrm>
        <a:prstGeom prst="roundRect">
          <a:avLst/>
        </a:prstGeom>
        <a:solidFill>
          <a:srgbClr val="1A2B20">
            <a:alpha val="85000"/>
          </a:srgbClr>
        </a:solidFill>
        <a:ln w="12700">
          <a:solidFill>
            <a:srgbClr val="B8D8A4">
              <a:alpha val="52000"/>
            </a:srgbClr>
          </a:solidFill>
        </a:ln>
      </p:spPr>
    </p:sp>
    <p:sp>
      <p:nvSpPr>
        <p:cNvPr id="15" name="Text"/>
        <p:cNvSpPr txBox="1"/>
        <p:nvPr/>
      </p:nvSpPr>
      <p:spPr>
        <a:xfrm>
          <a:off x="749808" y="2798064"/>
          <a:ext cx="1170432" cy="292608"/>
        </a:xfrm>
        <a:prstGeom prst="rect">
          <a:avLst/>
        </a:prstGeom>
        <a:noFill/>
        <a:ln>
          <a:noFill/>
        </a:ln>
      </p:spPr>
      <p:txBody>
        <a:bodyPr wrap="square" anchor="t"/>
        <a:lstStyle/>
        <a:p>
          <a:pPr algn="l"/>
          <a:r>
            <a:rPr lang="vi-VN" sz="1820" dirty="0">
              <a:b/>
              <a:solidFill>
                <a:srgbClr val="70F0A8"/>
              </a:solidFill>
              <a:latin typeface="Aptos Display"/>
              <a:cs typeface="Arial"/>
            </a:rPr>
            <a:t>52</a:t>
          </a:r>
        </a:p>
      </p:txBody>
    </p:sp>
    <p:sp>
      <p:nvSpPr>
        <p:cNvPr id="16" name="Text"/>
        <p:cNvSpPr txBox="1"/>
        <p:nvPr/>
      </p:nvSpPr>
      <p:spPr>
        <a:xfrm>
          <a:off x="749808" y="3172968"/>
          <a:ext cx="1170432" cy="283464"/>
        </a:xfrm>
        <a:prstGeom prst="rect">
          <a:avLst/>
        </a:prstGeom>
        <a:noFill/>
        <a:ln>
          <a:noFill/>
        </a:ln>
      </p:spPr>
      <p:txBody>
        <a:bodyPr wrap="square" anchor="t"/>
        <a:lstStyle/>
        <a:p>
          <a:pPr algn="l"/>
          <a:r>
            <a:rPr lang="vi-VN" sz="625" dirty="0">
              <a:solidFill>
                <a:srgbClr val="A8C4C0"/>
              </a:solidFill>
              <a:latin typeface="Aptos Display"/>
              <a:cs typeface="Arial"/>
            </a:rPr>
            <a:t>câu trả lời khảo sát về nhu cầu chăm sóc người thân lớn tuổi tại nhà.</a:t>
          </a:r>
        </a:p>
      </p:txBody>
    </p:sp>
    <p:sp>
      <p:nvSpPr>
        <p:cNvPr id="17" name="Panel"/>
        <p:cNvSpPr/>
        <p:nvPr/>
      </p:nvSpPr>
      <p:spPr>
        <a:xfrm>
          <a:off x="2167128" y="2651760"/>
          <a:ext cx="1353312" cy="987552"/>
        </a:xfrm>
        <a:prstGeom prst="roundRect">
          <a:avLst/>
        </a:prstGeom>
        <a:solidFill>
          <a:srgbClr val="1A2B20">
            <a:alpha val="85000"/>
          </a:srgbClr>
        </a:solidFill>
        <a:ln w="12700">
          <a:solidFill>
            <a:srgbClr val="B8D8A4">
              <a:alpha val="52000"/>
            </a:srgbClr>
          </a:solidFill>
        </a:ln>
      </p:spPr>
    </p:sp>
    <p:sp>
      <p:nvSpPr>
        <p:cNvPr id="18" name="Text"/>
        <p:cNvSpPr txBox="1"/>
        <p:nvPr/>
      </p:nvSpPr>
      <p:spPr>
        <a:xfrm>
          <a:off x="2258568" y="2798064"/>
          <a:ext cx="1170432" cy="292608"/>
        </a:xfrm>
        <a:prstGeom prst="rect">
          <a:avLst/>
        </a:prstGeom>
        <a:noFill/>
        <a:ln>
          <a:noFill/>
        </a:ln>
      </p:spPr>
      <p:txBody>
        <a:bodyPr wrap="square" anchor="t"/>
        <a:lstStyle/>
        <a:p>
          <a:pPr algn="l"/>
          <a:r>
            <a:rPr lang="vi-VN" sz="1820" dirty="0">
              <a:b/>
              <a:solidFill>
                <a:srgbClr val="70F0A8"/>
              </a:solidFill>
              <a:latin typeface="Aptos Display"/>
              <a:cs typeface="Arial"/>
            </a:rPr>
            <a:t>85%</a:t>
          </a:r>
        </a:p>
      </p:txBody>
    </p:sp>
    <p:sp>
      <p:nvSpPr>
        <p:cNvPr id="19" name="Text"/>
        <p:cNvSpPr txBox="1"/>
        <p:nvPr/>
      </p:nvSpPr>
      <p:spPr>
        <a:xfrm>
          <a:off x="2258568" y="3172968"/>
          <a:ext cx="1170432" cy="283464"/>
        </a:xfrm>
        <a:prstGeom prst="rect">
          <a:avLst/>
        </a:prstGeom>
        <a:noFill/>
        <a:ln>
          <a:noFill/>
        </a:ln>
      </p:spPr>
      <p:txBody>
        <a:bodyPr wrap="square" anchor="t"/>
        <a:lstStyle/>
        <a:p>
          <a:pPr algn="l"/>
          <a:r>
            <a:rPr lang="vi-VN" sz="625" dirty="0">
              <a:solidFill>
                <a:srgbClr val="A8C4C0"/>
              </a:solidFill>
              <a:latin typeface="Aptos Display"/>
              <a:cs typeface="Arial"/>
            </a:rPr>
            <a:t>có người lớn tuổi trong gia đình và lo lắng khi họ ở nhà một mình.</a:t>
          </a:r>
        </a:p>
      </p:txBody>
    </p:sp>
    <p:sp>
      <p:nvSpPr>
        <p:cNvPr id="20" name="Panel"/>
        <p:cNvSpPr/>
        <p:nvPr/>
      </p:nvSpPr>
      <p:spPr>
        <a:xfrm>
          <a:off x="3675887" y="2651760"/>
          <a:ext cx="1353312" cy="987552"/>
        </a:xfrm>
        <a:prstGeom prst="roundRect">
          <a:avLst/>
        </a:prstGeom>
        <a:solidFill>
          <a:srgbClr val="1A2B20">
            <a:alpha val="85000"/>
          </a:srgbClr>
        </a:solidFill>
        <a:ln w="12700">
          <a:solidFill>
            <a:srgbClr val="B8D8A4">
              <a:alpha val="52000"/>
            </a:srgbClr>
          </a:solidFill>
        </a:ln>
      </p:spPr>
    </p:sp>
    <p:sp>
      <p:nvSpPr>
        <p:cNvPr id="21" name="Text"/>
        <p:cNvSpPr txBox="1"/>
        <p:nvPr/>
      </p:nvSpPr>
      <p:spPr>
        <a:xfrm>
          <a:off x="3767327" y="2798064"/>
          <a:ext cx="1170432" cy="292608"/>
        </a:xfrm>
        <a:prstGeom prst="rect">
          <a:avLst/>
        </a:prstGeom>
        <a:noFill/>
        <a:ln>
          <a:noFill/>
        </a:ln>
      </p:spPr>
      <p:txBody>
        <a:bodyPr wrap="square" anchor="t"/>
        <a:lstStyle/>
        <a:p>
          <a:pPr algn="l"/>
          <a:r>
            <a:rPr lang="vi-VN" sz="1820" dirty="0">
              <a:b/>
              <a:solidFill>
                <a:srgbClr val="70F0A8"/>
              </a:solidFill>
              <a:latin typeface="Aptos Display"/>
              <a:cs typeface="Arial"/>
            </a:rPr>
            <a:t>66,7%</a:t>
          </a:r>
        </a:p>
      </p:txBody>
    </p:sp>
    <p:sp>
      <p:nvSpPr>
        <p:cNvPr id="22" name="Text"/>
        <p:cNvSpPr txBox="1"/>
        <p:nvPr/>
      </p:nvSpPr>
      <p:spPr>
        <a:xfrm>
          <a:off x="3767327" y="3172968"/>
          <a:ext cx="1170432" cy="283464"/>
        </a:xfrm>
        <a:prstGeom prst="rect">
          <a:avLst/>
        </a:prstGeom>
        <a:noFill/>
        <a:ln>
          <a:noFill/>
        </a:ln>
      </p:spPr>
      <p:txBody>
        <a:bodyPr wrap="square" anchor="t"/>
        <a:lstStyle/>
        <a:p>
          <a:pPr algn="l"/>
          <a:r>
            <a:rPr lang="vi-VN" sz="625" dirty="0">
              <a:solidFill>
                <a:srgbClr val="A8C4C0"/>
              </a:solidFill>
              <a:latin typeface="Aptos Display"/>
              <a:cs typeface="Arial"/>
            </a:rPr>
            <a:t>tin dùng thiết bị điện tử để hỗ trợ theo dõi người thân lớn tuổi.</a:t>
          </a:r>
        </a:p>
      </p:txBody>
    </p:sp>
    <p:sp>
      <p:nvSpPr>
        <p:cNvPr id="23" name="Panel"/>
        <p:cNvSpPr/>
        <p:nvPr/>
      </p:nvSpPr>
      <p:spPr>
        <a:xfrm>
          <a:off x="658368" y="3858768"/>
          <a:ext cx="4480560" cy="1572768"/>
        </a:xfrm>
        <a:prstGeom prst="roundRect">
          <a:avLst/>
        </a:prstGeom>
        <a:solidFill>
          <a:srgbClr val="1A2B20">
            <a:alpha val="85000"/>
          </a:srgbClr>
        </a:solidFill>
        <a:ln w="12700">
          <a:solidFill>
            <a:srgbClr val="B8D8A4">
              <a:alpha val="52000"/>
            </a:srgbClr>
          </a:solidFill>
        </a:ln>
      </p:spPr>
    </p:sp>
    <p:sp>
      <p:nvSpPr>
        <p:cNvPr id="24" name="Text"/>
        <p:cNvSpPr txBox="1"/>
        <p:nvPr/>
      </p:nvSpPr>
      <p:spPr>
        <a:xfrm>
          <a:off x="841248" y="3986784"/>
          <a:ext cx="4069080" cy="182880"/>
        </a:xfrm>
        <a:prstGeom prst="rect">
          <a:avLst/>
        </a:prstGeom>
        <a:noFill/>
        <a:ln>
          <a:noFill/>
        </a:ln>
      </p:spPr>
      <p:txBody>
        <a:bodyPr wrap="square" anchor="t"/>
        <a:lstStyle/>
        <a:p>
          <a:pPr algn="l"/>
          <a:r>
            <a:rPr lang="vi-VN" sz="1200" dirty="0">
              <a:b/>
              <a:solidFill>
                <a:srgbClr val="EEFDF8"/>
              </a:solidFill>
              <a:latin typeface="Aptos Display"/>
              <a:cs typeface="Arial"/>
            </a:rPr>
            <a:t>Tín hiệu nhu cầu từ report &amp; survey</a:t>
          </a:r>
        </a:p>
      </p:txBody>
    </p:sp>
    <p:sp>
      <p:nvSpPr>
        <p:cNvPr id="25" name="Text"/>
        <p:cNvSpPr txBox="1"/>
        <p:nvPr/>
      </p:nvSpPr>
      <p:spPr>
        <a:xfrm>
          <a:off x="841248" y="427024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Có NCT &amp; lo lắng</a:t>
          </a:r>
        </a:p>
      </p:txBody>
    </p:sp>
    <p:sp>
      <p:nvSpPr>
        <p:cNvPr id="26" name="Panel"/>
        <p:cNvSpPr/>
        <p:nvPr/>
      </p:nvSpPr>
      <p:spPr>
        <a:xfrm>
          <a:off x="2267712" y="4279392"/>
          <a:ext cx="1993392" cy="73152"/>
        </a:xfrm>
        <a:prstGeom prst="roundRect">
          <a:avLst/>
        </a:prstGeom>
        <a:solidFill>
          <a:srgbClr val="2B3A24">
            <a:alpha val="90000"/>
          </a:srgbClr>
        </a:solidFill>
        <a:ln w="12700">
          <a:solidFill>
            <a:srgbClr val="2B3A24">
              <a:alpha val="52000"/>
            </a:srgbClr>
          </a:solidFill>
        </a:ln>
      </p:spPr>
    </p:sp>
    <p:sp>
      <p:nvSpPr>
        <p:cNvPr id="27" name="Panel"/>
        <p:cNvSpPr/>
        <p:nvPr/>
      </p:nvSpPr>
      <p:spPr>
        <a:xfrm>
          <a:off x="2267712" y="4279392"/>
          <a:ext cx="1694383" cy="73152"/>
        </a:xfrm>
        <a:prstGeom prst="roundRect">
          <a:avLst/>
        </a:prstGeom>
        <a:solidFill>
          <a:srgbClr val="59E0D0">
            <a:alpha val="100000"/>
          </a:srgbClr>
        </a:solidFill>
        <a:ln w="12700">
          <a:solidFill>
            <a:srgbClr val="59E0D0">
              <a:alpha val="52000"/>
            </a:srgbClr>
          </a:solidFill>
        </a:ln>
      </p:spPr>
    </p:sp>
    <p:sp>
      <p:nvSpPr>
        <p:cNvPr id="28" name="Text"/>
        <p:cNvSpPr txBox="1"/>
        <p:nvPr/>
      </p:nvSpPr>
      <p:spPr>
        <a:xfrm>
          <a:off x="4370832" y="427024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85%</a:t>
          </a:r>
        </a:p>
      </p:txBody>
    </p:sp>
    <p:sp>
      <p:nvSpPr>
        <p:cNvPr id="29" name="Text"/>
        <p:cNvSpPr txBox="1"/>
        <p:nvPr/>
      </p:nvSpPr>
      <p:spPr>
        <a:xfrm>
          <a:off x="841248" y="445312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Tin thiết bị điện tử</a:t>
          </a:r>
        </a:p>
      </p:txBody>
    </p:sp>
    <p:sp>
      <p:nvSpPr>
        <p:cNvPr id="30" name="Panel"/>
        <p:cNvSpPr/>
        <p:nvPr/>
      </p:nvSpPr>
      <p:spPr>
        <a:xfrm>
          <a:off x="2267712" y="4462272"/>
          <a:ext cx="1993392" cy="73152"/>
        </a:xfrm>
        <a:prstGeom prst="roundRect">
          <a:avLst/>
        </a:prstGeom>
        <a:solidFill>
          <a:srgbClr val="2B3A24">
            <a:alpha val="90000"/>
          </a:srgbClr>
        </a:solidFill>
        <a:ln w="12700">
          <a:solidFill>
            <a:srgbClr val="2B3A24">
              <a:alpha val="52000"/>
            </a:srgbClr>
          </a:solidFill>
        </a:ln>
      </p:spPr>
    </p:sp>
    <p:sp>
      <p:nvSpPr>
        <p:cNvPr id="31" name="Panel"/>
        <p:cNvSpPr/>
        <p:nvPr/>
      </p:nvSpPr>
      <p:spPr>
        <a:xfrm>
          <a:off x="2267712" y="4462272"/>
          <a:ext cx="1329592" cy="73152"/>
        </a:xfrm>
        <a:prstGeom prst="roundRect">
          <a:avLst/>
        </a:prstGeom>
        <a:solidFill>
          <a:srgbClr val="59E0D0">
            <a:alpha val="100000"/>
          </a:srgbClr>
        </a:solidFill>
        <a:ln w="12700">
          <a:solidFill>
            <a:srgbClr val="59E0D0">
              <a:alpha val="52000"/>
            </a:srgbClr>
          </a:solidFill>
        </a:ln>
      </p:spPr>
    </p:sp>
    <p:sp>
      <p:nvSpPr>
        <p:cNvPr id="32" name="Text"/>
        <p:cNvSpPr txBox="1"/>
        <p:nvPr/>
      </p:nvSpPr>
      <p:spPr>
        <a:xfrm>
          <a:off x="4370832" y="445312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66,7%</a:t>
          </a:r>
        </a:p>
      </p:txBody>
    </p:sp>
    <p:sp>
      <p:nvSpPr>
        <p:cNvPr id="33" name="Text"/>
        <p:cNvSpPr txBox="1"/>
        <p:nvPr/>
      </p:nvSpPr>
      <p:spPr>
        <a:xfrm>
          <a:off x="841248" y="463600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Quan tâm sản phẩm</a:t>
          </a:r>
        </a:p>
      </p:txBody>
    </p:sp>
    <p:sp>
      <p:nvSpPr>
        <p:cNvPr id="34" name="Panel"/>
        <p:cNvSpPr/>
        <p:nvPr/>
      </p:nvSpPr>
      <p:spPr>
        <a:xfrm>
          <a:off x="2267712" y="4645152"/>
          <a:ext cx="1993392" cy="73152"/>
        </a:xfrm>
        <a:prstGeom prst="roundRect">
          <a:avLst/>
        </a:prstGeom>
        <a:solidFill>
          <a:srgbClr val="2B3A24">
            <a:alpha val="90000"/>
          </a:srgbClr>
        </a:solidFill>
        <a:ln w="12700">
          <a:solidFill>
            <a:srgbClr val="2B3A24">
              <a:alpha val="52000"/>
            </a:srgbClr>
          </a:solidFill>
        </a:ln>
      </p:spPr>
    </p:sp>
    <p:sp>
      <p:nvSpPr>
        <p:cNvPr id="35" name="Panel"/>
        <p:cNvSpPr/>
        <p:nvPr/>
      </p:nvSpPr>
      <p:spPr>
        <a:xfrm>
          <a:off x="2267712" y="4645152"/>
          <a:ext cx="1176101" cy="73152"/>
        </a:xfrm>
        <a:prstGeom prst="roundRect">
          <a:avLst/>
        </a:prstGeom>
        <a:solidFill>
          <a:srgbClr val="59E0D0">
            <a:alpha val="100000"/>
          </a:srgbClr>
        </a:solidFill>
        <a:ln w="12700">
          <a:solidFill>
            <a:srgbClr val="59E0D0">
              <a:alpha val="52000"/>
            </a:srgbClr>
          </a:solidFill>
        </a:ln>
      </p:spPr>
    </p:sp>
    <p:sp>
      <p:nvSpPr>
        <p:cNvPr id="36" name="Text"/>
        <p:cNvSpPr txBox="1"/>
        <p:nvPr/>
      </p:nvSpPr>
      <p:spPr>
        <a:xfrm>
          <a:off x="4370832" y="463600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59%</a:t>
          </a:r>
        </a:p>
      </p:txBody>
    </p:sp>
    <p:sp>
      <p:nvSpPr>
        <p:cNvPr id="37" name="Text"/>
        <p:cNvSpPr txBox="1"/>
        <p:nvPr/>
      </p:nvSpPr>
      <p:spPr>
        <a:xfrm>
          <a:off x="841248" y="481888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Sự cố bị miss</a:t>
          </a:r>
        </a:p>
      </p:txBody>
    </p:sp>
    <p:sp>
      <p:nvSpPr>
        <p:cNvPr id="38" name="Panel"/>
        <p:cNvSpPr/>
        <p:nvPr/>
      </p:nvSpPr>
      <p:spPr>
        <a:xfrm>
          <a:off x="2267712" y="4828031"/>
          <a:ext cx="1993392" cy="73152"/>
        </a:xfrm>
        <a:prstGeom prst="roundRect">
          <a:avLst/>
        </a:prstGeom>
        <a:solidFill>
          <a:srgbClr val="2B3A24">
            <a:alpha val="90000"/>
          </a:srgbClr>
        </a:solidFill>
        <a:ln w="12700">
          <a:solidFill>
            <a:srgbClr val="2B3A24">
              <a:alpha val="52000"/>
            </a:srgbClr>
          </a:solidFill>
        </a:ln>
      </p:spPr>
    </p:sp>
    <p:sp>
      <p:nvSpPr>
        <p:cNvPr id="39" name="Panel"/>
        <p:cNvSpPr/>
        <p:nvPr/>
      </p:nvSpPr>
      <p:spPr>
        <a:xfrm>
          <a:off x="2267712" y="4828031"/>
          <a:ext cx="920947" cy="73152"/>
        </a:xfrm>
        <a:prstGeom prst="roundRect">
          <a:avLst/>
        </a:prstGeom>
        <a:solidFill>
          <a:srgbClr val="59E0D0">
            <a:alpha val="100000"/>
          </a:srgbClr>
        </a:solidFill>
        <a:ln w="12700">
          <a:solidFill>
            <a:srgbClr val="59E0D0">
              <a:alpha val="52000"/>
            </a:srgbClr>
          </a:solidFill>
        </a:ln>
      </p:spPr>
    </p:sp>
    <p:sp>
      <p:nvSpPr>
        <p:cNvPr id="40" name="Text"/>
        <p:cNvSpPr txBox="1"/>
        <p:nvPr/>
      </p:nvSpPr>
      <p:spPr>
        <a:xfrm>
          <a:off x="4370832" y="481888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46,2%</a:t>
          </a:r>
        </a:p>
      </p:txBody>
    </p:sp>
    <p:sp>
      <p:nvSpPr>
        <p:cNvPr id="41" name="Text"/>
        <p:cNvSpPr txBox="1"/>
        <p:nvPr/>
      </p:nvSpPr>
      <p:spPr>
        <a:xfrm>
          <a:off x="841248" y="500176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Chắc chắn demo</a:t>
          </a:r>
        </a:p>
      </p:txBody>
    </p:sp>
    <p:sp>
      <p:nvSpPr>
        <p:cNvPr id="42" name="Panel"/>
        <p:cNvSpPr/>
        <p:nvPr/>
      </p:nvSpPr>
      <p:spPr>
        <a:xfrm>
          <a:off x="2267712" y="5010912"/>
          <a:ext cx="1993392" cy="73152"/>
        </a:xfrm>
        <a:prstGeom prst="roundRect">
          <a:avLst/>
        </a:prstGeom>
        <a:solidFill>
          <a:srgbClr val="2B3A24">
            <a:alpha val="90000"/>
          </a:srgbClr>
        </a:solidFill>
        <a:ln w="12700">
          <a:solidFill>
            <a:srgbClr val="2B3A24">
              <a:alpha val="52000"/>
            </a:srgbClr>
          </a:solidFill>
        </a:ln>
      </p:spPr>
    </p:sp>
    <p:sp>
      <p:nvSpPr>
        <p:cNvPr id="43" name="Panel"/>
        <p:cNvSpPr/>
        <p:nvPr/>
      </p:nvSpPr>
      <p:spPr>
        <a:xfrm>
          <a:off x="2267712" y="5010912"/>
          <a:ext cx="767455" cy="73152"/>
        </a:xfrm>
        <a:prstGeom prst="roundRect">
          <a:avLst/>
        </a:prstGeom>
        <a:solidFill>
          <a:srgbClr val="59E0D0">
            <a:alpha val="100000"/>
          </a:srgbClr>
        </a:solidFill>
        <a:ln w="12700">
          <a:solidFill>
            <a:srgbClr val="59E0D0">
              <a:alpha val="52000"/>
            </a:srgbClr>
          </a:solidFill>
        </a:ln>
      </p:spPr>
    </p:sp>
    <p:sp>
      <p:nvSpPr>
        <p:cNvPr id="44" name="Text"/>
        <p:cNvSpPr txBox="1"/>
        <p:nvPr/>
      </p:nvSpPr>
      <p:spPr>
        <a:xfrm>
          <a:off x="4370832" y="500176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38,5%</a:t>
          </a:r>
        </a:p>
      </p:txBody>
    </p:sp>
    <p:sp>
      <p:nvSpPr>
        <p:cNvPr id="45" name="Text"/>
        <p:cNvSpPr txBox="1"/>
        <p:nvPr/>
      </p:nvSpPr>
      <p:spPr>
        <a:xfrm>
          <a:off x="841248" y="5184648"/>
          <a:ext cx="1389888" cy="109728"/>
        </a:xfrm>
        <a:prstGeom prst="rect">
          <a:avLst/>
        </a:prstGeom>
        <a:noFill/>
        <a:ln>
          <a:noFill/>
        </a:ln>
      </p:spPr>
      <p:txBody>
        <a:bodyPr wrap="square" anchor="t"/>
        <a:lstStyle/>
        <a:p>
          <a:pPr algn="l"/>
          <a:r>
            <a:rPr lang="vi-VN" sz="615" dirty="0">
              <a:solidFill>
                <a:srgbClr val="A8C4C0"/>
              </a:solidFill>
              <a:latin typeface="Aptos Display"/>
              <a:cs typeface="Arial"/>
            </a:rPr>
            <a:t>Báo động giả</a:t>
          </a:r>
        </a:p>
      </p:txBody>
    </p:sp>
    <p:sp>
      <p:nvSpPr>
        <p:cNvPr id="46" name="Panel"/>
        <p:cNvSpPr/>
        <p:nvPr/>
      </p:nvSpPr>
      <p:spPr>
        <a:xfrm>
          <a:off x="2267712" y="5193792"/>
          <a:ext cx="1993392" cy="73152"/>
        </a:xfrm>
        <a:prstGeom prst="roundRect">
          <a:avLst/>
        </a:prstGeom>
        <a:solidFill>
          <a:srgbClr val="2B3A24">
            <a:alpha val="90000"/>
          </a:srgbClr>
        </a:solidFill>
        <a:ln w="12700">
          <a:solidFill>
            <a:srgbClr val="2B3A24">
              <a:alpha val="52000"/>
            </a:srgbClr>
          </a:solidFill>
        </a:ln>
      </p:spPr>
    </p:sp>
    <p:sp>
      <p:nvSpPr>
        <p:cNvPr id="47" name="Panel"/>
        <p:cNvSpPr/>
        <p:nvPr/>
      </p:nvSpPr>
      <p:spPr>
        <a:xfrm>
          <a:off x="2267712" y="5193792"/>
          <a:ext cx="689713" cy="73152"/>
        </a:xfrm>
        <a:prstGeom prst="roundRect">
          <a:avLst/>
        </a:prstGeom>
        <a:solidFill>
          <a:srgbClr val="59E0D0">
            <a:alpha val="100000"/>
          </a:srgbClr>
        </a:solidFill>
        <a:ln w="12700">
          <a:solidFill>
            <a:srgbClr val="59E0D0">
              <a:alpha val="52000"/>
            </a:srgbClr>
          </a:solidFill>
        </a:ln>
      </p:spPr>
    </p:sp>
    <p:sp>
      <p:nvSpPr>
        <p:cNvPr id="48" name="Text"/>
        <p:cNvSpPr txBox="1"/>
        <p:nvPr/>
      </p:nvSpPr>
      <p:spPr>
        <a:xfrm>
          <a:off x="4370832" y="5184648"/>
          <a:ext cx="502920" cy="109728"/>
        </a:xfrm>
        <a:prstGeom prst="rect">
          <a:avLst/>
        </a:prstGeom>
        <a:noFill/>
        <a:ln>
          <a:noFill/>
        </a:ln>
      </p:spPr>
      <p:txBody>
        <a:bodyPr wrap="square" anchor="t"/>
        <a:lstStyle/>
        <a:p>
          <a:pPr algn="r"/>
          <a:r>
            <a:rPr lang="vi-VN" sz="615" dirty="0">
              <a:b/>
              <a:solidFill>
                <a:srgbClr val="70F0A8"/>
              </a:solidFill>
              <a:latin typeface="Aptos Display"/>
              <a:cs typeface="Arial"/>
            </a:rPr>
            <a:t>34,6%</a:t>
          </a:r>
        </a:p>
      </p:txBody>
    </p:sp>
    <p:sp>
      <p:nvSpPr>
        <p:cNvPr id="49" name="Panel"/>
        <p:cNvSpPr/>
        <p:nvPr/>
      </p:nvSpPr>
      <p:spPr>
        <a:xfrm>
          <a:off x="5376672" y="2542032"/>
          <a:ext cx="2852928" cy="1353312"/>
        </a:xfrm>
        <a:prstGeom prst="roundRect">
          <a:avLst/>
        </a:prstGeom>
        <a:solidFill>
          <a:srgbClr val="FFFFFF">
            <a:alpha val="98000"/>
          </a:srgbClr>
        </a:solidFill>
        <a:ln w="12700">
          <a:solidFill>
            <a:srgbClr val="B8D8A4">
              <a:alpha val="52000"/>
            </a:srgbClr>
          </a:solidFill>
        </a:ln>
      </p:spPr>
    </p:sp>
    <p:pic>
      <p:nvPicPr>
        <p:cNvPr id="50" name="missed-alert.png"/>
        <p:cNvPicPr>
          <a:picLocks noChangeAspect="1"/>
        </p:cNvPicPr>
        <p:nvPr/>
      </p:nvPicPr>
      <p:blipFill>
        <a:blip r:embed="rId3"/>
        <a:stretch>
          <a:fillRect/>
        </a:stretch>
      </p:blipFill>
      <p:spPr>
        <a:xfrm>
          <a:off x="5468112" y="2633472"/>
          <a:ext cx="2670048" cy="1170432"/>
        </a:xfrm>
        <a:prstGeom prst="rect">
          <a:avLst/>
        </a:prstGeom>
      </p:spPr>
    </p:pic>
    <p:sp>
      <p:nvSpPr>
        <p:cNvPr id="51" name="Panel"/>
        <p:cNvSpPr/>
        <p:nvPr/>
      </p:nvSpPr>
      <p:spPr>
        <a:xfrm>
          <a:off x="8394192" y="2542032"/>
          <a:ext cx="2852928" cy="1353312"/>
        </a:xfrm>
        <a:prstGeom prst="roundRect">
          <a:avLst/>
        </a:prstGeom>
        <a:solidFill>
          <a:srgbClr val="FFFFFF">
            <a:alpha val="98000"/>
          </a:srgbClr>
        </a:solidFill>
        <a:ln w="12700">
          <a:solidFill>
            <a:srgbClr val="B8D8A4">
              <a:alpha val="52000"/>
            </a:srgbClr>
          </a:solidFill>
        </a:ln>
      </p:spPr>
    </p:sp>
    <p:pic>
      <p:nvPicPr>
        <p:cNvPr id="52" name="support-solution.png"/>
        <p:cNvPicPr>
          <a:picLocks noChangeAspect="1"/>
        </p:cNvPicPr>
        <p:nvPr/>
      </p:nvPicPr>
      <p:blipFill>
        <a:blip r:embed="rId4"/>
        <a:stretch>
          <a:fillRect/>
        </a:stretch>
      </p:blipFill>
      <p:spPr>
        <a:xfrm>
          <a:off x="8485632" y="2633472"/>
          <a:ext cx="2670048" cy="1170432"/>
        </a:xfrm>
        <a:prstGeom prst="rect">
          <a:avLst/>
        </a:prstGeom>
      </p:spPr>
    </p:pic>
    <p:sp>
      <p:nvSpPr>
        <p:cNvPr id="53" name="Panel"/>
        <p:cNvSpPr/>
        <p:nvPr/>
      </p:nvSpPr>
      <p:spPr>
        <a:xfrm>
          <a:off x="5376672" y="4096512"/>
          <a:ext cx="2852928" cy="1353312"/>
        </a:xfrm>
        <a:prstGeom prst="roundRect">
          <a:avLst/>
        </a:prstGeom>
        <a:solidFill>
          <a:srgbClr val="FFFFFF">
            <a:alpha val="98000"/>
          </a:srgbClr>
        </a:solidFill>
        <a:ln w="12700">
          <a:solidFill>
            <a:srgbClr val="B8D8A4">
              <a:alpha val="52000"/>
            </a:srgbClr>
          </a:solidFill>
        </a:ln>
      </p:spPr>
    </p:sp>
    <p:pic>
      <p:nvPicPr>
        <p:cNvPr id="54" name="early-access.png"/>
        <p:cNvPicPr>
          <a:picLocks noChangeAspect="1"/>
        </p:cNvPicPr>
        <p:nvPr/>
      </p:nvPicPr>
      <p:blipFill>
        <a:blip r:embed="rId5"/>
        <a:stretch>
          <a:fillRect/>
        </a:stretch>
      </p:blipFill>
      <p:spPr>
        <a:xfrm>
          <a:off x="5468112" y="4187952"/>
          <a:ext cx="2670048" cy="1170432"/>
        </a:xfrm>
        <a:prstGeom prst="rect">
          <a:avLst/>
        </a:prstGeom>
      </p:spPr>
    </p:pic>
    <p:sp>
      <p:nvSpPr>
        <p:cNvPr id="55" name="Panel"/>
        <p:cNvSpPr/>
        <p:nvPr/>
      </p:nvSpPr>
      <p:spPr>
        <a:xfrm>
          <a:off x="8394192" y="4096512"/>
          <a:ext cx="2852928" cy="1353312"/>
        </a:xfrm>
        <a:prstGeom prst="roundRect">
          <a:avLst/>
        </a:prstGeom>
        <a:solidFill>
          <a:srgbClr val="FFFFFF">
            <a:alpha val="98000"/>
          </a:srgbClr>
        </a:solidFill>
        <a:ln w="12700">
          <a:solidFill>
            <a:srgbClr val="B8D8A4">
              <a:alpha val="52000"/>
            </a:srgbClr>
          </a:solidFill>
        </a:ln>
      </p:spPr>
    </p:sp>
    <p:pic>
      <p:nvPicPr>
        <p:cNvPr id="56" name="false-alarm.png"/>
        <p:cNvPicPr>
          <a:picLocks noChangeAspect="1"/>
        </p:cNvPicPr>
        <p:nvPr/>
      </p:nvPicPr>
      <p:blipFill>
        <a:blip r:embed="rId6"/>
        <a:stretch>
          <a:fillRect/>
        </a:stretch>
      </p:blipFill>
      <p:spPr>
        <a:xfrm>
          <a:off x="8485632" y="4187952"/>
          <a:ext cx="2670048" cy="1170432"/>
        </a:xfrm>
        <a:prstGeom prst="rect">
          <a:avLst/>
        </a:prstGeom>
      </p:spPr>
    </p:pic>
    <p:sp>
      <p:nvSpPr>
        <p:cNvPr id="57" name="Panel"/>
        <p:cNvSpPr/>
        <p:nvPr/>
      </p:nvSpPr>
      <p:spPr>
        <a:xfrm>
          <a:off x="841248" y="5285232"/>
          <a:ext cx="9875520" cy="502920"/>
        </a:xfrm>
        <a:prstGeom prst="roundRect">
          <a:avLst/>
        </a:prstGeom>
        <a:solidFill>
          <a:srgbClr val="2B3A24">
            <a:alpha val="76000"/>
          </a:srgbClr>
        </a:solidFill>
        <a:ln w="12700">
          <a:solidFill>
            <a:srgbClr val="7FB069">
              <a:alpha val="52000"/>
            </a:srgbClr>
          </a:solidFill>
        </a:ln>
      </p:spPr>
    </p:sp>
    <p:sp>
      <p:nvSpPr>
        <p:cNvPr id="58" name="Text"/>
        <p:cNvSpPr txBox="1"/>
        <p:nvPr/>
      </p:nvSpPr>
      <p:spPr>
        <a:xfrm>
          <a:off x="1024128" y="5413248"/>
          <a:ext cx="9326880" cy="201168"/>
        </a:xfrm>
        <a:prstGeom prst="rect">
          <a:avLst/>
        </a:prstGeom>
        <a:noFill/>
        <a:ln>
          <a:noFill/>
        </a:ln>
      </p:spPr>
      <p:txBody>
        <a:bodyPr wrap="square" anchor="t"/>
        <a:lstStyle/>
        <a:p>
          <a:pPr algn="l"/>
          <a:r>
            <a:rPr lang="vi-VN" sz="1150" dirty="0">
              <a:solidFill>
                <a:srgbClr val="D8F4EF"/>
              </a:solidFill>
              <a:latin typeface="Aptos Display"/>
              <a:cs typeface="Arial"/>
            </a:rPr>
            <a:t>Nền thị trường: khoảng 16,1 triệu người cao tuổi tại Việt Nam và 1,5–1,9 triệu ca té ngã mỗi năm tạo nhu cầu rõ cho cảnh báo sớm tại nhà.</a:t>
          </a:r>
        </a:p>
      </p:txBody>
    </p:sp>
    <p:sp>
      <p:nvSpPr>
        <p:cNvPr id="59"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03 / 13</a:t>
          </a:r>
        </a:p>
      </p:txBody>
    </p:sp>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Solution</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SYL biến camera hiện có thành hệ thống chăm sóc chủ động.</a:t>
          </a:r>
        </a:p>
      </p:txBody>
    </p:sp>
    <p:sp>
      <p:nvSpPr>
        <p:cNvPr id="14" name="Text"/>
        <p:cNvSpPr txBox="1"/>
        <p:nvPr/>
      </p:nvSpPr>
      <p:spPr>
        <a:xfrm>
          <a:off x="859536" y="2542032"/>
          <a:ext cx="8595360" cy="502920"/>
        </a:xfrm>
        <a:prstGeom prst="rect">
          <a:avLst/>
        </a:prstGeom>
        <a:noFill/>
        <a:ln>
          <a:noFill/>
        </a:ln>
      </p:spPr>
      <p:txBody>
        <a:bodyPr wrap="square" anchor="t"/>
        <a:lstStyle/>
        <a:p>
          <a:pPr algn="l"/>
          <a:r>
            <a:rPr lang="vi-VN" sz="1320" dirty="0">
              <a:solidFill>
                <a:srgbClr val="CFE7E3"/>
              </a:solidFill>
              <a:latin typeface="Aptos Display"/>
              <a:cs typeface="Arial"/>
            </a:rPr>
            <a:t>Gateway AI kết nối camera IP, phân tích hình ảnh thời gian thực và gửi cảnh báo có bằng chứng đến đúng người xử lý.</a:t>
          </a:r>
        </a:p>
      </p:txBody>
    </p:sp>
    <p:sp>
      <p:nvSpPr>
        <p:cNvPr id="15" name="Panel"/>
        <p:cNvSpPr/>
        <p:nvPr/>
      </p:nvSpPr>
      <p:spPr>
        <a:xfrm>
          <a:off x="841248" y="3749039"/>
          <a:ext cx="3395472" cy="987552"/>
        </a:xfrm>
        <a:prstGeom prst="roundRect">
          <a:avLst/>
        </a:prstGeom>
        <a:solidFill>
          <a:srgbClr val="1F3022">
            <a:alpha val="85000"/>
          </a:srgbClr>
        </a:solidFill>
        <a:ln w="12700">
          <a:solidFill>
            <a:srgbClr val="B8D8A4">
              <a:alpha val="52000"/>
            </a:srgbClr>
          </a:solidFill>
        </a:ln>
      </p:spPr>
    </p:sp>
    <p:sp>
      <p:nvSpPr>
        <p:cNvPr id="16" name="Text"/>
        <p:cNvSpPr txBox="1"/>
        <p:nvPr/>
      </p:nvSpPr>
      <p:spPr>
        <a:xfrm>
          <a:off x="987552"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Phát hiện té ngã</a:t>
          </a:r>
        </a:p>
      </p:txBody>
    </p:sp>
    <p:sp>
      <p:nvSpPr>
        <p:cNvPr id="17" name="Text"/>
        <p:cNvSpPr txBox="1"/>
        <p:nvPr/>
      </p:nvSpPr>
      <p:spPr>
        <a:xfrm>
          <a:off x="987552"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Nhận biết tư thế/ngữ cảnh nguy hiểm để kích hoạt cảnh báo khẩn.</a:t>
          </a:r>
        </a:p>
      </p:txBody>
    </p:sp>
    <p:sp>
      <p:nvSpPr>
        <p:cNvPr id="18" name="Panel"/>
        <p:cNvSpPr/>
        <p:nvPr/>
      </p:nvSpPr>
      <p:spPr>
        <a:xfrm>
          <a:off x="4401312" y="3749039"/>
          <a:ext cx="3395472" cy="987552"/>
        </a:xfrm>
        <a:prstGeom prst="roundRect">
          <a:avLst/>
        </a:prstGeom>
        <a:solidFill>
          <a:srgbClr val="1F3022">
            <a:alpha val="85000"/>
          </a:srgbClr>
        </a:solidFill>
        <a:ln w="12700">
          <a:solidFill>
            <a:srgbClr val="B8D8A4">
              <a:alpha val="52000"/>
            </a:srgbClr>
          </a:solidFill>
        </a:ln>
      </p:spPr>
    </p:sp>
    <p:sp>
      <p:nvSpPr>
        <p:cNvPr id="19" name="Text"/>
        <p:cNvSpPr txBox="1"/>
        <p:nvPr/>
      </p:nvSpPr>
      <p:spPr>
        <a:xfrm>
          <a:off x="4547616"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Phát hiện người lạ</a:t>
          </a:r>
        </a:p>
      </p:txBody>
    </p:sp>
    <p:sp>
      <p:nvSpPr>
        <p:cNvPr id="20" name="Text"/>
        <p:cNvSpPr txBox="1"/>
        <p:nvPr/>
      </p:nvSpPr>
      <p:spPr>
        <a:xfrm>
          <a:off x="4547616"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Đối chiếu người nhà với người lạ để giảm rủi ro an ninh trong nhà.</a:t>
          </a:r>
        </a:p>
      </p:txBody>
    </p:sp>
    <p:sp>
      <p:nvSpPr>
        <p:cNvPr id="21" name="Panel"/>
        <p:cNvSpPr/>
        <p:nvPr/>
      </p:nvSpPr>
      <p:spPr>
        <a:xfrm>
          <a:off x="7961376" y="3749039"/>
          <a:ext cx="3395472" cy="987552"/>
        </a:xfrm>
        <a:prstGeom prst="roundRect">
          <a:avLst/>
        </a:prstGeom>
        <a:solidFill>
          <a:srgbClr val="1F3022">
            <a:alpha val="85000"/>
          </a:srgbClr>
        </a:solidFill>
        <a:ln w="12700">
          <a:solidFill>
            <a:srgbClr val="B8D8A4">
              <a:alpha val="52000"/>
            </a:srgbClr>
          </a:solidFill>
        </a:ln>
      </p:spPr>
    </p:sp>
    <p:sp>
      <p:nvSpPr>
        <p:cNvPr id="22" name="Text"/>
        <p:cNvSpPr txBox="1"/>
        <p:nvPr/>
      </p:nvSpPr>
      <p:spPr>
        <a:xfrm>
          <a:off x="8107680" y="3867911"/>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Bằng chứng tức thì</a:t>
          </a:r>
        </a:p>
      </p:txBody>
    </p:sp>
    <p:sp>
      <p:nvSpPr>
        <p:cNvPr id="23" name="Text"/>
        <p:cNvSpPr txBox="1"/>
        <p:nvPr/>
      </p:nvSpPr>
      <p:spPr>
        <a:xfrm>
          <a:off x="8107680" y="416052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Email/app gửi snapshot hoặc video evidence để gia đình xác minh nhanh.</a:t>
          </a:r>
        </a:p>
      </p:txBody>
    </p:sp>
    <p:sp>
      <p:nvSpPr>
        <p:cNvPr id="24"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25" name="Text"/>
        <p:cNvSpPr txBox="1"/>
        <p:nvPr/>
      </p:nvSpPr>
      <p:spPr>
        <a:xfrm>
          <a:off x="96926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Fall recall</a:t>
          </a:r>
        </a:p>
      </p:txBody>
    </p:sp>
    <p:sp>
      <p:nvSpPr>
        <p:cNvPr id="26" name="Text"/>
        <p:cNvSpPr txBox="1"/>
        <p:nvPr/>
      </p:nvSpPr>
      <p:spPr>
        <a:xfrm>
          <a:off x="195681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≥85%</a:t>
          </a:r>
        </a:p>
      </p:txBody>
    </p:sp>
    <p:sp>
      <p:nvSpPr>
        <p:cNvPr id="27"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28" name="Text"/>
        <p:cNvSpPr txBox="1"/>
        <p:nvPr/>
      </p:nvSpPr>
      <p:spPr>
        <a:xfrm>
          <a:off x="320954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Stranger F1</a:t>
          </a:r>
        </a:p>
      </p:txBody>
    </p:sp>
    <p:sp>
      <p:nvSpPr>
        <p:cNvPr id="29" name="Text"/>
        <p:cNvSpPr txBox="1"/>
        <p:nvPr/>
      </p:nvSpPr>
      <p:spPr>
        <a:xfrm>
          <a:off x="419709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83%</a:t>
          </a:r>
        </a:p>
      </p:txBody>
    </p:sp>
    <p:sp>
      <p:nvSpPr>
        <p:cNvPr id="30"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31" name="Text"/>
        <p:cNvSpPr txBox="1"/>
        <p:nvPr/>
      </p:nvSpPr>
      <p:spPr>
        <a:xfrm>
          <a:off x="544982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Evidence flow</a:t>
          </a:r>
        </a:p>
      </p:txBody>
    </p:sp>
    <p:sp>
      <p:nvSpPr>
        <p:cNvPr id="32" name="Panel"/>
        <p:cNvSpPr/>
        <p:nvPr/>
      </p:nvSpPr>
      <p:spPr>
        <a:xfrm>
          <a:off x="5486400" y="5758891"/>
          <a:ext cx="292608" cy="93268"/>
        </a:xfrm>
        <a:prstGeom prst="roundRect">
          <a:avLst/>
        </a:prstGeom>
        <a:solidFill>
          <a:srgbClr val="59E0D0">
            <a:alpha val="100000"/>
          </a:srgbClr>
        </a:solidFill>
        <a:ln w="12700">
          <a:solidFill>
            <a:srgbClr val="59E0D0">
              <a:alpha val="52000"/>
            </a:srgbClr>
          </a:solidFill>
        </a:ln>
      </p:spPr>
    </p:sp>
    <p:sp>
      <p:nvSpPr>
        <p:cNvPr id="33" name="Panel"/>
        <p:cNvSpPr/>
        <p:nvPr/>
      </p:nvSpPr>
      <p:spPr>
        <a:xfrm>
          <a:off x="5879592" y="5671840"/>
          <a:ext cx="292608" cy="180319"/>
        </a:xfrm>
        <a:prstGeom prst="roundRect">
          <a:avLst/>
        </a:prstGeom>
        <a:solidFill>
          <a:srgbClr val="59E0D0">
            <a:alpha val="100000"/>
          </a:srgbClr>
        </a:solidFill>
        <a:ln w="12700">
          <a:solidFill>
            <a:srgbClr val="59E0D0">
              <a:alpha val="52000"/>
            </a:srgbClr>
          </a:solidFill>
        </a:ln>
      </p:spPr>
    </p:sp>
    <p:sp>
      <p:nvSpPr>
        <p:cNvPr id="34" name="Panel"/>
        <p:cNvSpPr/>
        <p:nvPr/>
      </p:nvSpPr>
      <p:spPr>
        <a:xfrm>
          <a:off x="6272784" y="5584789"/>
          <a:ext cx="292608" cy="267370"/>
        </a:xfrm>
        <a:prstGeom prst="roundRect">
          <a:avLst/>
        </a:prstGeom>
        <a:solidFill>
          <a:srgbClr val="59E0D0">
            <a:alpha val="100000"/>
          </a:srgbClr>
        </a:solidFill>
        <a:ln w="12700">
          <a:solidFill>
            <a:srgbClr val="59E0D0">
              <a:alpha val="52000"/>
            </a:srgbClr>
          </a:solidFill>
        </a:ln>
      </p:spPr>
    </p:sp>
    <p:sp>
      <p:nvSpPr>
        <p:cNvPr id="35"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04 / 13</a:t>
          </a:r>
        </a:p>
      </p:txBody>
    </p:sp>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Product Flow</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Từ camera đến hành động khẩn cấp trong vài bước.</a:t>
          </a:r>
        </a:p>
      </p:txBody>
    </p:sp>
    <p:sp>
      <p:nvSpPr>
        <p:cNvPr id="14" name="Panel"/>
        <p:cNvSpPr/>
        <p:nvPr/>
      </p:nvSpPr>
      <p:spPr>
        <a:xfrm>
          <a:off x="841248" y="3520440"/>
          <a:ext cx="2008022" cy="1508760"/>
        </a:xfrm>
        <a:prstGeom prst="roundRect">
          <a:avLst/>
        </a:prstGeom>
        <a:solidFill>
          <a:srgbClr val="1A2B20">
            <a:alpha val="85000"/>
          </a:srgbClr>
        </a:solidFill>
        <a:ln w="12700">
          <a:solidFill>
            <a:srgbClr val="B8D8A4">
              <a:alpha val="52000"/>
            </a:srgbClr>
          </a:solidFill>
        </a:ln>
      </p:spPr>
    </p:sp>
    <p:sp>
      <p:nvSpPr>
        <p:cNvPr id="15" name="Text"/>
        <p:cNvSpPr txBox="1"/>
        <p:nvPr/>
      </p:nvSpPr>
      <p:spPr>
        <a:xfrm>
          <a:off x="960120" y="3694176"/>
          <a:ext cx="1770278" cy="237744"/>
        </a:xfrm>
        <a:prstGeom prst="rect">
          <a:avLst/>
        </a:prstGeom>
        <a:noFill/>
        <a:ln>
          <a:noFill/>
        </a:ln>
      </p:spPr>
      <p:txBody>
        <a:bodyPr wrap="square" anchor="t"/>
        <a:lstStyle/>
        <a:p>
          <a:pPr algn="l"/>
          <a:r>
            <a:rPr lang="vi-VN" sz="1300" dirty="0">
              <a:b/>
              <a:solidFill>
                <a:srgbClr val="70F0A8"/>
              </a:solidFill>
              <a:latin typeface="Aptos Display"/>
              <a:cs typeface="Arial"/>
            </a:rPr>
            <a:t>01</a:t>
          </a:r>
        </a:p>
      </p:txBody>
    </p:sp>
    <p:sp>
      <p:nvSpPr>
        <p:cNvPr id="16" name="Text"/>
        <p:cNvSpPr txBox="1"/>
        <p:nvPr/>
      </p:nvSpPr>
      <p:spPr>
        <a:xfrm>
          <a:off x="960120" y="4133087"/>
          <a:ext cx="1770278" cy="256032"/>
        </a:xfrm>
        <a:prstGeom prst="rect">
          <a:avLst/>
        </a:prstGeom>
        <a:noFill/>
        <a:ln>
          <a:noFill/>
        </a:ln>
      </p:spPr>
      <p:txBody>
        <a:bodyPr wrap="square" anchor="t"/>
        <a:lstStyle/>
        <a:p>
          <a:pPr algn="l"/>
          <a:r>
            <a:rPr lang="vi-VN" sz="1420" dirty="0">
              <a:b/>
              <a:solidFill>
                <a:srgbClr val="EEFDF8"/>
              </a:solidFill>
              <a:latin typeface="Aptos Display"/>
              <a:cs typeface="Arial"/>
            </a:rPr>
            <a:t>Stream</a:t>
          </a:r>
        </a:p>
      </p:txBody>
    </p:sp>
    <p:sp>
      <p:nvSpPr>
        <p:cNvPr id="17" name="Text"/>
        <p:cNvSpPr txBox="1"/>
        <p:nvPr/>
      </p:nvSpPr>
      <p:spPr>
        <a:xfrm>
          <a:off x="960120" y="4489704"/>
          <a:ext cx="1770278" cy="384048"/>
        </a:xfrm>
        <a:prstGeom prst="rect">
          <a:avLst/>
        </a:prstGeom>
        <a:noFill/>
        <a:ln>
          <a:noFill/>
        </a:ln>
      </p:spPr>
      <p:txBody>
        <a:bodyPr wrap="square" anchor="t"/>
        <a:lstStyle/>
        <a:p>
          <a:pPr algn="l"/>
          <a:r>
            <a:rPr lang="vi-VN" sz="869" dirty="0">
              <a:solidFill>
                <a:srgbClr val="A8C4C0"/>
              </a:solidFill>
              <a:latin typeface="Aptos Display"/>
              <a:cs typeface="Arial"/>
            </a:rPr>
            <a:t>Camera IP gửi RTSP qua mạng LAN hoặc tunnel bảo mật.</a:t>
          </a:r>
        </a:p>
      </p:txBody>
    </p:sp>
    <p:sp>
      <p:nvSpPr>
        <p:cNvPr id="18" name="Panel"/>
        <p:cNvSpPr/>
        <p:nvPr/>
      </p:nvSpPr>
      <p:spPr>
        <a:xfrm>
          <a:off x="2968142" y="3520440"/>
          <a:ext cx="2008022" cy="1508760"/>
        </a:xfrm>
        <a:prstGeom prst="roundRect">
          <a:avLst/>
        </a:prstGeom>
        <a:solidFill>
          <a:srgbClr val="1A2B20">
            <a:alpha val="85000"/>
          </a:srgbClr>
        </a:solidFill>
        <a:ln w="12700">
          <a:solidFill>
            <a:srgbClr val="B8D8A4">
              <a:alpha val="52000"/>
            </a:srgbClr>
          </a:solidFill>
        </a:ln>
      </p:spPr>
    </p:sp>
    <p:sp>
      <p:nvSpPr>
        <p:cNvPr id="19" name="Text"/>
        <p:cNvSpPr txBox="1"/>
        <p:nvPr/>
      </p:nvSpPr>
      <p:spPr>
        <a:xfrm>
          <a:off x="3087014" y="3694176"/>
          <a:ext cx="1770278" cy="237744"/>
        </a:xfrm>
        <a:prstGeom prst="rect">
          <a:avLst/>
        </a:prstGeom>
        <a:noFill/>
        <a:ln>
          <a:noFill/>
        </a:ln>
      </p:spPr>
      <p:txBody>
        <a:bodyPr wrap="square" anchor="t"/>
        <a:lstStyle/>
        <a:p>
          <a:pPr algn="l"/>
          <a:r>
            <a:rPr lang="vi-VN" sz="1300" dirty="0">
              <a:b/>
              <a:solidFill>
                <a:srgbClr val="70F0A8"/>
              </a:solidFill>
              <a:latin typeface="Aptos Display"/>
              <a:cs typeface="Arial"/>
            </a:rPr>
            <a:t>02</a:t>
          </a:r>
        </a:p>
      </p:txBody>
    </p:sp>
    <p:sp>
      <p:nvSpPr>
        <p:cNvPr id="20" name="Text"/>
        <p:cNvSpPr txBox="1"/>
        <p:nvPr/>
      </p:nvSpPr>
      <p:spPr>
        <a:xfrm>
          <a:off x="3087014" y="4133087"/>
          <a:ext cx="1770278" cy="256032"/>
        </a:xfrm>
        <a:prstGeom prst="rect">
          <a:avLst/>
        </a:prstGeom>
        <a:noFill/>
        <a:ln>
          <a:noFill/>
        </a:ln>
      </p:spPr>
      <p:txBody>
        <a:bodyPr wrap="square" anchor="t"/>
        <a:lstStyle/>
        <a:p>
          <a:pPr algn="l"/>
          <a:r>
            <a:rPr lang="vi-VN" sz="1420" dirty="0">
              <a:b/>
              <a:solidFill>
                <a:srgbClr val="EEFDF8"/>
              </a:solidFill>
              <a:latin typeface="Aptos Display"/>
              <a:cs typeface="Arial"/>
            </a:rPr>
            <a:t>Infer</a:t>
          </a:r>
        </a:p>
      </p:txBody>
    </p:sp>
    <p:sp>
      <p:nvSpPr>
        <p:cNvPr id="21" name="Text"/>
        <p:cNvSpPr txBox="1"/>
        <p:nvPr/>
      </p:nvSpPr>
      <p:spPr>
        <a:xfrm>
          <a:off x="3087014" y="4489704"/>
          <a:ext cx="1770278" cy="384048"/>
        </a:xfrm>
        <a:prstGeom prst="rect">
          <a:avLst/>
        </a:prstGeom>
        <a:noFill/>
        <a:ln>
          <a:noFill/>
        </a:ln>
      </p:spPr>
      <p:txBody>
        <a:bodyPr wrap="square" anchor="t"/>
        <a:lstStyle/>
        <a:p>
          <a:pPr algn="l"/>
          <a:r>
            <a:rPr lang="vi-VN" sz="869" dirty="0">
              <a:solidFill>
                <a:srgbClr val="A8C4C0"/>
              </a:solidFill>
              <a:latin typeface="Aptos Display"/>
              <a:cs typeface="Arial"/>
            </a:rPr>
            <a:t>Model pose/face chạy inference và bám theo người trong khung hình.</a:t>
          </a:r>
        </a:p>
      </p:txBody>
    </p:sp>
    <p:sp>
      <p:nvSpPr>
        <p:cNvPr id="22" name="Panel"/>
        <p:cNvSpPr/>
        <p:nvPr/>
      </p:nvSpPr>
      <p:spPr>
        <a:xfrm>
          <a:off x="5095036" y="3520440"/>
          <a:ext cx="2008022" cy="1508760"/>
        </a:xfrm>
        <a:prstGeom prst="roundRect">
          <a:avLst/>
        </a:prstGeom>
        <a:solidFill>
          <a:srgbClr val="1A2B20">
            <a:alpha val="85000"/>
          </a:srgbClr>
        </a:solidFill>
        <a:ln w="12700">
          <a:solidFill>
            <a:srgbClr val="B8D8A4">
              <a:alpha val="52000"/>
            </a:srgbClr>
          </a:solidFill>
        </a:ln>
      </p:spPr>
    </p:sp>
    <p:sp>
      <p:nvSpPr>
        <p:cNvPr id="23" name="Text"/>
        <p:cNvSpPr txBox="1"/>
        <p:nvPr/>
      </p:nvSpPr>
      <p:spPr>
        <a:xfrm>
          <a:off x="5213908" y="3694176"/>
          <a:ext cx="1770278" cy="237744"/>
        </a:xfrm>
        <a:prstGeom prst="rect">
          <a:avLst/>
        </a:prstGeom>
        <a:noFill/>
        <a:ln>
          <a:noFill/>
        </a:ln>
      </p:spPr>
      <p:txBody>
        <a:bodyPr wrap="square" anchor="t"/>
        <a:lstStyle/>
        <a:p>
          <a:pPr algn="l"/>
          <a:r>
            <a:rPr lang="vi-VN" sz="1300" dirty="0">
              <a:b/>
              <a:solidFill>
                <a:srgbClr val="70F0A8"/>
              </a:solidFill>
              <a:latin typeface="Aptos Display"/>
              <a:cs typeface="Arial"/>
            </a:rPr>
            <a:t>03</a:t>
          </a:r>
        </a:p>
      </p:txBody>
    </p:sp>
    <p:sp>
      <p:nvSpPr>
        <p:cNvPr id="24" name="Text"/>
        <p:cNvSpPr txBox="1"/>
        <p:nvPr/>
      </p:nvSpPr>
      <p:spPr>
        <a:xfrm>
          <a:off x="5213908" y="4133087"/>
          <a:ext cx="1770278" cy="256032"/>
        </a:xfrm>
        <a:prstGeom prst="rect">
          <a:avLst/>
        </a:prstGeom>
        <a:noFill/>
        <a:ln>
          <a:noFill/>
        </a:ln>
      </p:spPr>
      <p:txBody>
        <a:bodyPr wrap="square" anchor="t"/>
        <a:lstStyle/>
        <a:p>
          <a:pPr algn="l"/>
          <a:r>
            <a:rPr lang="vi-VN" sz="1420" dirty="0">
              <a:b/>
              <a:solidFill>
                <a:srgbClr val="EEFDF8"/>
              </a:solidFill>
              <a:latin typeface="Aptos Display"/>
              <a:cs typeface="Arial"/>
            </a:rPr>
            <a:t>Classify</a:t>
          </a:r>
        </a:p>
      </p:txBody>
    </p:sp>
    <p:sp>
      <p:nvSpPr>
        <p:cNvPr id="25" name="Text"/>
        <p:cNvSpPr txBox="1"/>
        <p:nvPr/>
      </p:nvSpPr>
      <p:spPr>
        <a:xfrm>
          <a:off x="5213908" y="4489704"/>
          <a:ext cx="1770278" cy="384048"/>
        </a:xfrm>
        <a:prstGeom prst="rect">
          <a:avLst/>
        </a:prstGeom>
        <a:noFill/>
        <a:ln>
          <a:noFill/>
        </a:ln>
      </p:spPr>
      <p:txBody>
        <a:bodyPr wrap="square" anchor="t"/>
        <a:lstStyle/>
        <a:p>
          <a:pPr algn="l"/>
          <a:r>
            <a:rPr lang="vi-VN" sz="869" dirty="0">
              <a:solidFill>
                <a:srgbClr val="A8C4C0"/>
              </a:solidFill>
              <a:latin typeface="Aptos Display"/>
              <a:cs typeface="Arial"/>
            </a:rPr>
            <a:t>Temporal classifier xác định té ngã, bất động hoặc người lạ.</a:t>
          </a:r>
        </a:p>
      </p:txBody>
    </p:sp>
    <p:sp>
      <p:nvSpPr>
        <p:cNvPr id="26" name="Panel"/>
        <p:cNvSpPr/>
        <p:nvPr/>
      </p:nvSpPr>
      <p:spPr>
        <a:xfrm>
          <a:off x="7221931" y="3520440"/>
          <a:ext cx="2008022" cy="1508760"/>
        </a:xfrm>
        <a:prstGeom prst="roundRect">
          <a:avLst/>
        </a:prstGeom>
        <a:solidFill>
          <a:srgbClr val="1A2B20">
            <a:alpha val="85000"/>
          </a:srgbClr>
        </a:solidFill>
        <a:ln w="12700">
          <a:solidFill>
            <a:srgbClr val="B8D8A4">
              <a:alpha val="52000"/>
            </a:srgbClr>
          </a:solidFill>
        </a:ln>
      </p:spPr>
    </p:sp>
    <p:sp>
      <p:nvSpPr>
        <p:cNvPr id="27" name="Text"/>
        <p:cNvSpPr txBox="1"/>
        <p:nvPr/>
      </p:nvSpPr>
      <p:spPr>
        <a:xfrm>
          <a:off x="7340803" y="3694176"/>
          <a:ext cx="1770278" cy="237744"/>
        </a:xfrm>
        <a:prstGeom prst="rect">
          <a:avLst/>
        </a:prstGeom>
        <a:noFill/>
        <a:ln>
          <a:noFill/>
        </a:ln>
      </p:spPr>
      <p:txBody>
        <a:bodyPr wrap="square" anchor="t"/>
        <a:lstStyle/>
        <a:p>
          <a:pPr algn="l"/>
          <a:r>
            <a:rPr lang="vi-VN" sz="1300" dirty="0">
              <a:b/>
              <a:solidFill>
                <a:srgbClr val="70F0A8"/>
              </a:solidFill>
              <a:latin typeface="Aptos Display"/>
              <a:cs typeface="Arial"/>
            </a:rPr>
            <a:t>04</a:t>
          </a:r>
        </a:p>
      </p:txBody>
    </p:sp>
    <p:sp>
      <p:nvSpPr>
        <p:cNvPr id="28" name="Text"/>
        <p:cNvSpPr txBox="1"/>
        <p:nvPr/>
      </p:nvSpPr>
      <p:spPr>
        <a:xfrm>
          <a:off x="7340803" y="4133087"/>
          <a:ext cx="1770278" cy="256032"/>
        </a:xfrm>
        <a:prstGeom prst="rect">
          <a:avLst/>
        </a:prstGeom>
        <a:noFill/>
        <a:ln>
          <a:noFill/>
        </a:ln>
      </p:spPr>
      <p:txBody>
        <a:bodyPr wrap="square" anchor="t"/>
        <a:lstStyle/>
        <a:p>
          <a:pPr algn="l"/>
          <a:r>
            <a:rPr lang="vi-VN" sz="1420" dirty="0">
              <a:b/>
              <a:solidFill>
                <a:srgbClr val="EEFDF8"/>
              </a:solidFill>
              <a:latin typeface="Aptos Display"/>
              <a:cs typeface="Arial"/>
            </a:rPr>
            <a:t>Alert</a:t>
          </a:r>
        </a:p>
      </p:txBody>
    </p:sp>
    <p:sp>
      <p:nvSpPr>
        <p:cNvPr id="29" name="Text"/>
        <p:cNvSpPr txBox="1"/>
        <p:nvPr/>
      </p:nvSpPr>
      <p:spPr>
        <a:xfrm>
          <a:off x="7340803" y="4489704"/>
          <a:ext cx="1770278" cy="384048"/>
        </a:xfrm>
        <a:prstGeom prst="rect">
          <a:avLst/>
        </a:prstGeom>
        <a:noFill/>
        <a:ln>
          <a:noFill/>
        </a:ln>
      </p:spPr>
      <p:txBody>
        <a:bodyPr wrap="square" anchor="t"/>
        <a:lstStyle/>
        <a:p>
          <a:pPr algn="l"/>
          <a:r>
            <a:rPr lang="vi-VN" sz="869" dirty="0">
              <a:solidFill>
                <a:srgbClr val="A8C4C0"/>
              </a:solidFill>
              <a:latin typeface="Aptos Display"/>
              <a:cs typeface="Arial"/>
            </a:rPr>
            <a:t>Hệ thống gửi cảnh báo real-time kèm bằng chứng.</a:t>
          </a:r>
        </a:p>
      </p:txBody>
    </p:sp>
    <p:sp>
      <p:nvSpPr>
        <p:cNvPr id="30" name="Panel"/>
        <p:cNvSpPr/>
        <p:nvPr/>
      </p:nvSpPr>
      <p:spPr>
        <a:xfrm>
          <a:off x="9348825" y="3520440"/>
          <a:ext cx="2008022" cy="1508760"/>
        </a:xfrm>
        <a:prstGeom prst="roundRect">
          <a:avLst/>
        </a:prstGeom>
        <a:solidFill>
          <a:srgbClr val="1A2B20">
            <a:alpha val="85000"/>
          </a:srgbClr>
        </a:solidFill>
        <a:ln w="12700">
          <a:solidFill>
            <a:srgbClr val="B8D8A4">
              <a:alpha val="52000"/>
            </a:srgbClr>
          </a:solidFill>
        </a:ln>
      </p:spPr>
    </p:sp>
    <p:sp>
      <p:nvSpPr>
        <p:cNvPr id="31" name="Text"/>
        <p:cNvSpPr txBox="1"/>
        <p:nvPr/>
      </p:nvSpPr>
      <p:spPr>
        <a:xfrm>
          <a:off x="9467697" y="3694176"/>
          <a:ext cx="1770278" cy="237744"/>
        </a:xfrm>
        <a:prstGeom prst="rect">
          <a:avLst/>
        </a:prstGeom>
        <a:noFill/>
        <a:ln>
          <a:noFill/>
        </a:ln>
      </p:spPr>
      <p:txBody>
        <a:bodyPr wrap="square" anchor="t"/>
        <a:lstStyle/>
        <a:p>
          <a:pPr algn="l"/>
          <a:r>
            <a:rPr lang="vi-VN" sz="1300" dirty="0">
              <a:b/>
              <a:solidFill>
                <a:srgbClr val="70F0A8"/>
              </a:solidFill>
              <a:latin typeface="Aptos Display"/>
              <a:cs typeface="Arial"/>
            </a:rPr>
            <a:t>05</a:t>
          </a:r>
        </a:p>
      </p:txBody>
    </p:sp>
    <p:sp>
      <p:nvSpPr>
        <p:cNvPr id="32" name="Text"/>
        <p:cNvSpPr txBox="1"/>
        <p:nvPr/>
      </p:nvSpPr>
      <p:spPr>
        <a:xfrm>
          <a:off x="9467697" y="4133087"/>
          <a:ext cx="1770278" cy="256032"/>
        </a:xfrm>
        <a:prstGeom prst="rect">
          <a:avLst/>
        </a:prstGeom>
        <a:noFill/>
        <a:ln>
          <a:noFill/>
        </a:ln>
      </p:spPr>
      <p:txBody>
        <a:bodyPr wrap="square" anchor="t"/>
        <a:lstStyle/>
        <a:p>
          <a:pPr algn="l"/>
          <a:r>
            <a:rPr lang="vi-VN" sz="1420" dirty="0">
              <a:b/>
              <a:solidFill>
                <a:srgbClr val="EEFDF8"/>
              </a:solidFill>
              <a:latin typeface="Aptos Display"/>
              <a:cs typeface="Arial"/>
            </a:rPr>
            <a:t>Respond</a:t>
          </a:r>
        </a:p>
      </p:txBody>
    </p:sp>
    <p:sp>
      <p:nvSpPr>
        <p:cNvPr id="33" name="Text"/>
        <p:cNvSpPr txBox="1"/>
        <p:nvPr/>
      </p:nvSpPr>
      <p:spPr>
        <a:xfrm>
          <a:off x="9467697" y="4489704"/>
          <a:ext cx="1770278" cy="384048"/>
        </a:xfrm>
        <a:prstGeom prst="rect">
          <a:avLst/>
        </a:prstGeom>
        <a:noFill/>
        <a:ln>
          <a:noFill/>
        </a:ln>
      </p:spPr>
      <p:txBody>
        <a:bodyPr wrap="square" anchor="t"/>
        <a:lstStyle/>
        <a:p>
          <a:pPr algn="l"/>
          <a:r>
            <a:rPr lang="vi-VN" sz="869" dirty="0">
              <a:solidFill>
                <a:srgbClr val="A8C4C0"/>
              </a:solidFill>
              <a:latin typeface="Aptos Display"/>
              <a:cs typeface="Arial"/>
            </a:rPr>
            <a:t>Gia đình/admin/bác sĩ phối hợp xử lý trên app.</a:t>
          </a:r>
        </a:p>
      </p:txBody>
    </p:sp>
    <p:sp>
      <p:nvSpPr>
        <p:cNvPr id="34"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35" name="Text"/>
        <p:cNvSpPr txBox="1"/>
        <p:nvPr/>
      </p:nvSpPr>
      <p:spPr>
        <a:xfrm>
          <a:off x="96926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Camera</a:t>
          </a:r>
        </a:p>
      </p:txBody>
    </p:sp>
    <p:sp>
      <p:nvSpPr>
        <p:cNvPr id="36" name="Panel"/>
        <p:cNvSpPr/>
        <p:nvPr/>
      </p:nvSpPr>
      <p:spPr>
        <a:xfrm>
          <a:off x="1005840" y="5696712"/>
          <a:ext cx="292608" cy="155448"/>
        </a:xfrm>
        <a:prstGeom prst="roundRect">
          <a:avLst/>
        </a:prstGeom>
        <a:solidFill>
          <a:srgbClr val="59E0D0">
            <a:alpha val="100000"/>
          </a:srgbClr>
        </a:solidFill>
        <a:ln w="12700">
          <a:solidFill>
            <a:srgbClr val="59E0D0">
              <a:alpha val="52000"/>
            </a:srgbClr>
          </a:solidFill>
        </a:ln>
      </p:spPr>
    </p:sp>
    <p:sp>
      <p:nvSpPr>
        <p:cNvPr id="37" name="Panel"/>
        <p:cNvSpPr/>
        <p:nvPr/>
      </p:nvSpPr>
      <p:spPr>
        <a:xfrm>
          <a:off x="1399032" y="5634532"/>
          <a:ext cx="292608" cy="217627"/>
        </a:xfrm>
        <a:prstGeom prst="roundRect">
          <a:avLst/>
        </a:prstGeom>
        <a:solidFill>
          <a:srgbClr val="59E0D0">
            <a:alpha val="100000"/>
          </a:srgbClr>
        </a:solidFill>
        <a:ln w="12700">
          <a:solidFill>
            <a:srgbClr val="59E0D0">
              <a:alpha val="52000"/>
            </a:srgbClr>
          </a:solidFill>
        </a:ln>
      </p:spPr>
    </p:sp>
    <p:sp>
      <p:nvSpPr>
        <p:cNvPr id="38"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39" name="Text"/>
        <p:cNvSpPr txBox="1"/>
        <p:nvPr/>
      </p:nvSpPr>
      <p:spPr>
        <a:xfrm>
          <a:off x="320954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AI pipeline</a:t>
          </a:r>
        </a:p>
      </p:txBody>
    </p:sp>
    <p:sp>
      <p:nvSpPr>
        <p:cNvPr id="40" name="Panel"/>
        <p:cNvSpPr/>
        <p:nvPr/>
      </p:nvSpPr>
      <p:spPr>
        <a:xfrm>
          <a:off x="3246120" y="5743346"/>
          <a:ext cx="292608" cy="108813"/>
        </a:xfrm>
        <a:prstGeom prst="roundRect">
          <a:avLst/>
        </a:prstGeom>
        <a:solidFill>
          <a:srgbClr val="59E0D0">
            <a:alpha val="100000"/>
          </a:srgbClr>
        </a:solidFill>
        <a:ln w="12700">
          <a:solidFill>
            <a:srgbClr val="59E0D0">
              <a:alpha val="52000"/>
            </a:srgbClr>
          </a:solidFill>
        </a:ln>
      </p:spPr>
    </p:sp>
    <p:sp>
      <p:nvSpPr>
        <p:cNvPr id="41" name="Panel"/>
        <p:cNvSpPr/>
        <p:nvPr/>
      </p:nvSpPr>
      <p:spPr>
        <a:xfrm>
          <a:off x="3639312" y="5650077"/>
          <a:ext cx="292608" cy="202082"/>
        </a:xfrm>
        <a:prstGeom prst="roundRect">
          <a:avLst/>
        </a:prstGeom>
        <a:solidFill>
          <a:srgbClr val="59E0D0">
            <a:alpha val="100000"/>
          </a:srgbClr>
        </a:solidFill>
        <a:ln w="12700">
          <a:solidFill>
            <a:srgbClr val="59E0D0">
              <a:alpha val="52000"/>
            </a:srgbClr>
          </a:solidFill>
        </a:ln>
      </p:spPr>
    </p:sp>
    <p:sp>
      <p:nvSpPr>
        <p:cNvPr id="42" name="Panel"/>
        <p:cNvSpPr/>
        <p:nvPr/>
      </p:nvSpPr>
      <p:spPr>
        <a:xfrm>
          <a:off x="4032504" y="5572353"/>
          <a:ext cx="292608" cy="279806"/>
        </a:xfrm>
        <a:prstGeom prst="roundRect">
          <a:avLst/>
        </a:prstGeom>
        <a:solidFill>
          <a:srgbClr val="59E0D0">
            <a:alpha val="100000"/>
          </a:srgbClr>
        </a:solidFill>
        <a:ln w="12700">
          <a:solidFill>
            <a:srgbClr val="59E0D0">
              <a:alpha val="52000"/>
            </a:srgbClr>
          </a:solidFill>
        </a:ln>
      </p:spPr>
    </p:sp>
    <p:sp>
      <p:nvSpPr>
        <p:cNvPr id="43"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44" name="Text"/>
        <p:cNvSpPr txBox="1"/>
        <p:nvPr/>
      </p:nvSpPr>
      <p:spPr>
        <a:xfrm>
          <a:off x="544982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Response</a:t>
          </a:r>
        </a:p>
      </p:txBody>
    </p:sp>
    <p:sp>
      <p:nvSpPr>
        <p:cNvPr id="45" name="Panel"/>
        <p:cNvSpPr/>
        <p:nvPr/>
      </p:nvSpPr>
      <p:spPr>
        <a:xfrm>
          <a:off x="5486400" y="5712256"/>
          <a:ext cx="292608" cy="139903"/>
        </a:xfrm>
        <a:prstGeom prst="roundRect">
          <a:avLst/>
        </a:prstGeom>
        <a:solidFill>
          <a:srgbClr val="59E0D0">
            <a:alpha val="100000"/>
          </a:srgbClr>
        </a:solidFill>
        <a:ln w="12700">
          <a:solidFill>
            <a:srgbClr val="59E0D0">
              <a:alpha val="52000"/>
            </a:srgbClr>
          </a:solidFill>
        </a:ln>
      </p:spPr>
    </p:sp>
    <p:sp>
      <p:nvSpPr>
        <p:cNvPr id="46" name="Panel"/>
        <p:cNvSpPr/>
        <p:nvPr/>
      </p:nvSpPr>
      <p:spPr>
        <a:xfrm>
          <a:off x="5879592" y="5603443"/>
          <a:ext cx="292608" cy="248716"/>
        </a:xfrm>
        <a:prstGeom prst="roundRect">
          <a:avLst/>
        </a:prstGeom>
        <a:solidFill>
          <a:srgbClr val="59E0D0">
            <a:alpha val="100000"/>
          </a:srgbClr>
        </a:solidFill>
        <a:ln w="12700">
          <a:solidFill>
            <a:srgbClr val="59E0D0">
              <a:alpha val="52000"/>
            </a:srgbClr>
          </a:solidFill>
        </a:ln>
      </p:spPr>
    </p:sp>
    <p:sp>
      <p:nvSpPr>
        <p:cNvPr id="47"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05 / 13</a:t>
          </a:r>
        </a:p>
      </p:txBody>
    </p:sp>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System Architecture</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Kiến trúc triển khai thật: camera LAN, AI services, streaming và web app.</a:t>
          </a:r>
        </a:p>
      </p:txBody>
    </p:sp>
    <p:sp>
      <p:nvSpPr>
        <p:cNvPr id="14" name="Panel"/>
        <p:cNvSpPr/>
        <p:nvPr/>
      </p:nvSpPr>
      <p:spPr>
        <a:xfrm>
          <a:off x="594360" y="2395728"/>
          <a:ext cx="7543800" cy="3639312"/>
        </a:xfrm>
        <a:prstGeom prst="roundRect">
          <a:avLst/>
        </a:prstGeom>
        <a:solidFill>
          <a:srgbClr val="FFFFFF">
            <a:alpha val="98000"/>
          </a:srgbClr>
        </a:solidFill>
        <a:ln w="12700">
          <a:solidFill>
            <a:srgbClr val="B8D8A4">
              <a:alpha val="52000"/>
            </a:srgbClr>
          </a:solidFill>
        </a:ln>
      </p:spPr>
    </p:sp>
    <p:pic>
      <p:nvPicPr>
        <p:cNvPr id="15" name="overview-diagram.png"/>
        <p:cNvPicPr>
          <a:picLocks noChangeAspect="1"/>
        </p:cNvPicPr>
        <p:nvPr/>
      </p:nvPicPr>
      <p:blipFill>
        <a:blip r:embed="rId3"/>
        <a:stretch>
          <a:fillRect/>
        </a:stretch>
      </p:blipFill>
      <p:spPr>
        <a:xfrm>
          <a:off x="731520" y="2532888"/>
          <a:ext cx="7269480" cy="3364992"/>
        </a:xfrm>
        <a:prstGeom prst="rect">
          <a:avLst/>
        </a:prstGeom>
      </p:spPr>
    </p:pic>
    <p:sp>
      <p:nvSpPr>
        <p:cNvPr id="16" name="Panel"/>
        <p:cNvSpPr/>
        <p:nvPr/>
      </p:nvSpPr>
      <p:spPr>
        <a:xfrm>
          <a:off x="8339327" y="2395728"/>
          <a:ext cx="3044952" cy="621792"/>
        </a:xfrm>
        <a:prstGeom prst="roundRect">
          <a:avLst/>
        </a:prstGeom>
        <a:solidFill>
          <a:srgbClr val="1A2B20">
            <a:alpha val="85000"/>
          </a:srgbClr>
        </a:solidFill>
        <a:ln w="12700">
          <a:solidFill>
            <a:srgbClr val="B8D8A4">
              <a:alpha val="52000"/>
            </a:srgbClr>
          </a:solidFill>
        </a:ln>
      </p:spPr>
    </p:sp>
    <p:sp>
      <p:nvSpPr>
        <p:cNvPr id="17" name="Text"/>
        <p:cNvSpPr txBox="1"/>
        <p:nvPr/>
      </p:nvSpPr>
      <p:spPr>
        <a:xfrm>
          <a:off x="8476488" y="2478024"/>
          <a:ext cx="2743200" cy="164592"/>
        </a:xfrm>
        <a:prstGeom prst="rect">
          <a:avLst/>
        </a:prstGeom>
        <a:noFill/>
        <a:ln>
          <a:noFill/>
        </a:ln>
      </p:spPr>
      <p:txBody>
        <a:bodyPr wrap="square" anchor="t"/>
        <a:lstStyle/>
        <a:p>
          <a:pPr algn="l"/>
          <a:r>
            <a:rPr lang="vi-VN" sz="1080" dirty="0">
              <a:b/>
              <a:solidFill>
                <a:srgbClr val="EEFDF8"/>
              </a:solidFill>
              <a:latin typeface="Aptos Display"/>
              <a:cs typeface="Arial"/>
            </a:rPr>
            <a:t>Ingestion</a:t>
          </a:r>
        </a:p>
      </p:txBody>
    </p:sp>
    <p:sp>
      <p:nvSpPr>
        <p:cNvPr id="18" name="Text"/>
        <p:cNvSpPr txBox="1"/>
        <p:nvPr/>
      </p:nvSpPr>
      <p:spPr>
        <a:xfrm>
          <a:off x="8476488" y="2679192"/>
          <a:ext cx="2706624" cy="192024"/>
        </a:xfrm>
        <a:prstGeom prst="rect">
          <a:avLst/>
        </a:prstGeom>
        <a:noFill/>
        <a:ln>
          <a:noFill/>
        </a:ln>
      </p:spPr>
      <p:txBody>
        <a:bodyPr wrap="square" anchor="t"/>
        <a:lstStyle/>
        <a:p>
          <a:pPr algn="l"/>
          <a:r>
            <a:rPr lang="vi-VN" sz="680" dirty="0">
              <a:solidFill>
                <a:srgbClr val="A8C4C0"/>
              </a:solidFill>
              <a:latin typeface="Aptos Display"/>
              <a:cs typeface="Arial"/>
            </a:rPr>
            <a:t>IMOU/IP Camera qua RTSP, SSH reverse tunnel, MediaMTX và FFmpeg.</a:t>
          </a:r>
        </a:p>
      </p:txBody>
    </p:sp>
    <p:sp>
      <p:nvSpPr>
        <p:cNvPr id="19" name="Panel"/>
        <p:cNvSpPr/>
        <p:nvPr/>
      </p:nvSpPr>
      <p:spPr>
        <a:xfrm>
          <a:off x="8339327" y="3163824"/>
          <a:ext cx="3044952" cy="621792"/>
        </a:xfrm>
        <a:prstGeom prst="roundRect">
          <a:avLst/>
        </a:prstGeom>
        <a:solidFill>
          <a:srgbClr val="1A2B20">
            <a:alpha val="85000"/>
          </a:srgbClr>
        </a:solidFill>
        <a:ln w="12700">
          <a:solidFill>
            <a:srgbClr val="B8D8A4">
              <a:alpha val="52000"/>
            </a:srgbClr>
          </a:solidFill>
        </a:ln>
      </p:spPr>
    </p:sp>
    <p:sp>
      <p:nvSpPr>
        <p:cNvPr id="20" name="Text"/>
        <p:cNvSpPr txBox="1"/>
        <p:nvPr/>
      </p:nvSpPr>
      <p:spPr>
        <a:xfrm>
          <a:off x="8476488" y="3246120"/>
          <a:ext cx="2743200" cy="164592"/>
        </a:xfrm>
        <a:prstGeom prst="rect">
          <a:avLst/>
        </a:prstGeom>
        <a:noFill/>
        <a:ln>
          <a:noFill/>
        </a:ln>
      </p:spPr>
      <p:txBody>
        <a:bodyPr wrap="square" anchor="t"/>
        <a:lstStyle/>
        <a:p>
          <a:pPr algn="l"/>
          <a:r>
            <a:rPr lang="vi-VN" sz="1080" dirty="0">
              <a:b/>
              <a:solidFill>
                <a:srgbClr val="EEFDF8"/>
              </a:solidFill>
              <a:latin typeface="Aptos Display"/>
              <a:cs typeface="Arial"/>
            </a:rPr>
            <a:t>AI pipeline</a:t>
          </a:r>
        </a:p>
      </p:txBody>
    </p:sp>
    <p:sp>
      <p:nvSpPr>
        <p:cNvPr id="21" name="Text"/>
        <p:cNvSpPr txBox="1"/>
        <p:nvPr/>
      </p:nvSpPr>
      <p:spPr>
        <a:xfrm>
          <a:off x="8476488" y="3447288"/>
          <a:ext cx="2706624" cy="192024"/>
        </a:xfrm>
        <a:prstGeom prst="rect">
          <a:avLst/>
        </a:prstGeom>
        <a:noFill/>
        <a:ln>
          <a:noFill/>
        </a:ln>
      </p:spPr>
      <p:txBody>
        <a:bodyPr wrap="square" anchor="t"/>
        <a:lstStyle/>
        <a:p>
          <a:pPr algn="l"/>
          <a:r>
            <a:rPr lang="vi-VN" sz="680" dirty="0">
              <a:solidFill>
                <a:srgbClr val="A8C4C0"/>
              </a:solidFill>
              <a:latin typeface="Aptos Display"/>
              <a:cs typeface="Arial"/>
            </a:rPr>
            <a:t>YOLO Pose ONNX, ONNX Runtime, OpenCV, ByteTrack, Temporal Fall Classifier, YuNet &amp; SFace.</a:t>
          </a:r>
        </a:p>
      </p:txBody>
    </p:sp>
    <p:sp>
      <p:nvSpPr>
        <p:cNvPr id="22" name="Panel"/>
        <p:cNvSpPr/>
        <p:nvPr/>
      </p:nvSpPr>
      <p:spPr>
        <a:xfrm>
          <a:off x="8339327" y="3931920"/>
          <a:ext cx="3044952" cy="621792"/>
        </a:xfrm>
        <a:prstGeom prst="roundRect">
          <a:avLst/>
        </a:prstGeom>
        <a:solidFill>
          <a:srgbClr val="1A2B20">
            <a:alpha val="85000"/>
          </a:srgbClr>
        </a:solidFill>
        <a:ln w="12700">
          <a:solidFill>
            <a:srgbClr val="B8D8A4">
              <a:alpha val="52000"/>
            </a:srgbClr>
          </a:solidFill>
        </a:ln>
      </p:spPr>
    </p:sp>
    <p:sp>
      <p:nvSpPr>
        <p:cNvPr id="23" name="Text"/>
        <p:cNvSpPr txBox="1"/>
        <p:nvPr/>
      </p:nvSpPr>
      <p:spPr>
        <a:xfrm>
          <a:off x="8476488" y="4014215"/>
          <a:ext cx="2743200" cy="164592"/>
        </a:xfrm>
        <a:prstGeom prst="rect">
          <a:avLst/>
        </a:prstGeom>
        <a:noFill/>
        <a:ln>
          <a:noFill/>
        </a:ln>
      </p:spPr>
      <p:txBody>
        <a:bodyPr wrap="square" anchor="t"/>
        <a:lstStyle/>
        <a:p>
          <a:pPr algn="l"/>
          <a:r>
            <a:rPr lang="vi-VN" sz="1080" dirty="0">
              <a:b/>
              <a:solidFill>
                <a:srgbClr val="EEFDF8"/>
              </a:solidFill>
              <a:latin typeface="Aptos Display"/>
              <a:cs typeface="Arial"/>
            </a:rPr>
            <a:t>Backend</a:t>
          </a:r>
        </a:p>
      </p:txBody>
    </p:sp>
    <p:sp>
      <p:nvSpPr>
        <p:cNvPr id="24" name="Text"/>
        <p:cNvSpPr txBox="1"/>
        <p:nvPr/>
      </p:nvSpPr>
      <p:spPr>
        <a:xfrm>
          <a:off x="8476488" y="4215383"/>
          <a:ext cx="2706624" cy="192024"/>
        </a:xfrm>
        <a:prstGeom prst="rect">
          <a:avLst/>
        </a:prstGeom>
        <a:noFill/>
        <a:ln>
          <a:noFill/>
        </a:ln>
      </p:spPr>
      <p:txBody>
        <a:bodyPr wrap="square" anchor="t"/>
        <a:lstStyle/>
        <a:p>
          <a:pPr algn="l"/>
          <a:r>
            <a:rPr lang="vi-VN" sz="680" dirty="0">
              <a:solidFill>
                <a:srgbClr val="A8C4C0"/>
              </a:solidFill>
              <a:latin typeface="Aptos Display"/>
              <a:cs typeface="Arial"/>
            </a:rPr>
            <a:t>FastAPI, WebSocket, Pydantic, LangChain/LangGraph điều phối alert và quyền truy cập.</a:t>
          </a:r>
        </a:p>
      </p:txBody>
    </p:sp>
    <p:sp>
      <p:nvSpPr>
        <p:cNvPr id="25" name="Panel"/>
        <p:cNvSpPr/>
        <p:nvPr/>
      </p:nvSpPr>
      <p:spPr>
        <a:xfrm>
          <a:off x="8339327" y="4700016"/>
          <a:ext cx="3044952" cy="621792"/>
        </a:xfrm>
        <a:prstGeom prst="roundRect">
          <a:avLst/>
        </a:prstGeom>
        <a:solidFill>
          <a:srgbClr val="1A2B20">
            <a:alpha val="85000"/>
          </a:srgbClr>
        </a:solidFill>
        <a:ln w="12700">
          <a:solidFill>
            <a:srgbClr val="B8D8A4">
              <a:alpha val="52000"/>
            </a:srgbClr>
          </a:solidFill>
        </a:ln>
      </p:spPr>
    </p:sp>
    <p:sp>
      <p:nvSpPr>
        <p:cNvPr id="26" name="Text"/>
        <p:cNvSpPr txBox="1"/>
        <p:nvPr/>
      </p:nvSpPr>
      <p:spPr>
        <a:xfrm>
          <a:off x="8476488" y="4782312"/>
          <a:ext cx="2743200" cy="164592"/>
        </a:xfrm>
        <a:prstGeom prst="rect">
          <a:avLst/>
        </a:prstGeom>
        <a:noFill/>
        <a:ln>
          <a:noFill/>
        </a:ln>
      </p:spPr>
      <p:txBody>
        <a:bodyPr wrap="square" anchor="t"/>
        <a:lstStyle/>
        <a:p>
          <a:pPr algn="l"/>
          <a:r>
            <a:rPr lang="vi-VN" sz="1080" dirty="0">
              <a:b/>
              <a:solidFill>
                <a:srgbClr val="EEFDF8"/>
              </a:solidFill>
              <a:latin typeface="Aptos Display"/>
              <a:cs typeface="Arial"/>
            </a:rPr>
            <a:t>Data layer</a:t>
          </a:r>
        </a:p>
      </p:txBody>
    </p:sp>
    <p:sp>
      <p:nvSpPr>
        <p:cNvPr id="27" name="Text"/>
        <p:cNvSpPr txBox="1"/>
        <p:nvPr/>
      </p:nvSpPr>
      <p:spPr>
        <a:xfrm>
          <a:off x="8476488" y="4983480"/>
          <a:ext cx="2706624" cy="192024"/>
        </a:xfrm>
        <a:prstGeom prst="rect">
          <a:avLst/>
        </a:prstGeom>
        <a:noFill/>
        <a:ln>
          <a:noFill/>
        </a:ln>
      </p:spPr>
      <p:txBody>
        <a:bodyPr wrap="square" anchor="t"/>
        <a:lstStyle/>
        <a:p>
          <a:pPr algn="l"/>
          <a:r>
            <a:rPr lang="vi-VN" sz="680" dirty="0">
              <a:solidFill>
                <a:srgbClr val="A8C4C0"/>
              </a:solidFill>
              <a:latin typeface="Aptos Display"/>
              <a:cs typeface="Arial"/>
            </a:rPr>
            <a:t>PostgreSQL metadata, Redis cache, MinIO cho snapshot/video evidence.</a:t>
          </a:r>
        </a:p>
      </p:txBody>
    </p:sp>
    <p:sp>
      <p:nvSpPr>
        <p:cNvPr id="28"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06 / 13</a:t>
          </a:r>
        </a:p>
      </p:txBody>
    </p:sp>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Tech Stack</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Nền tảng đủ sâu để chạy real-time, đủ gọn để triển khai thực tế.</a:t>
          </a:r>
        </a:p>
      </p:txBody>
    </p:sp>
    <p:sp>
      <p:nvSpPr>
        <p:cNvPr id="14" name="Panel"/>
        <p:cNvSpPr/>
        <p:nvPr/>
      </p:nvSpPr>
      <p:spPr>
        <a:xfrm>
          <a:off x="841248" y="3429000"/>
          <a:ext cx="3395472" cy="987552"/>
        </a:xfrm>
        <a:prstGeom prst="roundRect">
          <a:avLst/>
        </a:prstGeom>
        <a:solidFill>
          <a:srgbClr val="1F3022">
            <a:alpha val="85000"/>
          </a:srgbClr>
        </a:solidFill>
        <a:ln w="12700">
          <a:solidFill>
            <a:srgbClr val="B8D8A4">
              <a:alpha val="52000"/>
            </a:srgbClr>
          </a:solidFill>
        </a:ln>
      </p:spPr>
    </p:sp>
    <p:sp>
      <p:nvSpPr>
        <p:cNvPr id="15" name="Text"/>
        <p:cNvSpPr txBox="1"/>
        <p:nvPr/>
      </p:nvSpPr>
      <p:spPr>
        <a:xfrm>
          <a:off x="987552" y="3547872"/>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Computer Vision</a:t>
          </a:r>
        </a:p>
      </p:txBody>
    </p:sp>
    <p:sp>
      <p:nvSpPr>
        <p:cNvPr id="16" name="Text"/>
        <p:cNvSpPr txBox="1"/>
        <p:nvPr/>
      </p:nvSpPr>
      <p:spPr>
        <a:xfrm>
          <a:off x="987552" y="384048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YOLO Pose, ONNX Runtime, OpenCV, ByteTrack, Temporal Fall Classifier, YuNet &amp; SFace.</a:t>
          </a:r>
        </a:p>
      </p:txBody>
    </p:sp>
    <p:sp>
      <p:nvSpPr>
        <p:cNvPr id="17" name="Panel"/>
        <p:cNvSpPr/>
        <p:nvPr/>
      </p:nvSpPr>
      <p:spPr>
        <a:xfrm>
          <a:off x="4401312" y="3429000"/>
          <a:ext cx="3395472" cy="987552"/>
        </a:xfrm>
        <a:prstGeom prst="roundRect">
          <a:avLst/>
        </a:prstGeom>
        <a:solidFill>
          <a:srgbClr val="1F3022">
            <a:alpha val="85000"/>
          </a:srgbClr>
        </a:solidFill>
        <a:ln w="12700">
          <a:solidFill>
            <a:srgbClr val="B8D8A4">
              <a:alpha val="52000"/>
            </a:srgbClr>
          </a:solidFill>
        </a:ln>
      </p:spPr>
    </p:sp>
    <p:sp>
      <p:nvSpPr>
        <p:cNvPr id="18" name="Text"/>
        <p:cNvSpPr txBox="1"/>
        <p:nvPr/>
      </p:nvSpPr>
      <p:spPr>
        <a:xfrm>
          <a:off x="4547616" y="3547872"/>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Streaming</a:t>
          </a:r>
        </a:p>
      </p:txBody>
    </p:sp>
    <p:sp>
      <p:nvSpPr>
        <p:cNvPr id="19" name="Text"/>
        <p:cNvSpPr txBox="1"/>
        <p:nvPr/>
      </p:nvSpPr>
      <p:spPr>
        <a:xfrm>
          <a:off x="4547616" y="384048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MediaMTX, WebRTC/HLS, FFmpeg và SSH Reverse Tunnel cho camera LAN.</a:t>
          </a:r>
        </a:p>
      </p:txBody>
    </p:sp>
    <p:sp>
      <p:nvSpPr>
        <p:cNvPr id="20" name="Panel"/>
        <p:cNvSpPr/>
        <p:nvPr/>
      </p:nvSpPr>
      <p:spPr>
        <a:xfrm>
          <a:off x="7961376" y="3429000"/>
          <a:ext cx="3395472" cy="987552"/>
        </a:xfrm>
        <a:prstGeom prst="roundRect">
          <a:avLst/>
        </a:prstGeom>
        <a:solidFill>
          <a:srgbClr val="1F3022">
            <a:alpha val="85000"/>
          </a:srgbClr>
        </a:solidFill>
        <a:ln w="12700">
          <a:solidFill>
            <a:srgbClr val="B8D8A4">
              <a:alpha val="52000"/>
            </a:srgbClr>
          </a:solidFill>
        </a:ln>
      </p:spPr>
    </p:sp>
    <p:sp>
      <p:nvSpPr>
        <p:cNvPr id="21" name="Text"/>
        <p:cNvSpPr txBox="1"/>
        <p:nvPr/>
      </p:nvSpPr>
      <p:spPr>
        <a:xfrm>
          <a:off x="8107680" y="3547872"/>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Frontend</a:t>
          </a:r>
        </a:p>
      </p:txBody>
    </p:sp>
    <p:sp>
      <p:nvSpPr>
        <p:cNvPr id="22" name="Text"/>
        <p:cNvSpPr txBox="1"/>
        <p:nvPr/>
      </p:nvSpPr>
      <p:spPr>
        <a:xfrm>
          <a:off x="8107680" y="3840480"/>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React, TypeScript, Vite, hls.js, Canvas overlay; prototype React Native.</a:t>
          </a:r>
        </a:p>
      </p:txBody>
    </p:sp>
    <p:sp>
      <p:nvSpPr>
        <p:cNvPr id="23" name="Panel"/>
        <p:cNvSpPr/>
        <p:nvPr/>
      </p:nvSpPr>
      <p:spPr>
        <a:xfrm>
          <a:off x="841248" y="4636008"/>
          <a:ext cx="3395472" cy="987552"/>
        </a:xfrm>
        <a:prstGeom prst="roundRect">
          <a:avLst/>
        </a:prstGeom>
        <a:solidFill>
          <a:srgbClr val="1F3022">
            <a:alpha val="85000"/>
          </a:srgbClr>
        </a:solidFill>
        <a:ln w="12700">
          <a:solidFill>
            <a:srgbClr val="B8D8A4">
              <a:alpha val="52000"/>
            </a:srgbClr>
          </a:solidFill>
        </a:ln>
      </p:spPr>
    </p:sp>
    <p:sp>
      <p:nvSpPr>
        <p:cNvPr id="24" name="Text"/>
        <p:cNvSpPr txBox="1"/>
        <p:nvPr/>
      </p:nvSpPr>
      <p:spPr>
        <a:xfrm>
          <a:off x="987552" y="4754880"/>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Backend</a:t>
          </a:r>
        </a:p>
      </p:txBody>
    </p:sp>
    <p:sp>
      <p:nvSpPr>
        <p:cNvPr id="25" name="Text"/>
        <p:cNvSpPr txBox="1"/>
        <p:nvPr/>
      </p:nvSpPr>
      <p:spPr>
        <a:xfrm>
          <a:off x="987552" y="5047488"/>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FastAPI, WebSocket, Pydantic, LangChain/LangGraph cho workflow cảnh báo.</a:t>
          </a:r>
        </a:p>
      </p:txBody>
    </p:sp>
    <p:sp>
      <p:nvSpPr>
        <p:cNvPr id="26" name="Panel"/>
        <p:cNvSpPr/>
        <p:nvPr/>
      </p:nvSpPr>
      <p:spPr>
        <a:xfrm>
          <a:off x="4401312" y="4636008"/>
          <a:ext cx="3395472" cy="987552"/>
        </a:xfrm>
        <a:prstGeom prst="roundRect">
          <a:avLst/>
        </a:prstGeom>
        <a:solidFill>
          <a:srgbClr val="1F3022">
            <a:alpha val="85000"/>
          </a:srgbClr>
        </a:solidFill>
        <a:ln w="12700">
          <a:solidFill>
            <a:srgbClr val="B8D8A4">
              <a:alpha val="52000"/>
            </a:srgbClr>
          </a:solidFill>
        </a:ln>
      </p:spPr>
    </p:sp>
    <p:sp>
      <p:nvSpPr>
        <p:cNvPr id="27" name="Text"/>
        <p:cNvSpPr txBox="1"/>
        <p:nvPr/>
      </p:nvSpPr>
      <p:spPr>
        <a:xfrm>
          <a:off x="4547616" y="4754880"/>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Storage</a:t>
          </a:r>
        </a:p>
      </p:txBody>
    </p:sp>
    <p:sp>
      <p:nvSpPr>
        <p:cNvPr id="28" name="Text"/>
        <p:cNvSpPr txBox="1"/>
        <p:nvPr/>
      </p:nvSpPr>
      <p:spPr>
        <a:xfrm>
          <a:off x="4547616" y="5047488"/>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PostgreSQL, Redis và MinIO để lưu metadata, cache và object evidence.</a:t>
          </a:r>
        </a:p>
      </p:txBody>
    </p:sp>
    <p:sp>
      <p:nvSpPr>
        <p:cNvPr id="29" name="Panel"/>
        <p:cNvSpPr/>
        <p:nvPr/>
      </p:nvSpPr>
      <p:spPr>
        <a:xfrm>
          <a:off x="7961376" y="4636008"/>
          <a:ext cx="3395472" cy="987552"/>
        </a:xfrm>
        <a:prstGeom prst="roundRect">
          <a:avLst/>
        </a:prstGeom>
        <a:solidFill>
          <a:srgbClr val="1F3022">
            <a:alpha val="85000"/>
          </a:srgbClr>
        </a:solidFill>
        <a:ln w="12700">
          <a:solidFill>
            <a:srgbClr val="B8D8A4">
              <a:alpha val="52000"/>
            </a:srgbClr>
          </a:solidFill>
        </a:ln>
      </p:spPr>
    </p:sp>
    <p:sp>
      <p:nvSpPr>
        <p:cNvPr id="30" name="Text"/>
        <p:cNvSpPr txBox="1"/>
        <p:nvPr/>
      </p:nvSpPr>
      <p:spPr>
        <a:xfrm>
          <a:off x="8107680" y="4754880"/>
          <a:ext cx="3102864" cy="256032"/>
        </a:xfrm>
        <a:prstGeom prst="rect">
          <a:avLst/>
        </a:prstGeom>
        <a:noFill/>
        <a:ln>
          <a:noFill/>
        </a:ln>
      </p:spPr>
      <p:txBody>
        <a:bodyPr wrap="square" anchor="t"/>
        <a:lstStyle/>
        <a:p>
          <a:pPr algn="l"/>
          <a:r>
            <a:rPr lang="vi-VN" sz="1560" dirty="0">
              <a:b/>
              <a:solidFill>
                <a:srgbClr val="EEFDF8"/>
              </a:solidFill>
              <a:latin typeface="Aptos Display"/>
              <a:cs typeface="Arial"/>
            </a:rPr>
            <a:t>DevOps</a:t>
          </a:r>
        </a:p>
      </p:txBody>
    </p:sp>
    <p:sp>
      <p:nvSpPr>
        <p:cNvPr id="31" name="Text"/>
        <p:cNvSpPr txBox="1"/>
        <p:nvPr/>
      </p:nvSpPr>
      <p:spPr>
        <a:xfrm>
          <a:off x="8107680" y="5047488"/>
          <a:ext cx="3102864" cy="420624"/>
        </a:xfrm>
        <a:prstGeom prst="rect">
          <a:avLst/>
        </a:prstGeom>
        <a:noFill/>
        <a:ln>
          <a:noFill/>
        </a:ln>
      </p:spPr>
      <p:txBody>
        <a:bodyPr wrap="square" anchor="t"/>
        <a:lstStyle/>
        <a:p>
          <a:pPr algn="l"/>
          <a:r>
            <a:rPr lang="vi-VN" sz="940" dirty="0">
              <a:solidFill>
                <a:srgbClr val="A8C4C0"/>
              </a:solidFill>
              <a:latin typeface="Aptos Display"/>
              <a:cs typeface="Arial"/>
            </a:rPr>
            <a:t>Docker Compose, Caddy HTTPS, uv, pnpm, Pytest, Ruff và MyPy.</a:t>
          </a:r>
        </a:p>
      </p:txBody>
    </p:sp>
    <p:sp>
      <p:nvSpPr>
        <p:cNvPr id="32"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33" name="Text"/>
        <p:cNvSpPr txBox="1"/>
        <p:nvPr/>
      </p:nvSpPr>
      <p:spPr>
        <a:xfrm>
          <a:off x="96926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Runtime</a:t>
          </a:r>
        </a:p>
      </p:txBody>
    </p:sp>
    <p:sp>
      <p:nvSpPr>
        <p:cNvPr id="34" name="Panel"/>
        <p:cNvSpPr/>
        <p:nvPr/>
      </p:nvSpPr>
      <p:spPr>
        <a:xfrm>
          <a:off x="1005840" y="5687385"/>
          <a:ext cx="292608" cy="164774"/>
        </a:xfrm>
        <a:prstGeom prst="roundRect">
          <a:avLst/>
        </a:prstGeom>
        <a:solidFill>
          <a:srgbClr val="59E0D0">
            <a:alpha val="100000"/>
          </a:srgbClr>
        </a:solidFill>
        <a:ln w="12700">
          <a:solidFill>
            <a:srgbClr val="59E0D0">
              <a:alpha val="52000"/>
            </a:srgbClr>
          </a:solidFill>
        </a:ln>
      </p:spPr>
    </p:sp>
    <p:sp>
      <p:nvSpPr>
        <p:cNvPr id="35" name="Panel"/>
        <p:cNvSpPr/>
        <p:nvPr/>
      </p:nvSpPr>
      <p:spPr>
        <a:xfrm>
          <a:off x="1399032" y="5625205"/>
          <a:ext cx="292608" cy="226954"/>
        </a:xfrm>
        <a:prstGeom prst="roundRect">
          <a:avLst/>
        </a:prstGeom>
        <a:solidFill>
          <a:srgbClr val="59E0D0">
            <a:alpha val="100000"/>
          </a:srgbClr>
        </a:solidFill>
        <a:ln w="12700">
          <a:solidFill>
            <a:srgbClr val="59E0D0">
              <a:alpha val="52000"/>
            </a:srgbClr>
          </a:solidFill>
        </a:ln>
      </p:spPr>
    </p:sp>
    <p:sp>
      <p:nvSpPr>
        <p:cNvPr id="36" name="Panel"/>
        <p:cNvSpPr/>
        <p:nvPr/>
      </p:nvSpPr>
      <p:spPr>
        <a:xfrm>
          <a:off x="1792224" y="5541264"/>
          <a:ext cx="292608" cy="310896"/>
        </a:xfrm>
        <a:prstGeom prst="roundRect">
          <a:avLst/>
        </a:prstGeom>
        <a:solidFill>
          <a:srgbClr val="59E0D0">
            <a:alpha val="100000"/>
          </a:srgbClr>
        </a:solidFill>
        <a:ln w="12700">
          <a:solidFill>
            <a:srgbClr val="59E0D0">
              <a:alpha val="52000"/>
            </a:srgbClr>
          </a:solidFill>
        </a:ln>
      </p:spPr>
    </p:sp>
    <p:sp>
      <p:nvSpPr>
        <p:cNvPr id="37"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38" name="Text"/>
        <p:cNvSpPr txBox="1"/>
        <p:nvPr/>
      </p:nvSpPr>
      <p:spPr>
        <a:xfrm>
          <a:off x="320954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Coverage</a:t>
          </a:r>
        </a:p>
      </p:txBody>
    </p:sp>
    <p:sp>
      <p:nvSpPr>
        <p:cNvPr id="39" name="Text"/>
        <p:cNvSpPr txBox="1"/>
        <p:nvPr/>
      </p:nvSpPr>
      <p:spPr>
        <a:xfrm>
          <a:off x="419709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100%</a:t>
          </a:r>
        </a:p>
      </p:txBody>
    </p:sp>
    <p:sp>
      <p:nvSpPr>
        <p:cNvPr id="40"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41" name="Text"/>
        <p:cNvSpPr txBox="1"/>
        <p:nvPr/>
      </p:nvSpPr>
      <p:spPr>
        <a:xfrm>
          <a:off x="544982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Pipeline</a:t>
          </a:r>
        </a:p>
      </p:txBody>
    </p:sp>
    <p:sp>
      <p:nvSpPr>
        <p:cNvPr id="42" name="Panel"/>
        <p:cNvSpPr/>
        <p:nvPr/>
      </p:nvSpPr>
      <p:spPr>
        <a:xfrm>
          <a:off x="5486400" y="5727801"/>
          <a:ext cx="292608" cy="124358"/>
        </a:xfrm>
        <a:prstGeom prst="roundRect">
          <a:avLst/>
        </a:prstGeom>
        <a:solidFill>
          <a:srgbClr val="59E0D0">
            <a:alpha val="100000"/>
          </a:srgbClr>
        </a:solidFill>
        <a:ln w="12700">
          <a:solidFill>
            <a:srgbClr val="59E0D0">
              <a:alpha val="52000"/>
            </a:srgbClr>
          </a:solidFill>
        </a:ln>
      </p:spPr>
    </p:sp>
    <p:sp>
      <p:nvSpPr>
        <p:cNvPr id="43" name="Panel"/>
        <p:cNvSpPr/>
        <p:nvPr/>
      </p:nvSpPr>
      <p:spPr>
        <a:xfrm>
          <a:off x="5879592" y="5659404"/>
          <a:ext cx="292608" cy="192755"/>
        </a:xfrm>
        <a:prstGeom prst="roundRect">
          <a:avLst/>
        </a:prstGeom>
        <a:solidFill>
          <a:srgbClr val="59E0D0">
            <a:alpha val="100000"/>
          </a:srgbClr>
        </a:solidFill>
        <a:ln w="12700">
          <a:solidFill>
            <a:srgbClr val="59E0D0">
              <a:alpha val="52000"/>
            </a:srgbClr>
          </a:solidFill>
        </a:ln>
      </p:spPr>
    </p:sp>
    <p:sp>
      <p:nvSpPr>
        <p:cNvPr id="44" name="Panel"/>
        <p:cNvSpPr/>
        <p:nvPr/>
      </p:nvSpPr>
      <p:spPr>
        <a:xfrm>
          <a:off x="6272784" y="5615879"/>
          <a:ext cx="292608" cy="236280"/>
        </a:xfrm>
        <a:prstGeom prst="roundRect">
          <a:avLst/>
        </a:prstGeom>
        <a:solidFill>
          <a:srgbClr val="59E0D0">
            <a:alpha val="100000"/>
          </a:srgbClr>
        </a:solidFill>
        <a:ln w="12700">
          <a:solidFill>
            <a:srgbClr val="59E0D0">
              <a:alpha val="52000"/>
            </a:srgbClr>
          </a:solidFill>
        </a:ln>
      </p:spPr>
    </p:sp>
    <p:sp>
      <p:nvSpPr>
        <p:cNvPr id="45" name="Panel"/>
        <p:cNvSpPr/>
        <p:nvPr/>
      </p:nvSpPr>
      <p:spPr>
        <a:xfrm>
          <a:off x="6665976" y="5566135"/>
          <a:ext cx="292608" cy="286024"/>
        </a:xfrm>
        <a:prstGeom prst="roundRect">
          <a:avLst/>
        </a:prstGeom>
        <a:solidFill>
          <a:srgbClr val="59E0D0">
            <a:alpha val="100000"/>
          </a:srgbClr>
        </a:solidFill>
        <a:ln w="12700">
          <a:solidFill>
            <a:srgbClr val="59E0D0">
              <a:alpha val="52000"/>
            </a:srgbClr>
          </a:solidFill>
        </a:ln>
      </p:spPr>
    </p:sp>
    <p:sp>
      <p:nvSpPr>
        <p:cNvPr id="46"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07 / 13</a:t>
          </a:r>
        </a:p>
      </p:txBody>
    </p:sp>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Traction</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Không chỉ là ý tưởng: hệ thống đã chạy được end-to-end.</a:t>
          </a:r>
        </a:p>
      </p:txBody>
    </p:sp>
    <p:sp>
      <p:nvSpPr>
        <p:cNvPr id="14" name="Panel"/>
        <p:cNvSpPr/>
        <p:nvPr/>
      </p:nvSpPr>
      <p:spPr>
        <a:xfrm>
          <a:off x="841248" y="3703320"/>
          <a:ext cx="3337560" cy="1207008"/>
        </a:xfrm>
        <a:prstGeom prst="roundRect">
          <a:avLst/>
        </a:prstGeom>
        <a:solidFill>
          <a:srgbClr val="1A2B20">
            <a:alpha val="85000"/>
          </a:srgbClr>
        </a:solidFill>
        <a:ln w="12700">
          <a:solidFill>
            <a:srgbClr val="B8D8A4">
              <a:alpha val="52000"/>
            </a:srgbClr>
          </a:solidFill>
        </a:ln>
      </p:spPr>
    </p:sp>
    <p:sp>
      <p:nvSpPr>
        <p:cNvPr id="15" name="Text"/>
        <p:cNvSpPr txBox="1"/>
        <p:nvPr/>
      </p:nvSpPr>
      <p:spPr>
        <a:xfrm>
          <a:off x="1005840" y="3877056"/>
          <a:ext cx="2971800" cy="411480"/>
        </a:xfrm>
        <a:prstGeom prst="rect">
          <a:avLst/>
        </a:prstGeom>
        <a:noFill/>
        <a:ln>
          <a:noFill/>
        </a:ln>
      </p:spPr>
      <p:txBody>
        <a:bodyPr wrap="square" anchor="t"/>
        <a:lstStyle/>
        <a:p>
          <a:pPr algn="l"/>
          <a:r>
            <a:rPr lang="vi-VN" sz="2650" dirty="0">
              <a:b/>
              <a:solidFill>
                <a:srgbClr val="70F0A8"/>
              </a:solidFill>
              <a:latin typeface="Aptos Display"/>
              <a:cs typeface="Arial"/>
            </a:rPr>
            <a:t>240/240</a:t>
          </a:r>
        </a:p>
      </p:txBody>
    </p:sp>
    <p:sp>
      <p:nvSpPr>
        <p:cNvPr id="16" name="Text"/>
        <p:cNvSpPr txBox="1"/>
        <p:nvPr/>
      </p:nvSpPr>
      <p:spPr>
        <a:xfrm>
          <a:off x="1005840" y="4416552"/>
          <a:ext cx="2971800" cy="320040"/>
        </a:xfrm>
        <a:prstGeom prst="rect">
          <a:avLst/>
        </a:prstGeom>
        <a:noFill/>
        <a:ln>
          <a:noFill/>
        </a:ln>
      </p:spPr>
      <p:txBody>
        <a:bodyPr wrap="square" anchor="t"/>
        <a:lstStyle/>
        <a:p>
          <a:pPr algn="l"/>
          <a:r>
            <a:rPr lang="vi-VN" sz="960" dirty="0">
              <a:solidFill>
                <a:srgbClr val="A8C4C0"/>
              </a:solidFill>
              <a:latin typeface="Aptos Display"/>
              <a:cs typeface="Arial"/>
            </a:rPr>
            <a:t>automated tests passed; Ruff và TypeScript type-check đạt 100%.</a:t>
          </a:r>
        </a:p>
      </p:txBody>
    </p:sp>
    <p:sp>
      <p:nvSpPr>
        <p:cNvPr id="17" name="Panel"/>
        <p:cNvSpPr/>
        <p:nvPr/>
      </p:nvSpPr>
      <p:spPr>
        <a:xfrm>
          <a:off x="4434840" y="3703320"/>
          <a:ext cx="3337560" cy="1207008"/>
        </a:xfrm>
        <a:prstGeom prst="roundRect">
          <a:avLst/>
        </a:prstGeom>
        <a:solidFill>
          <a:srgbClr val="1A2B20">
            <a:alpha val="85000"/>
          </a:srgbClr>
        </a:solidFill>
        <a:ln w="12700">
          <a:solidFill>
            <a:srgbClr val="B8D8A4">
              <a:alpha val="52000"/>
            </a:srgbClr>
          </a:solidFill>
        </a:ln>
      </p:spPr>
    </p:sp>
    <p:sp>
      <p:nvSpPr>
        <p:cNvPr id="18" name="Text"/>
        <p:cNvSpPr txBox="1"/>
        <p:nvPr/>
      </p:nvSpPr>
      <p:spPr>
        <a:xfrm>
          <a:off x="4599432" y="3877056"/>
          <a:ext cx="2971800" cy="411480"/>
        </a:xfrm>
        <a:prstGeom prst="rect">
          <a:avLst/>
        </a:prstGeom>
        <a:noFill/>
        <a:ln>
          <a:noFill/>
        </a:ln>
      </p:spPr>
      <p:txBody>
        <a:bodyPr wrap="square" anchor="t"/>
        <a:lstStyle/>
        <a:p>
          <a:pPr algn="l"/>
          <a:r>
            <a:rPr lang="vi-VN" sz="2650" dirty="0">
              <a:b/>
              <a:solidFill>
                <a:srgbClr val="70F0A8"/>
              </a:solidFill>
              <a:latin typeface="Aptos Display"/>
              <a:cs typeface="Arial"/>
            </a:rPr>
            <a:t>8–15 FPS</a:t>
          </a:r>
        </a:p>
      </p:txBody>
    </p:sp>
    <p:sp>
      <p:nvSpPr>
        <p:cNvPr id="19" name="Text"/>
        <p:cNvSpPr txBox="1"/>
        <p:nvPr/>
      </p:nvSpPr>
      <p:spPr>
        <a:xfrm>
          <a:off x="4599432" y="4416552"/>
          <a:ext cx="2971800" cy="320040"/>
        </a:xfrm>
        <a:prstGeom prst="rect">
          <a:avLst/>
        </a:prstGeom>
        <a:noFill/>
        <a:ln>
          <a:noFill/>
        </a:ln>
      </p:spPr>
      <p:txBody>
        <a:bodyPr wrap="square" anchor="t"/>
        <a:lstStyle/>
        <a:p>
          <a:pPr algn="l"/>
          <a:r>
            <a:rPr lang="vi-VN" sz="960" dirty="0">
              <a:solidFill>
                <a:srgbClr val="A8C4C0"/>
              </a:solidFill>
              <a:latin typeface="Aptos Display"/>
              <a:cs typeface="Arial"/>
            </a:rPr>
            <a:t>runtime YOLO26n-pose, phụ thuộc cấu hình máy và điều kiện mạng.</a:t>
          </a:r>
        </a:p>
      </p:txBody>
    </p:sp>
    <p:sp>
      <p:nvSpPr>
        <p:cNvPr id="20" name="Panel"/>
        <p:cNvSpPr/>
        <p:nvPr/>
      </p:nvSpPr>
      <p:spPr>
        <a:xfrm>
          <a:off x="8028432" y="3703320"/>
          <a:ext cx="3337560" cy="1207008"/>
        </a:xfrm>
        <a:prstGeom prst="roundRect">
          <a:avLst/>
        </a:prstGeom>
        <a:solidFill>
          <a:srgbClr val="1A2B20">
            <a:alpha val="85000"/>
          </a:srgbClr>
        </a:solidFill>
        <a:ln w="12700">
          <a:solidFill>
            <a:srgbClr val="B8D8A4">
              <a:alpha val="52000"/>
            </a:srgbClr>
          </a:solidFill>
        </a:ln>
      </p:spPr>
    </p:sp>
    <p:sp>
      <p:nvSpPr>
        <p:cNvPr id="21" name="Text"/>
        <p:cNvSpPr txBox="1"/>
        <p:nvPr/>
      </p:nvSpPr>
      <p:spPr>
        <a:xfrm>
          <a:off x="8193024" y="3877056"/>
          <a:ext cx="2971800" cy="411480"/>
        </a:xfrm>
        <a:prstGeom prst="rect">
          <a:avLst/>
        </a:prstGeom>
        <a:noFill/>
        <a:ln>
          <a:noFill/>
        </a:ln>
      </p:spPr>
      <p:txBody>
        <a:bodyPr wrap="square" anchor="t"/>
        <a:lstStyle/>
        <a:p>
          <a:pPr algn="l"/>
          <a:r>
            <a:rPr lang="vi-VN" sz="2650" dirty="0">
              <a:b/>
              <a:solidFill>
                <a:srgbClr val="70F0A8"/>
              </a:solidFill>
              <a:latin typeface="Aptos Display"/>
              <a:cs typeface="Arial"/>
            </a:rPr>
            <a:t>83.05%</a:t>
          </a:r>
        </a:p>
      </p:txBody>
    </p:sp>
    <p:sp>
      <p:nvSpPr>
        <p:cNvPr id="22" name="Text"/>
        <p:cNvSpPr txBox="1"/>
        <p:nvPr/>
      </p:nvSpPr>
      <p:spPr>
        <a:xfrm>
          <a:off x="8193024" y="4416552"/>
          <a:ext cx="2971800" cy="320040"/>
        </a:xfrm>
        <a:prstGeom prst="rect">
          <a:avLst/>
        </a:prstGeom>
        <a:noFill/>
        <a:ln>
          <a:noFill/>
        </a:ln>
      </p:spPr>
      <p:txBody>
        <a:bodyPr wrap="square" anchor="t"/>
        <a:lstStyle/>
        <a:p>
          <a:pPr algn="l"/>
          <a:r>
            <a:rPr lang="vi-VN" sz="960" dirty="0">
              <a:solidFill>
                <a:srgbClr val="A8C4C0"/>
              </a:solidFill>
              <a:latin typeface="Aptos Display"/>
              <a:cs typeface="Arial"/>
            </a:rPr>
            <a:t>F1 cho bài toán phát hiện người lạ trong thử nghiệm nội bộ.</a:t>
          </a:r>
        </a:p>
      </p:txBody>
    </p:sp>
    <p:sp>
      <p:nvSpPr>
        <p:cNvPr id="23" name="Panel"/>
        <p:cNvSpPr/>
        <p:nvPr/>
      </p:nvSpPr>
      <p:spPr>
        <a:xfrm>
          <a:off x="841248" y="5669280"/>
          <a:ext cx="9875520" cy="502920"/>
        </a:xfrm>
        <a:prstGeom prst="roundRect">
          <a:avLst/>
        </a:prstGeom>
        <a:solidFill>
          <a:srgbClr val="2B3A24">
            <a:alpha val="76000"/>
          </a:srgbClr>
        </a:solidFill>
        <a:ln w="12700">
          <a:solidFill>
            <a:srgbClr val="7FB069">
              <a:alpha val="52000"/>
            </a:srgbClr>
          </a:solidFill>
        </a:ln>
      </p:spPr>
    </p:sp>
    <p:sp>
      <p:nvSpPr>
        <p:cNvPr id="24" name="Text"/>
        <p:cNvSpPr txBox="1"/>
        <p:nvPr/>
      </p:nvSpPr>
      <p:spPr>
        <a:xfrm>
          <a:off x="1024128" y="5797296"/>
          <a:ext cx="9326880" cy="201168"/>
        </a:xfrm>
        <a:prstGeom prst="rect">
          <a:avLst/>
        </a:prstGeom>
        <a:noFill/>
        <a:ln>
          <a:noFill/>
        </a:ln>
      </p:spPr>
      <p:txBody>
        <a:bodyPr wrap="square" anchor="t"/>
        <a:lstStyle/>
        <a:p>
          <a:pPr algn="l"/>
          <a:r>
            <a:rPr lang="vi-VN" sz="940" dirty="0">
              <a:solidFill>
                <a:srgbClr val="D8F4EF"/>
              </a:solidFill>
              <a:latin typeface="Aptos Display"/>
              <a:cs typeface="Arial"/>
            </a:rPr>
            <a:t>Web, API và Media Gateway đã triển khai trên VPS; kết nối thành công camera IP LAN qua SSH Tunnel và gửi email kèm snapshot/video evidence.</a:t>
          </a:r>
        </a:p>
      </p:txBody>
    </p:sp>
    <p:sp>
      <p:nvSpPr>
        <p:cNvPr id="25" name="Panel"/>
        <p:cNvSpPr/>
        <p:nvPr/>
      </p:nvSpPr>
      <p:spPr>
        <a:xfrm>
          <a:off x="841248" y="5010912"/>
          <a:ext cx="2057400" cy="460857"/>
        </a:xfrm>
        <a:prstGeom prst="roundRect">
          <a:avLst/>
        </a:prstGeom>
        <a:solidFill>
          <a:srgbClr val="1A2B20">
            <a:alpha val="83000"/>
          </a:srgbClr>
        </a:solidFill>
        <a:ln w="12700">
          <a:solidFill>
            <a:srgbClr val="B8D8A4">
              <a:alpha val="52000"/>
            </a:srgbClr>
          </a:solidFill>
        </a:ln>
      </p:spPr>
    </p:sp>
    <p:sp>
      <p:nvSpPr>
        <p:cNvPr id="26" name="Text"/>
        <p:cNvSpPr txBox="1"/>
        <p:nvPr/>
      </p:nvSpPr>
      <p:spPr>
        <a:xfrm>
          <a:off x="969264" y="5102352"/>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Test pass</a:t>
          </a:r>
        </a:p>
      </p:txBody>
    </p:sp>
    <p:sp>
      <p:nvSpPr>
        <p:cNvPr id="27" name="Text"/>
        <p:cNvSpPr txBox="1"/>
        <p:nvPr/>
      </p:nvSpPr>
      <p:spPr>
        <a:xfrm>
          <a:off x="1956816" y="5164531"/>
          <a:ext cx="749808" cy="164592"/>
        </a:xfrm>
        <a:prstGeom prst="rect">
          <a:avLst/>
        </a:prstGeom>
        <a:noFill/>
        <a:ln>
          <a:noFill/>
        </a:ln>
      </p:spPr>
      <p:txBody>
        <a:bodyPr wrap="square" anchor="t"/>
        <a:lstStyle/>
        <a:p>
          <a:pPr algn="ctr"/>
          <a:r>
            <a:rPr lang="vi-VN" sz="944" dirty="0">
              <a:b/>
              <a:solidFill>
                <a:srgbClr val="70F0A8"/>
              </a:solidFill>
              <a:latin typeface="Aptos Display"/>
              <a:cs typeface="Arial"/>
            </a:rPr>
            <a:t>100%</a:t>
          </a:r>
        </a:p>
      </p:txBody>
    </p:sp>
    <p:sp>
      <p:nvSpPr>
        <p:cNvPr id="28" name="Panel"/>
        <p:cNvSpPr/>
        <p:nvPr/>
      </p:nvSpPr>
      <p:spPr>
        <a:xfrm>
          <a:off x="3081528" y="5010912"/>
          <a:ext cx="2057400" cy="460857"/>
        </a:xfrm>
        <a:prstGeom prst="roundRect">
          <a:avLst/>
        </a:prstGeom>
        <a:solidFill>
          <a:srgbClr val="1A2B20">
            <a:alpha val="83000"/>
          </a:srgbClr>
        </a:solidFill>
        <a:ln w="12700">
          <a:solidFill>
            <a:srgbClr val="B8D8A4">
              <a:alpha val="52000"/>
            </a:srgbClr>
          </a:solidFill>
        </a:ln>
      </p:spPr>
    </p:sp>
    <p:sp>
      <p:nvSpPr>
        <p:cNvPr id="29" name="Text"/>
        <p:cNvSpPr txBox="1"/>
        <p:nvPr/>
      </p:nvSpPr>
      <p:spPr>
        <a:xfrm>
          <a:off x="3209544" y="5102352"/>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FPS range</a:t>
          </a:r>
        </a:p>
      </p:txBody>
    </p:sp>
    <p:sp>
      <p:nvSpPr>
        <p:cNvPr id="30" name="Panel"/>
        <p:cNvSpPr/>
        <p:nvPr/>
      </p:nvSpPr>
      <p:spPr>
        <a:xfrm>
          <a:off x="3246120" y="5266815"/>
          <a:ext cx="292608" cy="115342"/>
        </a:xfrm>
        <a:prstGeom prst="roundRect">
          <a:avLst/>
        </a:prstGeom>
        <a:solidFill>
          <a:srgbClr val="59E0D0">
            <a:alpha val="100000"/>
          </a:srgbClr>
        </a:solidFill>
        <a:ln w="12700">
          <a:solidFill>
            <a:srgbClr val="59E0D0">
              <a:alpha val="52000"/>
            </a:srgbClr>
          </a:solidFill>
        </a:ln>
      </p:spPr>
    </p:sp>
    <p:sp>
      <p:nvSpPr>
        <p:cNvPr id="31" name="Panel"/>
        <p:cNvSpPr/>
        <p:nvPr/>
      </p:nvSpPr>
      <p:spPr>
        <a:xfrm>
          <a:off x="3639312" y="5223290"/>
          <a:ext cx="292608" cy="158867"/>
        </a:xfrm>
        <a:prstGeom prst="roundRect">
          <a:avLst/>
        </a:prstGeom>
        <a:solidFill>
          <a:srgbClr val="59E0D0">
            <a:alpha val="100000"/>
          </a:srgbClr>
        </a:solidFill>
        <a:ln w="12700">
          <a:solidFill>
            <a:srgbClr val="59E0D0">
              <a:alpha val="52000"/>
            </a:srgbClr>
          </a:solidFill>
        </a:ln>
      </p:spPr>
    </p:sp>
    <p:sp>
      <p:nvSpPr>
        <p:cNvPr id="32" name="Panel"/>
        <p:cNvSpPr/>
        <p:nvPr/>
      </p:nvSpPr>
      <p:spPr>
        <a:xfrm>
          <a:off x="4032504" y="5164531"/>
          <a:ext cx="292608" cy="217627"/>
        </a:xfrm>
        <a:prstGeom prst="roundRect">
          <a:avLst/>
        </a:prstGeom>
        <a:solidFill>
          <a:srgbClr val="59E0D0">
            <a:alpha val="100000"/>
          </a:srgbClr>
        </a:solidFill>
        <a:ln w="12700">
          <a:solidFill>
            <a:srgbClr val="59E0D0">
              <a:alpha val="52000"/>
            </a:srgbClr>
          </a:solidFill>
        </a:ln>
      </p:spPr>
    </p:sp>
    <p:sp>
      <p:nvSpPr>
        <p:cNvPr id="33" name="Panel"/>
        <p:cNvSpPr/>
        <p:nvPr/>
      </p:nvSpPr>
      <p:spPr>
        <a:xfrm>
          <a:off x="5321808" y="5010912"/>
          <a:ext cx="2057400" cy="460857"/>
        </a:xfrm>
        <a:prstGeom prst="roundRect">
          <a:avLst/>
        </a:prstGeom>
        <a:solidFill>
          <a:srgbClr val="1A2B20">
            <a:alpha val="83000"/>
          </a:srgbClr>
        </a:solidFill>
        <a:ln w="12700">
          <a:solidFill>
            <a:srgbClr val="B8D8A4">
              <a:alpha val="52000"/>
            </a:srgbClr>
          </a:solidFill>
        </a:ln>
      </p:spPr>
    </p:sp>
    <p:sp>
      <p:nvSpPr>
        <p:cNvPr id="34" name="Text"/>
        <p:cNvSpPr txBox="1"/>
        <p:nvPr/>
      </p:nvSpPr>
      <p:spPr>
        <a:xfrm>
          <a:off x="5449824" y="5102352"/>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F1 score</a:t>
          </a:r>
        </a:p>
      </p:txBody>
    </p:sp>
    <p:sp>
      <p:nvSpPr>
        <p:cNvPr id="35" name="Text"/>
        <p:cNvSpPr txBox="1"/>
        <p:nvPr/>
      </p:nvSpPr>
      <p:spPr>
        <a:xfrm>
          <a:off x="6437376" y="5164531"/>
          <a:ext cx="749808" cy="164592"/>
        </a:xfrm>
        <a:prstGeom prst="rect">
          <a:avLst/>
        </a:prstGeom>
        <a:noFill/>
        <a:ln>
          <a:noFill/>
        </a:ln>
      </p:spPr>
      <p:txBody>
        <a:bodyPr wrap="square" anchor="t"/>
        <a:lstStyle/>
        <a:p>
          <a:pPr algn="ctr"/>
          <a:r>
            <a:rPr lang="vi-VN" sz="944" dirty="0">
              <a:b/>
              <a:solidFill>
                <a:srgbClr val="70F0A8"/>
              </a:solidFill>
              <a:latin typeface="Aptos Display"/>
              <a:cs typeface="Arial"/>
            </a:rPr>
            <a:t>83%</a:t>
          </a:r>
        </a:p>
      </p:txBody>
    </p:sp>
    <p:sp>
      <p:nvSpPr>
        <p:cNvPr id="36"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08 / 13</a:t>
          </a:r>
        </a:p>
      </p:txBody>
    </p:sp>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Demo</a:t>
          </a:r>
        </a:p>
      </p:txBody>
    </p:sp>
    <p:sp>
      <p:nvSpPr>
        <p:cNvPr id="13" name="Text"/>
        <p:cNvSpPr txBox="1"/>
        <p:nvPr/>
      </p:nvSpPr>
      <p:spPr>
        <a:xfrm>
          <a:off x="804672" y="1344168"/>
          <a:ext cx="10515600" cy="777240"/>
        </a:xfrm>
        <a:prstGeom prst="rect">
          <a:avLst/>
        </a:prstGeom>
        <a:noFill/>
        <a:ln>
          <a:noFill/>
        </a:ln>
      </p:spPr>
      <p:txBody>
        <a:bodyPr wrap="square" anchor="t"/>
        <a:lstStyle/>
        <a:p>
          <a:pPr algn="l"/>
          <a:r>
            <a:rPr lang="vi-VN" sz="2700" dirty="0">
              <a:b/>
              <a:solidFill>
                <a:srgbClr val="EEFDF8"/>
              </a:solidFill>
              <a:latin typeface="Aptos Display"/>
              <a:cs typeface="Arial"/>
            </a:rPr>
            <a:t>Product demo: SYL phát hiện, ghi nhận và cảnh báo theo thời gian thực.</a:t>
          </a:r>
        </a:p>
      </p:txBody>
    </p:sp>
    <p:sp>
      <p:nvSpPr>
        <p:cNvPr id="14" name="Panel"/>
        <p:cNvSpPr/>
        <p:nvPr/>
      </p:nvSpPr>
      <p:spPr>
        <a:xfrm>
          <a:off x="960120" y="2331720"/>
          <a:ext cx="10287000" cy="3456432"/>
        </a:xfrm>
        <a:prstGeom prst="roundRect">
          <a:avLst/>
        </a:prstGeom>
        <a:solidFill>
          <a:srgbClr val="050807">
            <a:alpha val="96000"/>
          </a:srgbClr>
        </a:solidFill>
        <a:ln w="12700">
          <a:solidFill>
            <a:srgbClr val="B8D8A4">
              <a:alpha val="52000"/>
            </a:srgbClr>
          </a:solidFill>
        </a:ln>
      </p:spPr>
    </p:sp>
    <p:pic>
      <p:nvPicPr>
        <p:cNvPr id="15" name="demo.mp4">
          <a:hlinkClick action="ppaction://media"/>
        </p:cNvPr>
        <p:cNvPicPr>
          <a:picLocks noChangeAspect="1"/>
        </p:cNvPicPr>
        <p:nvPr>
          <a:videoFile r:link="rId3"/>
          <p:extLst>
            <p:ext uri="{DAA4B4D4-6D71-4841-9C94-3DE7FCFBF8DC}">
              <p14:media r:embed="rId4"/>
            </p:ext>
          </p:extLst>
        </p:nvPr>
      </p:nvPicPr>
      <p:blipFill>
        <a:blip r:embed="rId2"/>
        <a:stretch>
          <a:fillRect/>
        </a:stretch>
      </p:blipFill>
      <p:spPr>
        <a:xfrm>
          <a:off x="1170432" y="2514600"/>
          <a:ext cx="9857232" cy="3090672"/>
        </a:xfrm>
        <a:prstGeom prst="rect">
          <a:avLst/>
        </a:prstGeom>
      </p:spPr>
    </p:pic>
    <p:sp>
      <p:nvSpPr>
        <p:cNvPr id="16" name="Text"/>
        <p:cNvSpPr txBox="1"/>
        <p:nvPr/>
      </p:nvSpPr>
      <p:spPr>
        <a:xfrm>
          <a:off x="841248" y="5870448"/>
          <a:ext cx="10515600" cy="182880"/>
        </a:xfrm>
        <a:prstGeom prst="rect">
          <a:avLst/>
        </a:prstGeom>
        <a:noFill/>
        <a:ln>
          <a:noFill/>
        </a:ln>
      </p:spPr>
      <p:txBody>
        <a:bodyPr wrap="square" anchor="t"/>
        <a:lstStyle/>
        <a:p>
          <a:pPr algn="ctr"/>
          <a:r>
            <a:rPr lang="vi-VN" sz="1050" dirty="0">
              <a:b/>
              <a:solidFill>
                <a:srgbClr val="A8C4C0"/>
              </a:solidFill>
              <a:latin typeface="Aptos Display"/>
              <a:cs typeface="Arial"/>
            </a:rPr>
            <a:t>Demo video: demo.mp4</a:t>
          </a:r>
        </a:p>
      </p:txBody>
    </p:sp>
    <p:sp>
      <p:nvSpPr>
        <p:cNvPr id="17"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09 / 13</a:t>
          </a:r>
        </a:p>
      </p:txBody>
    </p:sp>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Business Model · Competitive Position</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SYL có mức giá dễ tiếp cận hơn camera chuyên dụng, nhưng thông minh hơn camera phổ thông.</a:t>
          </a:r>
        </a:p>
      </p:txBody>
    </p:sp>
    <p:sp>
      <p:nvSpPr>
        <p:cNvPr id="14" name="Panel"/>
        <p:cNvSpPr/>
        <p:nvPr/>
      </p:nvSpPr>
      <p:spPr>
        <a:xfrm>
          <a:off x="841248" y="2743200"/>
          <a:ext cx="4983480" cy="749808"/>
        </a:xfrm>
        <a:prstGeom prst="roundRect">
          <a:avLst/>
        </a:prstGeom>
        <a:solidFill>
          <a:srgbClr val="1A2B20">
            <a:alpha val="85000"/>
          </a:srgbClr>
        </a:solidFill>
        <a:ln w="12700">
          <a:solidFill>
            <a:srgbClr val="B8D8A4">
              <a:alpha val="52000"/>
            </a:srgbClr>
          </a:solidFill>
        </a:ln>
      </p:spPr>
    </p:sp>
    <p:sp>
      <p:nvSpPr>
        <p:cNvPr id="15" name="Text"/>
        <p:cNvSpPr txBox="1"/>
        <p:nvPr/>
      </p:nvSpPr>
      <p:spPr>
        <a:xfrm>
          <a:off x="1005840" y="2852928"/>
          <a:ext cx="1920240" cy="182880"/>
        </a:xfrm>
        <a:prstGeom prst="rect">
          <a:avLst/>
        </a:prstGeom>
        <a:noFill/>
        <a:ln>
          <a:noFill/>
        </a:ln>
      </p:spPr>
      <p:txBody>
        <a:bodyPr wrap="square" anchor="t"/>
        <a:lstStyle/>
        <a:p>
          <a:pPr algn="l"/>
          <a:r>
            <a:rPr lang="vi-VN" sz="1320" dirty="0">
              <a:b/>
              <a:solidFill>
                <a:srgbClr val="EEFDF8"/>
              </a:solidFill>
              <a:latin typeface="Aptos Display"/>
              <a:cs typeface="Arial"/>
            </a:rPr>
            <a:t>Standard</a:t>
          </a:r>
        </a:p>
      </p:txBody>
    </p:sp>
    <p:sp>
      <p:nvSpPr>
        <p:cNvPr id="16" name="Text"/>
        <p:cNvSpPr txBox="1"/>
        <p:nvPr/>
      </p:nvSpPr>
      <p:spPr>
        <a:xfrm>
          <a:off x="2971800" y="2852928"/>
          <a:ext cx="1143000" cy="182880"/>
        </a:xfrm>
        <a:prstGeom prst="rect">
          <a:avLst/>
        </a:prstGeom>
        <a:noFill/>
        <a:ln>
          <a:noFill/>
        </a:ln>
      </p:spPr>
      <p:txBody>
        <a:bodyPr wrap="square" anchor="t"/>
        <a:lstStyle/>
        <a:p>
          <a:pPr algn="l"/>
          <a:r>
            <a:rPr lang="vi-VN" sz="1320" dirty="0">
              <a:b/>
              <a:solidFill>
                <a:srgbClr val="FFD166"/>
              </a:solidFill>
              <a:latin typeface="Aptos Display"/>
              <a:cs typeface="Arial"/>
            </a:rPr>
            <a:t>5.2tr</a:t>
          </a:r>
        </a:p>
      </p:txBody>
    </p:sp>
    <p:sp>
      <p:nvSpPr>
        <p:cNvPr id="17" name="Text"/>
        <p:cNvSpPr txBox="1"/>
        <p:nvPr/>
      </p:nvSpPr>
      <p:spPr>
        <a:xfrm>
          <a:off x="1005840" y="3127248"/>
          <a:ext cx="4526280" cy="164592"/>
        </a:xfrm>
        <a:prstGeom prst="rect">
          <a:avLst/>
        </a:prstGeom>
        <a:noFill/>
        <a:ln>
          <a:noFill/>
        </a:ln>
      </p:spPr>
      <p:txBody>
        <a:bodyPr wrap="square" anchor="t"/>
        <a:lstStyle/>
        <a:p>
          <a:pPr algn="l"/>
          <a:r>
            <a:rPr lang="vi-VN" sz="790" dirty="0">
              <a:solidFill>
                <a:srgbClr val="A8C4C0"/>
              </a:solidFill>
              <a:latin typeface="Aptos Display"/>
              <a:cs typeface="Arial"/>
            </a:rPr>
            <a:t>Raspberry Pi 5 4GB + hệ thống SYL cho nhu cầu cơ bản.</a:t>
          </a:r>
        </a:p>
      </p:txBody>
    </p:sp>
    <p:sp>
      <p:nvSpPr>
        <p:cNvPr id="18" name="Panel"/>
        <p:cNvSpPr/>
        <p:nvPr/>
      </p:nvSpPr>
      <p:spPr>
        <a:xfrm>
          <a:off x="841248" y="3703320"/>
          <a:ext cx="4983480" cy="749808"/>
        </a:xfrm>
        <a:prstGeom prst="roundRect">
          <a:avLst/>
        </a:prstGeom>
        <a:solidFill>
          <a:srgbClr val="1A2B20">
            <a:alpha val="85000"/>
          </a:srgbClr>
        </a:solidFill>
        <a:ln w="12700">
          <a:solidFill>
            <a:srgbClr val="B8D8A4">
              <a:alpha val="52000"/>
            </a:srgbClr>
          </a:solidFill>
        </a:ln>
      </p:spPr>
    </p:sp>
    <p:sp>
      <p:nvSpPr>
        <p:cNvPr id="19" name="Text"/>
        <p:cNvSpPr txBox="1"/>
        <p:nvPr/>
      </p:nvSpPr>
      <p:spPr>
        <a:xfrm>
          <a:off x="1005840" y="3813048"/>
          <a:ext cx="1920240" cy="182880"/>
        </a:xfrm>
        <a:prstGeom prst="rect">
          <a:avLst/>
        </a:prstGeom>
        <a:noFill/>
        <a:ln>
          <a:noFill/>
        </a:ln>
      </p:spPr>
      <p:txBody>
        <a:bodyPr wrap="square" anchor="t"/>
        <a:lstStyle/>
        <a:p>
          <a:pPr algn="l"/>
          <a:r>
            <a:rPr lang="vi-VN" sz="1320" dirty="0">
              <a:b/>
              <a:solidFill>
                <a:srgbClr val="EEFDF8"/>
              </a:solidFill>
              <a:latin typeface="Aptos Display"/>
              <a:cs typeface="Arial"/>
            </a:rPr>
            <a:t>Plus</a:t>
          </a:r>
        </a:p>
      </p:txBody>
    </p:sp>
    <p:sp>
      <p:nvSpPr>
        <p:cNvPr id="20" name="Text"/>
        <p:cNvSpPr txBox="1"/>
        <p:nvPr/>
      </p:nvSpPr>
      <p:spPr>
        <a:xfrm>
          <a:off x="2971800" y="3813048"/>
          <a:ext cx="1143000" cy="182880"/>
        </a:xfrm>
        <a:prstGeom prst="rect">
          <a:avLst/>
        </a:prstGeom>
        <a:noFill/>
        <a:ln>
          <a:noFill/>
        </a:ln>
      </p:spPr>
      <p:txBody>
        <a:bodyPr wrap="square" anchor="t"/>
        <a:lstStyle/>
        <a:p>
          <a:pPr algn="l"/>
          <a:r>
            <a:rPr lang="vi-VN" sz="1320" dirty="0">
              <a:b/>
              <a:solidFill>
                <a:srgbClr val="FFD166"/>
              </a:solidFill>
              <a:latin typeface="Aptos Display"/>
              <a:cs typeface="Arial"/>
            </a:rPr>
            <a:t>8.5tr</a:t>
          </a:r>
        </a:p>
      </p:txBody>
    </p:sp>
    <p:sp>
      <p:nvSpPr>
        <p:cNvPr id="21" name="Text"/>
        <p:cNvSpPr txBox="1"/>
        <p:nvPr/>
      </p:nvSpPr>
      <p:spPr>
        <a:xfrm>
          <a:off x="1005840" y="4087368"/>
          <a:ext cx="4526280" cy="164592"/>
        </a:xfrm>
        <a:prstGeom prst="rect">
          <a:avLst/>
        </a:prstGeom>
        <a:noFill/>
        <a:ln>
          <a:noFill/>
        </a:ln>
      </p:spPr>
      <p:txBody>
        <a:bodyPr wrap="square" anchor="t"/>
        <a:lstStyle/>
        <a:p>
          <a:pPr algn="l"/>
          <a:r>
            <a:rPr lang="vi-VN" sz="790" dirty="0">
              <a:solidFill>
                <a:srgbClr val="A8C4C0"/>
              </a:solidFill>
              <a:latin typeface="Aptos Display"/>
              <a:cs typeface="Arial"/>
            </a:rPr>
            <a:t>Raspberry Pi 5 8GB + hệ thống SYL cho cấu hình mạnh hơn.</a:t>
          </a:r>
        </a:p>
      </p:txBody>
    </p:sp>
    <p:sp>
      <p:nvSpPr>
        <p:cNvPr id="22" name="Panel"/>
        <p:cNvSpPr/>
        <p:nvPr/>
      </p:nvSpPr>
      <p:spPr>
        <a:xfrm>
          <a:off x="841248" y="4663440"/>
          <a:ext cx="4983480" cy="749808"/>
        </a:xfrm>
        <a:prstGeom prst="roundRect">
          <a:avLst/>
        </a:prstGeom>
        <a:solidFill>
          <a:srgbClr val="1A2B20">
            <a:alpha val="85000"/>
          </a:srgbClr>
        </a:solidFill>
        <a:ln w="12700">
          <a:solidFill>
            <a:srgbClr val="B8D8A4">
              <a:alpha val="52000"/>
            </a:srgbClr>
          </a:solidFill>
        </a:ln>
      </p:spPr>
    </p:sp>
    <p:sp>
      <p:nvSpPr>
        <p:cNvPr id="23" name="Text"/>
        <p:cNvSpPr txBox="1"/>
        <p:nvPr/>
      </p:nvSpPr>
      <p:spPr>
        <a:xfrm>
          <a:off x="1005840" y="4773168"/>
          <a:ext cx="1920240" cy="182880"/>
        </a:xfrm>
        <a:prstGeom prst="rect">
          <a:avLst/>
        </a:prstGeom>
        <a:noFill/>
        <a:ln>
          <a:noFill/>
        </a:ln>
      </p:spPr>
      <p:txBody>
        <a:bodyPr wrap="square" anchor="t"/>
        <a:lstStyle/>
        <a:p>
          <a:pPr algn="l"/>
          <a:r>
            <a:rPr lang="vi-VN" sz="1320" dirty="0">
              <a:b/>
              <a:solidFill>
                <a:srgbClr val="EEFDF8"/>
              </a:solidFill>
              <a:latin typeface="Aptos Display"/>
              <a:cs typeface="Arial"/>
            </a:rPr>
            <a:t>Pro</a:t>
          </a:r>
        </a:p>
      </p:txBody>
    </p:sp>
    <p:sp>
      <p:nvSpPr>
        <p:cNvPr id="24" name="Text"/>
        <p:cNvSpPr txBox="1"/>
        <p:nvPr/>
      </p:nvSpPr>
      <p:spPr>
        <a:xfrm>
          <a:off x="2971800" y="4773168"/>
          <a:ext cx="1143000" cy="182880"/>
        </a:xfrm>
        <a:prstGeom prst="rect">
          <a:avLst/>
        </a:prstGeom>
        <a:noFill/>
        <a:ln>
          <a:noFill/>
        </a:ln>
      </p:spPr>
      <p:txBody>
        <a:bodyPr wrap="square" anchor="t"/>
        <a:lstStyle/>
        <a:p>
          <a:pPr algn="l"/>
          <a:r>
            <a:rPr lang="vi-VN" sz="1320" dirty="0">
              <a:b/>
              <a:solidFill>
                <a:srgbClr val="FFD166"/>
              </a:solidFill>
              <a:latin typeface="Aptos Display"/>
              <a:cs typeface="Arial"/>
            </a:rPr>
            <a:t>10tr</a:t>
          </a:r>
        </a:p>
      </p:txBody>
    </p:sp>
    <p:sp>
      <p:nvSpPr>
        <p:cNvPr id="25" name="Text"/>
        <p:cNvSpPr txBox="1"/>
        <p:nvPr/>
      </p:nvSpPr>
      <p:spPr>
        <a:xfrm>
          <a:off x="1005840" y="5047488"/>
          <a:ext cx="4526280" cy="164592"/>
        </a:xfrm>
        <a:prstGeom prst="rect">
          <a:avLst/>
        </a:prstGeom>
        <a:noFill/>
        <a:ln>
          <a:noFill/>
        </a:ln>
      </p:spPr>
      <p:txBody>
        <a:bodyPr wrap="square" anchor="t"/>
        <a:lstStyle/>
        <a:p>
          <a:pPr algn="l"/>
          <a:r>
            <a:rPr lang="vi-VN" sz="790" dirty="0">
              <a:solidFill>
                <a:srgbClr val="A8C4C0"/>
              </a:solidFill>
              <a:latin typeface="Aptos Display"/>
              <a:cs typeface="Arial"/>
            </a:rPr>
            <a:t>8GB + nâng cấp bản mới nhất, miễn phí 6 tháng đăng ký đầu.</a:t>
          </a:r>
        </a:p>
      </p:txBody>
    </p:sp>
    <p:sp>
      <p:nvSpPr>
        <p:cNvPr id="26" name="Panel"/>
        <p:cNvSpPr/>
        <p:nvPr/>
      </p:nvSpPr>
      <p:spPr>
        <a:xfrm>
          <a:off x="6080760" y="2743200"/>
          <a:ext cx="5074920" cy="749808"/>
        </a:xfrm>
        <a:prstGeom prst="roundRect">
          <a:avLst/>
        </a:prstGeom>
        <a:solidFill>
          <a:srgbClr val="1A2B20">
            <a:alpha val="85000"/>
          </a:srgbClr>
        </a:solidFill>
        <a:ln w="12700">
          <a:solidFill>
            <a:srgbClr val="B8D8A4">
              <a:alpha val="52000"/>
            </a:srgbClr>
          </a:solidFill>
        </a:ln>
      </p:spPr>
    </p:sp>
    <p:sp>
      <p:nvSpPr>
        <p:cNvPr id="27" name="Text"/>
        <p:cNvSpPr txBox="1"/>
        <p:nvPr/>
      </p:nvSpPr>
      <p:spPr>
        <a:xfrm>
          <a:off x="6245352" y="2852928"/>
          <a:ext cx="4709160" cy="182880"/>
        </a:xfrm>
        <a:prstGeom prst="rect">
          <a:avLst/>
        </a:prstGeom>
        <a:noFill/>
        <a:ln>
          <a:noFill/>
        </a:ln>
      </p:spPr>
      <p:txBody>
        <a:bodyPr wrap="square" anchor="t"/>
        <a:lstStyle/>
        <a:p>
          <a:pPr algn="l"/>
          <a:r>
            <a:rPr lang="vi-VN" sz="1320" dirty="0">
              <a:b/>
              <a:solidFill>
                <a:srgbClr val="EEFDF8"/>
              </a:solidFill>
              <a:latin typeface="Aptos Display"/>
              <a:cs typeface="Arial"/>
            </a:rPr>
            <a:t>EZVIZ/IMOU</a:t>
          </a:r>
        </a:p>
      </p:txBody>
    </p:sp>
    <p:sp>
      <p:nvSpPr>
        <p:cNvPr id="28" name="Text"/>
        <p:cNvSpPr txBox="1"/>
        <p:nvPr/>
      </p:nvSpPr>
      <p:spPr>
        <a:xfrm>
          <a:off x="6245352" y="3127248"/>
          <a:ext cx="4617720" cy="164592"/>
        </a:xfrm>
        <a:prstGeom prst="rect">
          <a:avLst/>
        </a:prstGeom>
        <a:noFill/>
        <a:ln>
          <a:noFill/>
        </a:ln>
      </p:spPr>
      <p:txBody>
        <a:bodyPr wrap="square" anchor="t"/>
        <a:lstStyle/>
        <a:p>
          <a:pPr algn="l"/>
          <a:r>
            <a:rPr lang="vi-VN" sz="790" dirty="0">
              <a:solidFill>
                <a:srgbClr val="A8C4C0"/>
              </a:solidFill>
              <a:latin typeface="Aptos Display"/>
              <a:cs typeface="Arial"/>
            </a:rPr>
            <a:t>Mạnh về giá và phân phối, nhưng chủ yếu là motion detection hoặc human detection.</a:t>
          </a:r>
        </a:p>
      </p:txBody>
    </p:sp>
    <p:sp>
      <p:nvSpPr>
        <p:cNvPr id="29" name="Panel"/>
        <p:cNvSpPr/>
        <p:nvPr/>
      </p:nvSpPr>
      <p:spPr>
        <a:xfrm>
          <a:off x="6080760" y="3703320"/>
          <a:ext cx="5074920" cy="749808"/>
        </a:xfrm>
        <a:prstGeom prst="roundRect">
          <a:avLst/>
        </a:prstGeom>
        <a:solidFill>
          <a:srgbClr val="1A2B20">
            <a:alpha val="85000"/>
          </a:srgbClr>
        </a:solidFill>
        <a:ln w="12700">
          <a:solidFill>
            <a:srgbClr val="B8D8A4">
              <a:alpha val="52000"/>
            </a:srgbClr>
          </a:solidFill>
        </a:ln>
      </p:spPr>
    </p:sp>
    <p:sp>
      <p:nvSpPr>
        <p:cNvPr id="30" name="Text"/>
        <p:cNvSpPr txBox="1"/>
        <p:nvPr/>
      </p:nvSpPr>
      <p:spPr>
        <a:xfrm>
          <a:off x="6245352" y="3813048"/>
          <a:ext cx="4709160" cy="182880"/>
        </a:xfrm>
        <a:prstGeom prst="rect">
          <a:avLst/>
        </a:prstGeom>
        <a:noFill/>
        <a:ln>
          <a:noFill/>
        </a:ln>
      </p:spPr>
      <p:txBody>
        <a:bodyPr wrap="square" anchor="t"/>
        <a:lstStyle/>
        <a:p>
          <a:pPr algn="l"/>
          <a:r>
            <a:rPr lang="vi-VN" sz="1320" dirty="0">
              <a:b/>
              <a:solidFill>
                <a:srgbClr val="EEFDF8"/>
              </a:solidFill>
              <a:latin typeface="Aptos Display"/>
              <a:cs typeface="Arial"/>
            </a:rPr>
            <a:t>Hanwha/i-PRO/Hikvision</a:t>
          </a:r>
        </a:p>
      </p:txBody>
    </p:sp>
    <p:sp>
      <p:nvSpPr>
        <p:cNvPr id="31" name="Text"/>
        <p:cNvSpPr txBox="1"/>
        <p:nvPr/>
      </p:nvSpPr>
      <p:spPr>
        <a:xfrm>
          <a:off x="6245352" y="4087368"/>
          <a:ext cx="4617720" cy="164592"/>
        </a:xfrm>
        <a:prstGeom prst="rect">
          <a:avLst/>
        </a:prstGeom>
        <a:noFill/>
        <a:ln>
          <a:noFill/>
        </a:ln>
      </p:spPr>
      <p:txBody>
        <a:bodyPr wrap="square" anchor="t"/>
        <a:lstStyle/>
        <a:p>
          <a:pPr algn="l"/>
          <a:r>
            <a:rPr lang="vi-VN" sz="790" dirty="0">
              <a:solidFill>
                <a:srgbClr val="A8C4C0"/>
              </a:solidFill>
              <a:latin typeface="Aptos Display"/>
              <a:cs typeface="Arial"/>
            </a:rPr>
            <a:t>Có hướng fall detection chuyên dụng nhưng chi phí cao hoặc chưa dễ tiếp cận tại Việt Nam.</a:t>
          </a:r>
        </a:p>
      </p:txBody>
    </p:sp>
    <p:sp>
      <p:nvSpPr>
        <p:cNvPr id="32" name="Panel"/>
        <p:cNvSpPr/>
        <p:nvPr/>
      </p:nvSpPr>
      <p:spPr>
        <a:xfrm>
          <a:off x="6080760" y="4663440"/>
          <a:ext cx="5074920" cy="749808"/>
        </a:xfrm>
        <a:prstGeom prst="roundRect">
          <a:avLst/>
        </a:prstGeom>
        <a:solidFill>
          <a:srgbClr val="1A2B20">
            <a:alpha val="85000"/>
          </a:srgbClr>
        </a:solidFill>
        <a:ln w="12700">
          <a:solidFill>
            <a:srgbClr val="B8D8A4">
              <a:alpha val="52000"/>
            </a:srgbClr>
          </a:solidFill>
        </a:ln>
      </p:spPr>
    </p:sp>
    <p:sp>
      <p:nvSpPr>
        <p:cNvPr id="33" name="Text"/>
        <p:cNvSpPr txBox="1"/>
        <p:nvPr/>
      </p:nvSpPr>
      <p:spPr>
        <a:xfrm>
          <a:off x="6245352" y="4773168"/>
          <a:ext cx="4709160" cy="182880"/>
        </a:xfrm>
        <a:prstGeom prst="rect">
          <a:avLst/>
        </a:prstGeom>
        <a:noFill/>
        <a:ln>
          <a:noFill/>
        </a:ln>
      </p:spPr>
      <p:txBody>
        <a:bodyPr wrap="square" anchor="t"/>
        <a:lstStyle/>
        <a:p>
          <a:pPr algn="l"/>
          <a:r>
            <a:rPr lang="vi-VN" sz="1320" dirty="0">
              <a:b/>
              <a:solidFill>
                <a:srgbClr val="EEFDF8"/>
              </a:solidFill>
              <a:latin typeface="Aptos Display"/>
              <a:cs typeface="Arial"/>
            </a:rPr>
            <a:t>SYL</a:t>
          </a:r>
        </a:p>
      </p:txBody>
    </p:sp>
    <p:sp>
      <p:nvSpPr>
        <p:cNvPr id="34" name="Text"/>
        <p:cNvSpPr txBox="1"/>
        <p:nvPr/>
      </p:nvSpPr>
      <p:spPr>
        <a:xfrm>
          <a:off x="6245352" y="5047488"/>
          <a:ext cx="4617720" cy="164592"/>
        </a:xfrm>
        <a:prstGeom prst="rect">
          <a:avLst/>
        </a:prstGeom>
        <a:noFill/>
        <a:ln>
          <a:noFill/>
        </a:ln>
      </p:spPr>
      <p:txBody>
        <a:bodyPr wrap="square" anchor="t"/>
        <a:lstStyle/>
        <a:p>
          <a:pPr algn="l"/>
          <a:r>
            <a:rPr lang="vi-VN" sz="790" dirty="0">
              <a:solidFill>
                <a:srgbClr val="A8C4C0"/>
              </a:solidFill>
              <a:latin typeface="Aptos Display"/>
              <a:cs typeface="Arial"/>
            </a:rPr>
            <a:t>Định vị là lớp AI chăm sóc: fall detection, stranger alert, evidence và phân quyền.</a:t>
          </a:r>
        </a:p>
      </p:txBody>
    </p:sp>
    <p:sp>
      <p:nvSpPr>
        <p:cNvPr id="35"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36" name="Text"/>
        <p:cNvSpPr txBox="1"/>
        <p:nvPr/>
      </p:nvSpPr>
      <p:spPr>
        <a:xfrm>
          <a:off x="96926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Price ladder</a:t>
          </a:r>
        </a:p>
      </p:txBody>
    </p:sp>
    <p:sp>
      <p:nvSpPr>
        <p:cNvPr id="37" name="Panel"/>
        <p:cNvSpPr/>
        <p:nvPr/>
      </p:nvSpPr>
      <p:spPr>
        <a:xfrm>
          <a:off x="1005840" y="5690494"/>
          <a:ext cx="292608" cy="161665"/>
        </a:xfrm>
        <a:prstGeom prst="roundRect">
          <a:avLst/>
        </a:prstGeom>
        <a:solidFill>
          <a:srgbClr val="59E0D0">
            <a:alpha val="100000"/>
          </a:srgbClr>
        </a:solidFill>
        <a:ln w="12700">
          <a:solidFill>
            <a:srgbClr val="59E0D0">
              <a:alpha val="52000"/>
            </a:srgbClr>
          </a:solidFill>
        </a:ln>
      </p:spPr>
    </p:sp>
    <p:sp>
      <p:nvSpPr>
        <p:cNvPr id="38" name="Panel"/>
        <p:cNvSpPr/>
        <p:nvPr/>
      </p:nvSpPr>
      <p:spPr>
        <a:xfrm>
          <a:off x="1399032" y="5587898"/>
          <a:ext cx="292608" cy="264261"/>
        </a:xfrm>
        <a:prstGeom prst="roundRect">
          <a:avLst/>
        </a:prstGeom>
        <a:solidFill>
          <a:srgbClr val="59E0D0">
            <a:alpha val="100000"/>
          </a:srgbClr>
        </a:solidFill>
        <a:ln w="12700">
          <a:solidFill>
            <a:srgbClr val="59E0D0">
              <a:alpha val="52000"/>
            </a:srgbClr>
          </a:solidFill>
        </a:ln>
      </p:spPr>
    </p:sp>
    <p:sp>
      <p:nvSpPr>
        <p:cNvPr id="39" name="Panel"/>
        <p:cNvSpPr/>
        <p:nvPr/>
      </p:nvSpPr>
      <p:spPr>
        <a:xfrm>
          <a:off x="1792224" y="5541264"/>
          <a:ext cx="292608" cy="310896"/>
        </a:xfrm>
        <a:prstGeom prst="roundRect">
          <a:avLst/>
        </a:prstGeom>
        <a:solidFill>
          <a:srgbClr val="59E0D0">
            <a:alpha val="100000"/>
          </a:srgbClr>
        </a:solidFill>
        <a:ln w="12700">
          <a:solidFill>
            <a:srgbClr val="59E0D0">
              <a:alpha val="52000"/>
            </a:srgbClr>
          </a:solidFill>
        </a:ln>
      </p:spPr>
    </p:sp>
    <p:sp>
      <p:nvSpPr>
        <p:cNvPr id="40"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41" name="Text"/>
        <p:cNvSpPr txBox="1"/>
        <p:nvPr/>
      </p:nvSpPr>
      <p:spPr>
        <a:xfrm>
          <a:off x="320954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Positioning</a:t>
          </a:r>
        </a:p>
      </p:txBody>
    </p:sp>
    <p:sp>
      <p:nvSpPr>
        <p:cNvPr id="42" name="Panel"/>
        <p:cNvSpPr/>
        <p:nvPr/>
      </p:nvSpPr>
      <p:spPr>
        <a:xfrm>
          <a:off x="3246120" y="5712256"/>
          <a:ext cx="292608" cy="139903"/>
        </a:xfrm>
        <a:prstGeom prst="roundRect">
          <a:avLst/>
        </a:prstGeom>
        <a:solidFill>
          <a:srgbClr val="59E0D0">
            <a:alpha val="100000"/>
          </a:srgbClr>
        </a:solidFill>
        <a:ln w="12700">
          <a:solidFill>
            <a:srgbClr val="59E0D0">
              <a:alpha val="52000"/>
            </a:srgbClr>
          </a:solidFill>
        </a:ln>
      </p:spPr>
    </p:sp>
    <p:sp>
      <p:nvSpPr>
        <p:cNvPr id="43" name="Panel"/>
        <p:cNvSpPr/>
        <p:nvPr/>
      </p:nvSpPr>
      <p:spPr>
        <a:xfrm>
          <a:off x="3639312" y="5618988"/>
          <a:ext cx="292608" cy="233172"/>
        </a:xfrm>
        <a:prstGeom prst="roundRect">
          <a:avLst/>
        </a:prstGeom>
        <a:solidFill>
          <a:srgbClr val="59E0D0">
            <a:alpha val="100000"/>
          </a:srgbClr>
        </a:solidFill>
        <a:ln w="12700">
          <a:solidFill>
            <a:srgbClr val="59E0D0">
              <a:alpha val="52000"/>
            </a:srgbClr>
          </a:solidFill>
        </a:ln>
      </p:spPr>
    </p:sp>
    <p:sp>
      <p:nvSpPr>
        <p:cNvPr id="44" name="Panel"/>
        <p:cNvSpPr/>
        <p:nvPr/>
      </p:nvSpPr>
      <p:spPr>
        <a:xfrm>
          <a:off x="4032504" y="5681167"/>
          <a:ext cx="292608" cy="170992"/>
        </a:xfrm>
        <a:prstGeom prst="roundRect">
          <a:avLst/>
        </a:prstGeom>
        <a:solidFill>
          <a:srgbClr val="59E0D0">
            <a:alpha val="100000"/>
          </a:srgbClr>
        </a:solidFill>
        <a:ln w="12700">
          <a:solidFill>
            <a:srgbClr val="59E0D0">
              <a:alpha val="52000"/>
            </a:srgbClr>
          </a:solidFill>
        </a:ln>
      </p:spPr>
    </p:sp>
    <p:sp>
      <p:nvSpPr>
        <p:cNvPr id="45"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46" name="Text"/>
        <p:cNvSpPr txBox="1"/>
        <p:nvPr/>
      </p:nvSpPr>
      <p:spPr>
        <a:xfrm>
          <a:off x="544982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Go-to-market</a:t>
          </a:r>
        </a:p>
      </p:txBody>
    </p:sp>
    <p:sp>
      <p:nvSpPr>
        <p:cNvPr id="47" name="Panel"/>
        <p:cNvSpPr/>
        <p:nvPr/>
      </p:nvSpPr>
      <p:spPr>
        <a:xfrm>
          <a:off x="5486400" y="5702929"/>
          <a:ext cx="292608" cy="149230"/>
        </a:xfrm>
        <a:prstGeom prst="roundRect">
          <a:avLst/>
        </a:prstGeom>
        <a:solidFill>
          <a:srgbClr val="59E0D0">
            <a:alpha val="100000"/>
          </a:srgbClr>
        </a:solidFill>
        <a:ln w="12700">
          <a:solidFill>
            <a:srgbClr val="59E0D0">
              <a:alpha val="52000"/>
            </a:srgbClr>
          </a:solidFill>
        </a:ln>
      </p:spPr>
    </p:sp>
    <p:sp>
      <p:nvSpPr>
        <p:cNvPr id="48" name="Panel"/>
        <p:cNvSpPr/>
        <p:nvPr/>
      </p:nvSpPr>
      <p:spPr>
        <a:xfrm>
          <a:off x="5879592" y="5609661"/>
          <a:ext cx="292608" cy="242498"/>
        </a:xfrm>
        <a:prstGeom prst="roundRect">
          <a:avLst/>
        </a:prstGeom>
        <a:solidFill>
          <a:srgbClr val="59E0D0">
            <a:alpha val="100000"/>
          </a:srgbClr>
        </a:solidFill>
        <a:ln w="12700">
          <a:solidFill>
            <a:srgbClr val="59E0D0">
              <a:alpha val="52000"/>
            </a:srgbClr>
          </a:solidFill>
        </a:ln>
      </p:spPr>
    </p:sp>
    <p:sp>
      <p:nvSpPr>
        <p:cNvPr id="49" name="Panel"/>
        <p:cNvSpPr/>
        <p:nvPr/>
      </p:nvSpPr>
      <p:spPr>
        <a:xfrm>
          <a:off x="6272784" y="5553699"/>
          <a:ext cx="292608" cy="298460"/>
        </a:xfrm>
        <a:prstGeom prst="roundRect">
          <a:avLst/>
        </a:prstGeom>
        <a:solidFill>
          <a:srgbClr val="59E0D0">
            <a:alpha val="100000"/>
          </a:srgbClr>
        </a:solidFill>
        <a:ln w="12700">
          <a:solidFill>
            <a:srgbClr val="59E0D0">
              <a:alpha val="52000"/>
            </a:srgbClr>
          </a:solidFill>
        </a:ln>
      </p:spPr>
    </p:sp>
    <p:sp>
      <p:nvSpPr>
        <p:cNvPr id="50"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10 / 13</a:t>
          </a:r>
        </a:p>
      </p:txBody>
    </p:sp>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Privacy &amp; Roles</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Cảnh báo khẩn cấp phải đi cùng quyền riêng tư có kiểm soát.</a:t>
          </a:r>
        </a:p>
      </p:txBody>
    </p:sp>
    <p:sp>
      <p:nvSpPr>
        <p:cNvPr id="14" name="Panel"/>
        <p:cNvSpPr/>
        <p:nvPr/>
      </p:nvSpPr>
      <p:spPr>
        <a:xfrm>
          <a:off x="841248" y="3566160"/>
          <a:ext cx="2505456" cy="987552"/>
        </a:xfrm>
        <a:prstGeom prst="roundRect">
          <a:avLst/>
        </a:prstGeom>
        <a:solidFill>
          <a:srgbClr val="1F3022">
            <a:alpha val="85000"/>
          </a:srgbClr>
        </a:solidFill>
        <a:ln w="12700">
          <a:solidFill>
            <a:srgbClr val="B8D8A4">
              <a:alpha val="52000"/>
            </a:srgbClr>
          </a:solidFill>
        </a:ln>
      </p:spPr>
    </p:sp>
    <p:sp>
      <p:nvSpPr>
        <p:cNvPr id="15" name="Text"/>
        <p:cNvSpPr txBox="1"/>
        <p:nvPr/>
      </p:nvSpPr>
      <p:spPr>
        <a:xfrm>
          <a:off x="987552" y="3685032"/>
          <a:ext cx="2212848" cy="256032"/>
        </a:xfrm>
        <a:prstGeom prst="rect">
          <a:avLst/>
        </a:prstGeom>
        <a:noFill/>
        <a:ln>
          <a:noFill/>
        </a:ln>
      </p:spPr>
      <p:txBody>
        <a:bodyPr wrap="square" anchor="t"/>
        <a:lstStyle/>
        <a:p>
          <a:pPr algn="l"/>
          <a:r>
            <a:rPr lang="vi-VN" sz="1560" dirty="0">
              <a:b/>
              <a:solidFill>
                <a:srgbClr val="EEFDF8"/>
              </a:solidFill>
              <a:latin typeface="Aptos Display"/>
              <a:cs typeface="Arial"/>
            </a:rPr>
            <a:t>Admin</a:t>
          </a:r>
        </a:p>
      </p:txBody>
    </p:sp>
    <p:sp>
      <p:nvSpPr>
        <p:cNvPr id="16" name="Text"/>
        <p:cNvSpPr txBox="1"/>
        <p:nvPr/>
      </p:nvSpPr>
      <p:spPr>
        <a:xfrm>
          <a:off x="987552" y="3977639"/>
          <a:ext cx="2212848" cy="420624"/>
        </a:xfrm>
        <a:prstGeom prst="rect">
          <a:avLst/>
        </a:prstGeom>
        <a:noFill/>
        <a:ln>
          <a:noFill/>
        </a:ln>
      </p:spPr>
      <p:txBody>
        <a:bodyPr wrap="square" anchor="t"/>
        <a:lstStyle/>
        <a:p>
          <a:pPr algn="l"/>
          <a:r>
            <a:rPr lang="vi-VN" sz="940" dirty="0">
              <a:solidFill>
                <a:srgbClr val="A8C4C0"/>
              </a:solidFill>
              <a:latin typeface="Aptos Display"/>
              <a:cs typeface="Arial"/>
            </a:rPr>
            <a:t>Thêm camera, phân quyền, xem dashboard và kiểm tra lỗi hệ thống.</a:t>
          </a:r>
        </a:p>
      </p:txBody>
    </p:sp>
    <p:sp>
      <p:nvSpPr>
        <p:cNvPr id="17" name="Panel"/>
        <p:cNvSpPr/>
        <p:nvPr/>
      </p:nvSpPr>
      <p:spPr>
        <a:xfrm>
          <a:off x="3511296" y="3566160"/>
          <a:ext cx="2505456" cy="987552"/>
        </a:xfrm>
        <a:prstGeom prst="roundRect">
          <a:avLst/>
        </a:prstGeom>
        <a:solidFill>
          <a:srgbClr val="1F3022">
            <a:alpha val="85000"/>
          </a:srgbClr>
        </a:solidFill>
        <a:ln w="12700">
          <a:solidFill>
            <a:srgbClr val="B8D8A4">
              <a:alpha val="52000"/>
            </a:srgbClr>
          </a:solidFill>
        </a:ln>
      </p:spPr>
    </p:sp>
    <p:sp>
      <p:nvSpPr>
        <p:cNvPr id="18" name="Text"/>
        <p:cNvSpPr txBox="1"/>
        <p:nvPr/>
      </p:nvSpPr>
      <p:spPr>
        <a:xfrm>
          <a:off x="3657600" y="3685032"/>
          <a:ext cx="2212848" cy="256032"/>
        </a:xfrm>
        <a:prstGeom prst="rect">
          <a:avLst/>
        </a:prstGeom>
        <a:noFill/>
        <a:ln>
          <a:noFill/>
        </a:ln>
      </p:spPr>
      <p:txBody>
        <a:bodyPr wrap="square" anchor="t"/>
        <a:lstStyle/>
        <a:p>
          <a:pPr algn="l"/>
          <a:r>
            <a:rPr lang="vi-VN" sz="1560" dirty="0">
              <a:b/>
              <a:solidFill>
                <a:srgbClr val="EEFDF8"/>
              </a:solidFill>
              <a:latin typeface="Aptos Display"/>
              <a:cs typeface="Arial"/>
            </a:rPr>
            <a:t>Gia đình</a:t>
          </a:r>
        </a:p>
      </p:txBody>
    </p:sp>
    <p:sp>
      <p:nvSpPr>
        <p:cNvPr id="19" name="Text"/>
        <p:cNvSpPr txBox="1"/>
        <p:nvPr/>
      </p:nvSpPr>
      <p:spPr>
        <a:xfrm>
          <a:off x="3657600" y="3977639"/>
          <a:ext cx="2212848" cy="420624"/>
        </a:xfrm>
        <a:prstGeom prst="rect">
          <a:avLst/>
        </a:prstGeom>
        <a:noFill/>
        <a:ln>
          <a:noFill/>
        </a:ln>
      </p:spPr>
      <p:txBody>
        <a:bodyPr wrap="square" anchor="t"/>
        <a:lstStyle/>
        <a:p>
          <a:pPr algn="l"/>
          <a:r>
            <a:rPr lang="vi-VN" sz="940" dirty="0">
              <a:solidFill>
                <a:srgbClr val="A8C4C0"/>
              </a:solidFill>
              <a:latin typeface="Aptos Display"/>
              <a:cs typeface="Arial"/>
            </a:rPr>
            <a:t>Chỉ xem camera được cấp phép và nhận cảnh báo liên quan đến người thân.</a:t>
          </a:r>
        </a:p>
      </p:txBody>
    </p:sp>
    <p:sp>
      <p:nvSpPr>
        <p:cNvPr id="20" name="Panel"/>
        <p:cNvSpPr/>
        <p:nvPr/>
      </p:nvSpPr>
      <p:spPr>
        <a:xfrm>
          <a:off x="6181344" y="3566160"/>
          <a:ext cx="2505456" cy="987552"/>
        </a:xfrm>
        <a:prstGeom prst="roundRect">
          <a:avLst/>
        </a:prstGeom>
        <a:solidFill>
          <a:srgbClr val="1F3022">
            <a:alpha val="85000"/>
          </a:srgbClr>
        </a:solidFill>
        <a:ln w="12700">
          <a:solidFill>
            <a:srgbClr val="B8D8A4">
              <a:alpha val="52000"/>
            </a:srgbClr>
          </a:solidFill>
        </a:ln>
      </p:spPr>
    </p:sp>
    <p:sp>
      <p:nvSpPr>
        <p:cNvPr id="21" name="Text"/>
        <p:cNvSpPr txBox="1"/>
        <p:nvPr/>
      </p:nvSpPr>
      <p:spPr>
        <a:xfrm>
          <a:off x="6327648" y="3685032"/>
          <a:ext cx="2212848" cy="256032"/>
        </a:xfrm>
        <a:prstGeom prst="rect">
          <a:avLst/>
        </a:prstGeom>
        <a:noFill/>
        <a:ln>
          <a:noFill/>
        </a:ln>
      </p:spPr>
      <p:txBody>
        <a:bodyPr wrap="square" anchor="t"/>
        <a:lstStyle/>
        <a:p>
          <a:pPr algn="l"/>
          <a:r>
            <a:rPr lang="vi-VN" sz="1560" dirty="0">
              <a:b/>
              <a:solidFill>
                <a:srgbClr val="EEFDF8"/>
              </a:solidFill>
              <a:latin typeface="Aptos Display"/>
              <a:cs typeface="Arial"/>
            </a:rPr>
            <a:t>Bác sĩ</a:t>
          </a:r>
        </a:p>
      </p:txBody>
    </p:sp>
    <p:sp>
      <p:nvSpPr>
        <p:cNvPr id="22" name="Text"/>
        <p:cNvSpPr txBox="1"/>
        <p:nvPr/>
      </p:nvSpPr>
      <p:spPr>
        <a:xfrm>
          <a:off x="6327648" y="3977639"/>
          <a:ext cx="2212848" cy="420624"/>
        </a:xfrm>
        <a:prstGeom prst="rect">
          <a:avLst/>
        </a:prstGeom>
        <a:noFill/>
        <a:ln>
          <a:noFill/>
        </a:ln>
      </p:spPr>
      <p:txBody>
        <a:bodyPr wrap="square" anchor="t"/>
        <a:lstStyle/>
        <a:p>
          <a:pPr algn="l"/>
          <a:r>
            <a:rPr lang="vi-VN" sz="940" dirty="0">
              <a:solidFill>
                <a:srgbClr val="A8C4C0"/>
              </a:solidFill>
              <a:latin typeface="Aptos Display"/>
              <a:cs typeface="Arial"/>
            </a:rPr>
            <a:t>Được cấp quyền tạm thời khi có sự cố, phục vụ tư vấn hoặc đánh giá nhanh.</a:t>
          </a:r>
        </a:p>
      </p:txBody>
    </p:sp>
    <p:sp>
      <p:nvSpPr>
        <p:cNvPr id="23" name="Panel"/>
        <p:cNvSpPr/>
        <p:nvPr/>
      </p:nvSpPr>
      <p:spPr>
        <a:xfrm>
          <a:off x="8851392" y="3566160"/>
          <a:ext cx="2505456" cy="987552"/>
        </a:xfrm>
        <a:prstGeom prst="roundRect">
          <a:avLst/>
        </a:prstGeom>
        <a:solidFill>
          <a:srgbClr val="1F3022">
            <a:alpha val="85000"/>
          </a:srgbClr>
        </a:solidFill>
        <a:ln w="12700">
          <a:solidFill>
            <a:srgbClr val="B8D8A4">
              <a:alpha val="52000"/>
            </a:srgbClr>
          </a:solidFill>
        </a:ln>
      </p:spPr>
    </p:sp>
    <p:sp>
      <p:nvSpPr>
        <p:cNvPr id="24" name="Text"/>
        <p:cNvSpPr txBox="1"/>
        <p:nvPr/>
      </p:nvSpPr>
      <p:spPr>
        <a:xfrm>
          <a:off x="8997696" y="3685032"/>
          <a:ext cx="2212848" cy="256032"/>
        </a:xfrm>
        <a:prstGeom prst="rect">
          <a:avLst/>
        </a:prstGeom>
        <a:noFill/>
        <a:ln>
          <a:noFill/>
        </a:ln>
      </p:spPr>
      <p:txBody>
        <a:bodyPr wrap="square" anchor="t"/>
        <a:lstStyle/>
        <a:p>
          <a:pPr algn="l"/>
          <a:r>
            <a:rPr lang="vi-VN" sz="1560" dirty="0">
              <a:b/>
              <a:solidFill>
                <a:srgbClr val="EEFDF8"/>
              </a:solidFill>
              <a:latin typeface="Aptos Display"/>
              <a:cs typeface="Arial"/>
            </a:rPr>
            <a:t>5 phút</a:t>
          </a:r>
        </a:p>
      </p:txBody>
    </p:sp>
    <p:sp>
      <p:nvSpPr>
        <p:cNvPr id="25" name="Text"/>
        <p:cNvSpPr txBox="1"/>
        <p:nvPr/>
      </p:nvSpPr>
      <p:spPr>
        <a:xfrm>
          <a:off x="8997696" y="3977639"/>
          <a:ext cx="2212848" cy="420624"/>
        </a:xfrm>
        <a:prstGeom prst="rect">
          <a:avLst/>
        </a:prstGeom>
        <a:noFill/>
        <a:ln>
          <a:noFill/>
        </a:ln>
      </p:spPr>
      <p:txBody>
        <a:bodyPr wrap="square" anchor="t"/>
        <a:lstStyle/>
        <a:p>
          <a:pPr algn="l"/>
          <a:r>
            <a:rPr lang="vi-VN" sz="940" dirty="0">
              <a:solidFill>
                <a:srgbClr val="A8C4C0"/>
              </a:solidFill>
              <a:latin typeface="Aptos Display"/>
              <a:cs typeface="Arial"/>
            </a:rPr>
            <a:t>Quyền xem tình huống khẩn cấp tự thu hồi để giảm rủi ro lạm dụng dữ liệu.</a:t>
          </a:r>
        </a:p>
      </p:txBody>
    </p:sp>
    <p:sp>
      <p:nvSpPr>
        <p:cNvPr id="26" name="Panel"/>
        <p:cNvSpPr/>
        <p:nvPr/>
      </p:nvSpPr>
      <p:spPr>
        <a:xfrm>
          <a:off x="841248" y="5321808"/>
          <a:ext cx="2057400" cy="658368"/>
        </a:xfrm>
        <a:prstGeom prst="roundRect">
          <a:avLst/>
        </a:prstGeom>
        <a:solidFill>
          <a:srgbClr val="1A2B20">
            <a:alpha val="83000"/>
          </a:srgbClr>
        </a:solidFill>
        <a:ln w="12700">
          <a:solidFill>
            <a:srgbClr val="B8D8A4">
              <a:alpha val="52000"/>
            </a:srgbClr>
          </a:solidFill>
        </a:ln>
      </p:spPr>
    </p:sp>
    <p:sp>
      <p:nvSpPr>
        <p:cNvPr id="27" name="Text"/>
        <p:cNvSpPr txBox="1"/>
        <p:nvPr/>
      </p:nvSpPr>
      <p:spPr>
        <a:xfrm>
          <a:off x="96926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Access scope</a:t>
          </a:r>
        </a:p>
      </p:txBody>
    </p:sp>
    <p:sp>
      <p:nvSpPr>
        <p:cNvPr id="28" name="Panel"/>
        <p:cNvSpPr/>
        <p:nvPr/>
      </p:nvSpPr>
      <p:spPr>
        <a:xfrm>
          <a:off x="1005840" y="5541264"/>
          <a:ext cx="292608" cy="310896"/>
        </a:xfrm>
        <a:prstGeom prst="roundRect">
          <a:avLst/>
        </a:prstGeom>
        <a:solidFill>
          <a:srgbClr val="59E0D0">
            <a:alpha val="100000"/>
          </a:srgbClr>
        </a:solidFill>
        <a:ln w="12700">
          <a:solidFill>
            <a:srgbClr val="59E0D0">
              <a:alpha val="52000"/>
            </a:srgbClr>
          </a:solidFill>
        </a:ln>
      </p:spPr>
    </p:sp>
    <p:sp>
      <p:nvSpPr>
        <p:cNvPr id="29" name="Panel"/>
        <p:cNvSpPr/>
        <p:nvPr/>
      </p:nvSpPr>
      <p:spPr>
        <a:xfrm>
          <a:off x="1399032" y="5653186"/>
          <a:ext cx="292608" cy="198973"/>
        </a:xfrm>
        <a:prstGeom prst="roundRect">
          <a:avLst/>
        </a:prstGeom>
        <a:solidFill>
          <a:srgbClr val="59E0D0">
            <a:alpha val="100000"/>
          </a:srgbClr>
        </a:solidFill>
        <a:ln w="12700">
          <a:solidFill>
            <a:srgbClr val="59E0D0">
              <a:alpha val="52000"/>
            </a:srgbClr>
          </a:solidFill>
        </a:ln>
      </p:spPr>
    </p:sp>
    <p:sp>
      <p:nvSpPr>
        <p:cNvPr id="30" name="Panel"/>
        <p:cNvSpPr/>
        <p:nvPr/>
      </p:nvSpPr>
      <p:spPr>
        <a:xfrm>
          <a:off x="1792224" y="5740237"/>
          <a:ext cx="292608" cy="111922"/>
        </a:xfrm>
        <a:prstGeom prst="roundRect">
          <a:avLst/>
        </a:prstGeom>
        <a:solidFill>
          <a:srgbClr val="59E0D0">
            <a:alpha val="100000"/>
          </a:srgbClr>
        </a:solidFill>
        <a:ln w="12700">
          <a:solidFill>
            <a:srgbClr val="59E0D0">
              <a:alpha val="52000"/>
            </a:srgbClr>
          </a:solidFill>
        </a:ln>
      </p:spPr>
    </p:sp>
    <p:sp>
      <p:nvSpPr>
        <p:cNvPr id="31" name="Panel"/>
        <p:cNvSpPr/>
        <p:nvPr/>
      </p:nvSpPr>
      <p:spPr>
        <a:xfrm>
          <a:off x="3081528" y="5321808"/>
          <a:ext cx="2057400" cy="658368"/>
        </a:xfrm>
        <a:prstGeom prst="roundRect">
          <a:avLst/>
        </a:prstGeom>
        <a:solidFill>
          <a:srgbClr val="1A2B20">
            <a:alpha val="83000"/>
          </a:srgbClr>
        </a:solidFill>
        <a:ln w="12700">
          <a:solidFill>
            <a:srgbClr val="B8D8A4">
              <a:alpha val="52000"/>
            </a:srgbClr>
          </a:solidFill>
        </a:ln>
      </p:spPr>
    </p:sp>
    <p:sp>
      <p:nvSpPr>
        <p:cNvPr id="32" name="Text"/>
        <p:cNvSpPr txBox="1"/>
        <p:nvPr/>
      </p:nvSpPr>
      <p:spPr>
        <a:xfrm>
          <a:off x="3209544" y="5413248"/>
          <a:ext cx="1097280" cy="109728"/>
        </a:xfrm>
        <a:prstGeom prst="rect">
          <a:avLst/>
        </a:prstGeom>
        <a:noFill/>
        <a:ln>
          <a:noFill/>
        </a:ln>
      </p:spPr>
      <p:txBody>
        <a:bodyPr wrap="square" anchor="t"/>
        <a:lstStyle/>
        <a:p>
          <a:pPr algn="l"/>
          <a:r>
            <a:rPr lang="vi-VN" sz="780" dirty="0">
              <a:b/>
              <a:solidFill>
                <a:srgbClr val="EEFDF8"/>
              </a:solidFill>
              <a:latin typeface="Aptos Display"/>
              <a:cs typeface="Arial"/>
            </a:rPr>
            <a:t>Doctor window</a:t>
          </a:r>
        </a:p>
      </p:txBody>
    </p:sp>
    <p:sp>
      <p:nvSpPr>
        <p:cNvPr id="33" name="Text"/>
        <p:cNvSpPr txBox="1"/>
        <p:nvPr/>
      </p:nvSpPr>
      <p:spPr>
        <a:xfrm>
          <a:off x="4197096" y="5541264"/>
          <a:ext cx="749808" cy="164592"/>
        </a:xfrm>
        <a:prstGeom prst="rect">
          <a:avLst/>
        </a:prstGeom>
        <a:noFill/>
        <a:ln>
          <a:noFill/>
        </a:ln>
      </p:spPr>
      <p:txBody>
        <a:bodyPr wrap="square" anchor="t"/>
        <a:lstStyle/>
        <a:p>
          <a:pPr algn="ctr"/>
          <a:r>
            <a:rPr lang="vi-VN" sz="1350" dirty="0">
              <a:b/>
              <a:solidFill>
                <a:srgbClr val="70F0A8"/>
              </a:solidFill>
              <a:latin typeface="Aptos Display"/>
              <a:cs typeface="Arial"/>
            </a:rPr>
            <a:t>5p</a:t>
          </a:r>
        </a:p>
      </p:txBody>
    </p:sp>
    <p:sp>
      <p:nvSpPr>
        <p:cNvPr id="34" name="Panel"/>
        <p:cNvSpPr/>
        <p:nvPr/>
      </p:nvSpPr>
      <p:spPr>
        <a:xfrm>
          <a:off x="5321808" y="5321808"/>
          <a:ext cx="2057400" cy="658368"/>
        </a:xfrm>
        <a:prstGeom prst="roundRect">
          <a:avLst/>
        </a:prstGeom>
        <a:solidFill>
          <a:srgbClr val="1A2B20">
            <a:alpha val="83000"/>
          </a:srgbClr>
        </a:solidFill>
        <a:ln w="12700">
          <a:solidFill>
            <a:srgbClr val="B8D8A4">
              <a:alpha val="52000"/>
            </a:srgbClr>
          </a:solidFill>
        </a:ln>
      </p:spPr>
    </p:sp>
    <p:sp>
      <p:nvSpPr>
        <p:cNvPr id="35" name="Text"/>
        <p:cNvSpPr txBox="1"/>
        <p:nvPr/>
      </p:nvSpPr>
      <p:spPr>
        <a:xfrm>
          <a:off x="5449824" y="541324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Data risk</a:t>
          </a:r>
        </a:p>
      </p:txBody>
    </p:sp>
    <p:sp>
      <p:nvSpPr>
        <p:cNvPr id="36" name="Panel"/>
        <p:cNvSpPr/>
        <p:nvPr/>
      </p:nvSpPr>
      <p:spPr>
        <a:xfrm>
          <a:off x="5486400" y="5572353"/>
          <a:ext cx="292608" cy="279806"/>
        </a:xfrm>
        <a:prstGeom prst="roundRect">
          <a:avLst/>
        </a:prstGeom>
        <a:solidFill>
          <a:srgbClr val="59E0D0">
            <a:alpha val="100000"/>
          </a:srgbClr>
        </a:solidFill>
        <a:ln w="12700">
          <a:solidFill>
            <a:srgbClr val="59E0D0">
              <a:alpha val="52000"/>
            </a:srgbClr>
          </a:solidFill>
        </a:ln>
      </p:spPr>
    </p:sp>
    <p:sp>
      <p:nvSpPr>
        <p:cNvPr id="37" name="Panel"/>
        <p:cNvSpPr/>
        <p:nvPr/>
      </p:nvSpPr>
      <p:spPr>
        <a:xfrm>
          <a:off x="5879592" y="5690494"/>
          <a:ext cx="292608" cy="161665"/>
        </a:xfrm>
        <a:prstGeom prst="roundRect">
          <a:avLst/>
        </a:prstGeom>
        <a:solidFill>
          <a:srgbClr val="59E0D0">
            <a:alpha val="100000"/>
          </a:srgbClr>
        </a:solidFill>
        <a:ln w="12700">
          <a:solidFill>
            <a:srgbClr val="59E0D0">
              <a:alpha val="52000"/>
            </a:srgbClr>
          </a:solidFill>
        </a:ln>
      </p:spPr>
    </p:sp>
    <p:sp>
      <p:nvSpPr>
        <p:cNvPr id="38" name="Panel"/>
        <p:cNvSpPr/>
        <p:nvPr/>
      </p:nvSpPr>
      <p:spPr>
        <a:xfrm>
          <a:off x="6272784" y="5777544"/>
          <a:ext cx="292608" cy="74615"/>
        </a:xfrm>
        <a:prstGeom prst="roundRect">
          <a:avLst/>
        </a:prstGeom>
        <a:solidFill>
          <a:srgbClr val="59E0D0">
            <a:alpha val="100000"/>
          </a:srgbClr>
        </a:solidFill>
        <a:ln w="12700">
          <a:solidFill>
            <a:srgbClr val="59E0D0">
              <a:alpha val="52000"/>
            </a:srgbClr>
          </a:solidFill>
        </a:ln>
      </p:spPr>
    </p:sp>
    <p:sp>
      <p:nvSpPr>
        <p:cNvPr id="39"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11 / 13</a:t>
          </a:r>
        </a:p>
      </p:txBody>
    </p:sp>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pic>
      <p:nvPicPr>
        <p:cNvPr id="11" name="logo.jpg"/>
        <p:cNvPicPr>
          <a:picLocks noChangeAspect="1"/>
        </p:cNvPicPr>
        <p:nvPr/>
      </p:nvPicPr>
      <p:blipFill>
        <a:blip r:embed="rId2"/>
        <a:stretch>
          <a:fillRect/>
        </a:stretch>
      </p:blipFill>
      <p:spPr>
        <a:xfrm>
          <a:off x="658368" y="256032"/>
          <a:ext cx="1024128" cy="502920"/>
        </a:xfrm>
        <a:prstGeom prst="rect">
          <a:avLst/>
        </a:prstGeom>
      </p:spPr>
    </p:pic>
    <p:sp>
      <p:nvSpPr>
        <p:cNvPr id="12" name="Text"/>
        <p:cNvSpPr txBox="1"/>
        <p:nvPr/>
      </p:nvSpPr>
      <p:spPr>
        <a:xfrm>
          <a:off x="841248" y="932688"/>
          <a:ext cx="4389120" cy="256032"/>
        </a:xfrm>
        <a:prstGeom prst="rect">
          <a:avLst/>
        </a:prstGeom>
        <a:noFill/>
        <a:ln>
          <a:noFill/>
        </a:ln>
      </p:spPr>
      <p:txBody>
        <a:bodyPr wrap="square" anchor="t"/>
        <a:lstStyle/>
        <a:p>
          <a:pPr algn="l"/>
          <a:r>
            <a:rPr lang="vi-VN" sz="1150" dirty="0">
              <a:b/>
              <a:solidFill>
                <a:srgbClr val="59E0D0"/>
              </a:solidFill>
              <a:latin typeface="Aptos Display"/>
              <a:cs typeface="Arial"/>
            </a:rPr>
            <a:t>Next Step</a:t>
          </a:r>
        </a:p>
      </p:txBody>
    </p:sp>
    <p:sp>
      <p:nvSpPr>
        <p:cNvPr id="13" name="Text"/>
        <p:cNvSpPr txBox="1"/>
        <p:nvPr/>
      </p:nvSpPr>
      <p:spPr>
        <a:xfrm>
          <a:off x="804672" y="1344168"/>
          <a:ext cx="10515600" cy="1051560"/>
        </a:xfrm>
        <a:prstGeom prst="rect">
          <a:avLst/>
        </a:prstGeom>
        <a:noFill/>
        <a:ln>
          <a:noFill/>
        </a:ln>
      </p:spPr>
      <p:txBody>
        <a:bodyPr wrap="square" anchor="t"/>
        <a:lstStyle/>
        <a:p>
          <a:pPr algn="l"/>
          <a:r>
            <a:rPr lang="vi-VN" sz="2900" dirty="0">
              <a:b/>
              <a:solidFill>
                <a:srgbClr val="EEFDF8"/>
              </a:solidFill>
              <a:latin typeface="Aptos Display"/>
              <a:cs typeface="Arial"/>
            </a:rPr>
            <a:t>Từ ý tưởng đến sản phẩm thị trường trong 19 tuần.</a:t>
          </a:r>
        </a:p>
      </p:txBody>
    </p:sp>
    <p:sp>
      <p:nvSpPr>
        <p:cNvPr id="14" name="Panel"/>
        <p:cNvSpPr/>
        <p:nvPr/>
      </p:nvSpPr>
      <p:spPr>
        <a:xfrm>
          <a:off x="841248" y="2834640"/>
          <a:ext cx="5074920" cy="1060704"/>
        </a:xfrm>
        <a:prstGeom prst="roundRect">
          <a:avLst/>
        </a:prstGeom>
        <a:solidFill>
          <a:srgbClr val="1A2B20">
            <a:alpha val="85000"/>
          </a:srgbClr>
        </a:solidFill>
        <a:ln w="12700">
          <a:solidFill>
            <a:srgbClr val="B8D8A4">
              <a:alpha val="52000"/>
            </a:srgbClr>
          </a:solidFill>
        </a:ln>
      </p:spPr>
    </p:sp>
    <p:sp>
      <p:nvSpPr>
        <p:cNvPr id="15" name="Text"/>
        <p:cNvSpPr txBox="1"/>
        <p:nvPr/>
      </p:nvSpPr>
      <p:spPr>
        <a:xfrm>
          <a:off x="996696" y="2944368"/>
          <a:ext cx="4736592" cy="219456"/>
        </a:xfrm>
        <a:prstGeom prst="rect">
          <a:avLst/>
        </a:prstGeom>
        <a:noFill/>
        <a:ln>
          <a:noFill/>
        </a:ln>
      </p:spPr>
      <p:txBody>
        <a:bodyPr wrap="square" anchor="t"/>
        <a:lstStyle/>
        <a:p>
          <a:pPr algn="l"/>
          <a:r>
            <a:rPr lang="vi-VN" sz="1380" dirty="0">
              <a:b/>
              <a:solidFill>
                <a:srgbClr val="EEFDF8"/>
              </a:solidFill>
              <a:latin typeface="Aptos Display"/>
              <a:cs typeface="Arial"/>
            </a:rPr>
            <a:t>Phase 1 · 0–1 tháng</a:t>
          </a:r>
        </a:p>
      </p:txBody>
    </p:sp>
    <p:sp>
      <p:nvSpPr>
        <p:cNvPr id="16" name="Text"/>
        <p:cNvSpPr txBox="1"/>
        <p:nvPr/>
      </p:nvSpPr>
      <p:spPr>
        <a:xfrm>
          <a:off x="996696" y="3227832"/>
          <a:ext cx="4709160" cy="502920"/>
        </a:xfrm>
        <a:prstGeom prst="rect">
          <a:avLst/>
        </a:prstGeom>
        <a:noFill/>
        <a:ln>
          <a:noFill/>
        </a:ln>
      </p:spPr>
      <p:txBody>
        <a:bodyPr wrap="square" anchor="t"/>
        <a:lstStyle/>
        <a:p>
          <a:pPr algn="l"/>
          <a:r>
            <a:rPr lang="vi-VN" sz="780" dirty="0">
              <a:solidFill>
                <a:srgbClr val="A8C4C0"/>
              </a:solidFill>
              <a:latin typeface="Aptos Display"/>
              <a:cs typeface="Arial"/>
            </a:rPr>
            <a:t>Hoàn thiện MVP: access control, emergency alerts và demo run ổn định.</a:t>
          </a:r>
        </a:p>
      </p:txBody>
    </p:sp>
    <p:sp>
      <p:nvSpPr>
        <p:cNvPr id="17" name="Panel"/>
        <p:cNvSpPr/>
        <p:nvPr/>
      </p:nvSpPr>
      <p:spPr>
        <a:xfrm>
          <a:off x="6199632" y="2834640"/>
          <a:ext cx="5074920" cy="1060704"/>
        </a:xfrm>
        <a:prstGeom prst="roundRect">
          <a:avLst/>
        </a:prstGeom>
        <a:solidFill>
          <a:srgbClr val="1A2B20">
            <a:alpha val="85000"/>
          </a:srgbClr>
        </a:solidFill>
        <a:ln w="12700">
          <a:solidFill>
            <a:srgbClr val="B8D8A4">
              <a:alpha val="52000"/>
            </a:srgbClr>
          </a:solidFill>
        </a:ln>
      </p:spPr>
    </p:sp>
    <p:sp>
      <p:nvSpPr>
        <p:cNvPr id="18" name="Text"/>
        <p:cNvSpPr txBox="1"/>
        <p:nvPr/>
      </p:nvSpPr>
      <p:spPr>
        <a:xfrm>
          <a:off x="6355080" y="2944368"/>
          <a:ext cx="4736592" cy="219456"/>
        </a:xfrm>
        <a:prstGeom prst="rect">
          <a:avLst/>
        </a:prstGeom>
        <a:noFill/>
        <a:ln>
          <a:noFill/>
        </a:ln>
      </p:spPr>
      <p:txBody>
        <a:bodyPr wrap="square" anchor="t"/>
        <a:lstStyle/>
        <a:p>
          <a:pPr algn="l"/>
          <a:r>
            <a:rPr lang="vi-VN" sz="1380" dirty="0">
              <a:b/>
              <a:solidFill>
                <a:srgbClr val="EEFDF8"/>
              </a:solidFill>
              <a:latin typeface="Aptos Display"/>
              <a:cs typeface="Arial"/>
            </a:rPr>
            <a:t>Phase 2 · 3 tuần</a:t>
          </a:r>
        </a:p>
      </p:txBody>
    </p:sp>
    <p:sp>
      <p:nvSpPr>
        <p:cNvPr id="19" name="Text"/>
        <p:cNvSpPr txBox="1"/>
        <p:nvPr/>
      </p:nvSpPr>
      <p:spPr>
        <a:xfrm>
          <a:off x="6355080" y="3227832"/>
          <a:ext cx="4709160" cy="502920"/>
        </a:xfrm>
        <a:prstGeom prst="rect">
          <a:avLst/>
        </a:prstGeom>
        <a:noFill/>
        <a:ln>
          <a:noFill/>
        </a:ln>
      </p:spPr>
      <p:txBody>
        <a:bodyPr wrap="square" anchor="t"/>
        <a:lstStyle/>
        <a:p>
          <a:pPr algn="l"/>
          <a:r>
            <a:rPr lang="vi-VN" sz="780" dirty="0">
              <a:solidFill>
                <a:srgbClr val="A8C4C0"/>
              </a:solidFill>
              <a:latin typeface="Aptos Display"/>
              <a:cs typeface="Arial"/>
            </a:rPr>
            <a:t>Benchmark trên các gateway/camera phổ biến để đo FPS, độ trễ và độ ổn định.</a:t>
          </a:r>
        </a:p>
      </p:txBody>
    </p:sp>
    <p:sp>
      <p:nvSpPr>
        <p:cNvPr id="20" name="Panel"/>
        <p:cNvSpPr/>
        <p:nvPr/>
      </p:nvSpPr>
      <p:spPr>
        <a:xfrm>
          <a:off x="841248" y="4133087"/>
          <a:ext cx="5074920" cy="1060704"/>
        </a:xfrm>
        <a:prstGeom prst="roundRect">
          <a:avLst/>
        </a:prstGeom>
        <a:solidFill>
          <a:srgbClr val="1A2B20">
            <a:alpha val="85000"/>
          </a:srgbClr>
        </a:solidFill>
        <a:ln w="12700">
          <a:solidFill>
            <a:srgbClr val="B8D8A4">
              <a:alpha val="52000"/>
            </a:srgbClr>
          </a:solidFill>
        </a:ln>
      </p:spPr>
    </p:sp>
    <p:sp>
      <p:nvSpPr>
        <p:cNvPr id="21" name="Text"/>
        <p:cNvSpPr txBox="1"/>
        <p:nvPr/>
      </p:nvSpPr>
      <p:spPr>
        <a:xfrm>
          <a:off x="996696" y="4242816"/>
          <a:ext cx="4736592" cy="219456"/>
        </a:xfrm>
        <a:prstGeom prst="rect">
          <a:avLst/>
        </a:prstGeom>
        <a:noFill/>
        <a:ln>
          <a:noFill/>
        </a:ln>
      </p:spPr>
      <p:txBody>
        <a:bodyPr wrap="square" anchor="t"/>
        <a:lstStyle/>
        <a:p>
          <a:pPr algn="l"/>
          <a:r>
            <a:rPr lang="vi-VN" sz="1380" dirty="0">
              <a:b/>
              <a:solidFill>
                <a:srgbClr val="EEFDF8"/>
              </a:solidFill>
              <a:latin typeface="Aptos Display"/>
              <a:cs typeface="Arial"/>
            </a:rPr>
            <a:t>Đối tác nhận được gì</a:t>
          </a:r>
        </a:p>
      </p:txBody>
    </p:sp>
    <p:sp>
      <p:nvSpPr>
        <p:cNvPr id="22" name="Text"/>
        <p:cNvSpPr txBox="1"/>
        <p:nvPr/>
      </p:nvSpPr>
      <p:spPr>
        <a:xfrm>
          <a:off x="996696" y="4526279"/>
          <a:ext cx="4709160" cy="502920"/>
        </a:xfrm>
        <a:prstGeom prst="rect">
          <a:avLst/>
        </a:prstGeom>
        <a:noFill/>
        <a:ln>
          <a:noFill/>
        </a:ln>
      </p:spPr>
      <p:txBody>
        <a:bodyPr wrap="square" anchor="t"/>
        <a:lstStyle/>
        <a:p>
          <a:pPr algn="l"/>
          <a:r>
            <a:rPr lang="vi-VN" sz="780" dirty="0">
              <a:solidFill>
                <a:srgbClr val="A8C4C0"/>
              </a:solidFill>
              <a:latin typeface="Aptos Display"/>
              <a:cs typeface="Arial"/>
            </a:rPr>
            <a:t>Đối tác camera cung cấp camera, đội hỗ trợ kỹ thuật riêng và ưu đãi giá. Đối tác địa điểm cung cấp nơi thử nghiệm và được dùng thử sản phẩm miễn phí 3 tháng.</a:t>
          </a:r>
        </a:p>
      </p:txBody>
    </p:sp>
    <p:sp>
      <p:nvSpPr>
        <p:cNvPr id="23" name="Panel"/>
        <p:cNvSpPr/>
        <p:nvPr/>
      </p:nvSpPr>
      <p:spPr>
        <a:xfrm>
          <a:off x="6199632" y="4133087"/>
          <a:ext cx="5074920" cy="1060704"/>
        </a:xfrm>
        <a:prstGeom prst="roundRect">
          <a:avLst/>
        </a:prstGeom>
        <a:solidFill>
          <a:srgbClr val="1A2B20">
            <a:alpha val="85000"/>
          </a:srgbClr>
        </a:solidFill>
        <a:ln w="12700">
          <a:solidFill>
            <a:srgbClr val="B8D8A4">
              <a:alpha val="52000"/>
            </a:srgbClr>
          </a:solidFill>
        </a:ln>
      </p:spPr>
    </p:sp>
    <p:sp>
      <p:nvSpPr>
        <p:cNvPr id="24" name="Text"/>
        <p:cNvSpPr txBox="1"/>
        <p:nvPr/>
      </p:nvSpPr>
      <p:spPr>
        <a:xfrm>
          <a:off x="6355080" y="4242816"/>
          <a:ext cx="4736592" cy="219456"/>
        </a:xfrm>
        <a:prstGeom prst="rect">
          <a:avLst/>
        </a:prstGeom>
        <a:noFill/>
        <a:ln>
          <a:noFill/>
        </a:ln>
      </p:spPr>
      <p:txBody>
        <a:bodyPr wrap="square" anchor="t"/>
        <a:lstStyle/>
        <a:p>
          <a:pPr algn="l"/>
          <a:r>
            <a:rPr lang="vi-VN" sz="1380" dirty="0">
              <a:b/>
              <a:solidFill>
                <a:srgbClr val="EEFDF8"/>
              </a:solidFill>
              <a:latin typeface="Aptos Display"/>
              <a:cs typeface="Arial"/>
            </a:rPr>
            <a:t>Mục tiêu pilot 3 tháng</a:t>
          </a:r>
        </a:p>
      </p:txBody>
    </p:sp>
    <p:sp>
      <p:nvSpPr>
        <p:cNvPr id="25" name="Text"/>
        <p:cNvSpPr txBox="1"/>
        <p:nvPr/>
      </p:nvSpPr>
      <p:spPr>
        <a:xfrm>
          <a:off x="6355080" y="4526279"/>
          <a:ext cx="4709160" cy="502920"/>
        </a:xfrm>
        <a:prstGeom prst="rect">
          <a:avLst/>
        </a:prstGeom>
        <a:noFill/>
        <a:ln>
          <a:noFill/>
        </a:ln>
      </p:spPr>
      <p:txBody>
        <a:bodyPr wrap="square" anchor="t"/>
        <a:lstStyle/>
        <a:p>
          <a:pPr algn="l"/>
          <a:r>
            <a:rPr lang="vi-VN" sz="780" dirty="0">
              <a:solidFill>
                <a:srgbClr val="A8C4C0"/>
              </a:solidFill>
              <a:latin typeface="Aptos Display"/>
              <a:cs typeface="Arial"/>
            </a:rPr>
            <a:t>Xác nhận hệ thống đạt Recall ≥85% và Precision với độ trễ cảnh báo chấp nhận được trên phần cứng/mạng thực tế của đối tác, không chỉ trong môi trường test nội bộ.</a:t>
          </a:r>
        </a:p>
      </p:txBody>
    </p:sp>
    <p:sp>
      <p:nvSpPr>
        <p:cNvPr id="26" name="Panel"/>
        <p:cNvSpPr/>
        <p:nvPr/>
      </p:nvSpPr>
      <p:spPr>
        <a:xfrm>
          <a:off x="841248" y="5669280"/>
          <a:ext cx="9875520" cy="502920"/>
        </a:xfrm>
        <a:prstGeom prst="roundRect">
          <a:avLst/>
        </a:prstGeom>
        <a:solidFill>
          <a:srgbClr val="2B3A24">
            <a:alpha val="76000"/>
          </a:srgbClr>
        </a:solidFill>
        <a:ln w="12700">
          <a:solidFill>
            <a:srgbClr val="7FB069">
              <a:alpha val="52000"/>
            </a:srgbClr>
          </a:solidFill>
        </a:ln>
      </p:spPr>
    </p:sp>
    <p:sp>
      <p:nvSpPr>
        <p:cNvPr id="27" name="Text"/>
        <p:cNvSpPr txBox="1"/>
        <p:nvPr/>
      </p:nvSpPr>
      <p:spPr>
        <a:xfrm>
          <a:off x="1024128" y="5797296"/>
          <a:ext cx="9326880" cy="201168"/>
        </a:xfrm>
        <a:prstGeom prst="rect">
          <a:avLst/>
        </a:prstGeom>
        <a:noFill/>
        <a:ln>
          <a:noFill/>
        </a:ln>
      </p:spPr>
      <p:txBody>
        <a:bodyPr wrap="square" anchor="t"/>
        <a:lstStyle/>
        <a:p>
          <a:pPr algn="l"/>
          <a:r>
            <a:rPr lang="vi-VN" sz="940" dirty="0">
              <a:solidFill>
                <a:srgbClr val="D8F4EF"/>
              </a:solidFill>
              <a:latin typeface="Aptos Display"/>
              <a:cs typeface="Arial"/>
            </a:rPr>
            <a:t>Kết luận: SYL có thể triển khai và launch ra thị trường trong 19 tuần, tính từ lúc hình thành ý tưởng đến sản phẩm hoàn chỉnh.</a:t>
          </a:r>
        </a:p>
      </p:txBody>
    </p:sp>
    <p:sp>
      <p:nvSpPr>
        <p:cNvPr id="28" name="Panel"/>
        <p:cNvSpPr/>
        <p:nvPr/>
      </p:nvSpPr>
      <p:spPr>
        <a:xfrm>
          <a:off x="841248" y="5138928"/>
          <a:ext cx="2057400" cy="362102"/>
        </a:xfrm>
        <a:prstGeom prst="roundRect">
          <a:avLst/>
        </a:prstGeom>
        <a:solidFill>
          <a:srgbClr val="1A2B20">
            <a:alpha val="83000"/>
          </a:srgbClr>
        </a:solidFill>
        <a:ln w="12700">
          <a:solidFill>
            <a:srgbClr val="B8D8A4">
              <a:alpha val="52000"/>
            </a:srgbClr>
          </a:solidFill>
        </a:ln>
      </p:spPr>
    </p:sp>
    <p:sp>
      <p:nvSpPr>
        <p:cNvPr id="29" name="Text"/>
        <p:cNvSpPr txBox="1"/>
        <p:nvPr/>
      </p:nvSpPr>
      <p:spPr>
        <a:xfrm>
          <a:off x="969264" y="523036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MVP</a:t>
          </a:r>
        </a:p>
      </p:txBody>
    </p:sp>
    <p:sp>
      <p:nvSpPr>
        <p:cNvPr id="30" name="Panel"/>
        <p:cNvSpPr/>
        <p:nvPr/>
      </p:nvSpPr>
      <p:spPr>
        <a:xfrm>
          <a:off x="1005840" y="5374193"/>
          <a:ext cx="292608" cy="56427"/>
        </a:xfrm>
        <a:prstGeom prst="roundRect">
          <a:avLst/>
        </a:prstGeom>
        <a:solidFill>
          <a:srgbClr val="59E0D0">
            <a:alpha val="100000"/>
          </a:srgbClr>
        </a:solidFill>
        <a:ln w="12700">
          <a:solidFill>
            <a:srgbClr val="59E0D0">
              <a:alpha val="52000"/>
            </a:srgbClr>
          </a:solidFill>
        </a:ln>
      </p:spPr>
    </p:sp>
    <p:sp>
      <p:nvSpPr>
        <p:cNvPr id="31" name="Panel"/>
        <p:cNvSpPr/>
        <p:nvPr/>
      </p:nvSpPr>
      <p:spPr>
        <a:xfrm>
          <a:off x="3081528" y="5138928"/>
          <a:ext cx="2057400" cy="362102"/>
        </a:xfrm>
        <a:prstGeom prst="roundRect">
          <a:avLst/>
        </a:prstGeom>
        <a:solidFill>
          <a:srgbClr val="1A2B20">
            <a:alpha val="83000"/>
          </a:srgbClr>
        </a:solidFill>
        <a:ln w="12700">
          <a:solidFill>
            <a:srgbClr val="B8D8A4">
              <a:alpha val="52000"/>
            </a:srgbClr>
          </a:solidFill>
        </a:ln>
      </p:spPr>
    </p:sp>
    <p:sp>
      <p:nvSpPr>
        <p:cNvPr id="32" name="Text"/>
        <p:cNvSpPr txBox="1"/>
        <p:nvPr/>
      </p:nvSpPr>
      <p:spPr>
        <a:xfrm>
          <a:off x="3209544" y="523036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Benchmark</a:t>
          </a:r>
        </a:p>
      </p:txBody>
    </p:sp>
    <p:sp>
      <p:nvSpPr>
        <p:cNvPr id="33" name="Panel"/>
        <p:cNvSpPr/>
        <p:nvPr/>
      </p:nvSpPr>
      <p:spPr>
        <a:xfrm>
          <a:off x="3246120" y="5387873"/>
          <a:ext cx="292608" cy="42748"/>
        </a:xfrm>
        <a:prstGeom prst="roundRect">
          <a:avLst/>
        </a:prstGeom>
        <a:solidFill>
          <a:srgbClr val="59E0D0">
            <a:alpha val="100000"/>
          </a:srgbClr>
        </a:solidFill>
        <a:ln w="12700">
          <a:solidFill>
            <a:srgbClr val="59E0D0">
              <a:alpha val="52000"/>
            </a:srgbClr>
          </a:solidFill>
        </a:ln>
      </p:spPr>
    </p:sp>
    <p:sp>
      <p:nvSpPr>
        <p:cNvPr id="34" name="Panel"/>
        <p:cNvSpPr/>
        <p:nvPr/>
      </p:nvSpPr>
      <p:spPr>
        <a:xfrm>
          <a:off x="5321808" y="5138928"/>
          <a:ext cx="2057400" cy="362102"/>
        </a:xfrm>
        <a:prstGeom prst="roundRect">
          <a:avLst/>
        </a:prstGeom>
        <a:solidFill>
          <a:srgbClr val="1A2B20">
            <a:alpha val="83000"/>
          </a:srgbClr>
        </a:solidFill>
        <a:ln w="12700">
          <a:solidFill>
            <a:srgbClr val="B8D8A4">
              <a:alpha val="52000"/>
            </a:srgbClr>
          </a:solidFill>
        </a:ln>
      </p:spPr>
    </p:sp>
    <p:sp>
      <p:nvSpPr>
        <p:cNvPr id="35" name="Text"/>
        <p:cNvSpPr txBox="1"/>
        <p:nvPr/>
      </p:nvSpPr>
      <p:spPr>
        <a:xfrm>
          <a:off x="5449824" y="5230368"/>
          <a:ext cx="1737360" cy="109728"/>
        </a:xfrm>
        <a:prstGeom prst="rect">
          <a:avLst/>
        </a:prstGeom>
        <a:noFill/>
        <a:ln>
          <a:noFill/>
        </a:ln>
      </p:spPr>
      <p:txBody>
        <a:bodyPr wrap="square" anchor="t"/>
        <a:lstStyle/>
        <a:p>
          <a:pPr algn="l"/>
          <a:r>
            <a:rPr lang="vi-VN" sz="780" dirty="0">
              <a:b/>
              <a:solidFill>
                <a:srgbClr val="EEFDF8"/>
              </a:solidFill>
              <a:latin typeface="Aptos Display"/>
              <a:cs typeface="Arial"/>
            </a:rPr>
            <a:t>Trial</a:t>
          </a:r>
        </a:p>
      </p:txBody>
    </p:sp>
    <p:sp>
      <p:nvSpPr>
        <p:cNvPr id="36" name="Panel"/>
        <p:cNvSpPr/>
        <p:nvPr/>
      </p:nvSpPr>
      <p:spPr>
        <a:xfrm>
          <a:off x="5486400" y="5259628"/>
          <a:ext cx="292608" cy="170992"/>
        </a:xfrm>
        <a:prstGeom prst="roundRect">
          <a:avLst/>
        </a:prstGeom>
        <a:solidFill>
          <a:srgbClr val="59E0D0">
            <a:alpha val="100000"/>
          </a:srgbClr>
        </a:solidFill>
        <a:ln w="12700">
          <a:solidFill>
            <a:srgbClr val="59E0D0">
              <a:alpha val="52000"/>
            </a:srgbClr>
          </a:solidFill>
        </a:ln>
      </p:spPr>
    </p:sp>
    <p:sp>
      <p:nvSpPr>
        <p:cNvPr id="37"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12 / 13</a:t>
          </a:r>
        </a:p>
      </p:txBody>
    </p:sp>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xmlns:p14="http://schemas.microsoft.com/office/powerpoint/2010/main">
  <p:cSld>
    <p:bg>
      <p:bgPr>
        <a:solidFill>
          <a:srgbClr val="102018"/>
        </a:solidFill>
        <a:effectLst/>
      </p:bgPr>
    </p:bg>
    <p:sp>
      <p:nvSpPr>
        <p:cNvPr id="11" name="Panel"/>
        <p:cNvSpPr/>
        <p:nvPr/>
      </p:nvSpPr>
      <p:spPr>
        <a:xfrm>
          <a:off x="1353312" y="640080"/>
          <a:ext cx="9491472" cy="4572000"/>
        </a:xfrm>
        <a:prstGeom prst="roundRect">
          <a:avLst/>
        </a:prstGeom>
        <a:solidFill>
          <a:srgbClr val="FFFFFF">
            <a:alpha val="98000"/>
          </a:srgbClr>
        </a:solidFill>
        <a:ln w="12700">
          <a:solidFill>
            <a:srgbClr val="B8D8A4">
              <a:alpha val="52000"/>
            </a:srgbClr>
          </a:solidFill>
        </a:ln>
      </p:spPr>
    </p:sp>
    <p:pic>
      <p:nvPicPr>
        <p:cNvPr id="12" name="logo.jpg"/>
        <p:cNvPicPr>
          <a:picLocks noChangeAspect="1"/>
        </p:cNvPicPr>
        <p:nvPr/>
      </p:nvPicPr>
      <p:blipFill>
        <a:blip r:embed="rId2"/>
        <a:stretch>
          <a:fillRect/>
        </a:stretch>
      </p:blipFill>
      <p:spPr>
        <a:xfrm>
          <a:off x="1783080" y="1097280"/>
          <a:ext cx="8641080" cy="3703320"/>
        </a:xfrm>
        <a:prstGeom prst="rect">
          <a:avLst/>
        </a:prstGeom>
      </p:spPr>
    </p:pic>
    <p:sp>
      <p:nvSpPr>
        <p:cNvPr id="13" name="Text"/>
        <p:cNvSpPr txBox="1"/>
        <p:nvPr/>
      </p:nvSpPr>
      <p:spPr>
        <a:xfrm>
          <a:off x="841248" y="5486400"/>
          <a:ext cx="10515600" cy="411480"/>
        </a:xfrm>
        <a:prstGeom prst="rect">
          <a:avLst/>
        </a:prstGeom>
        <a:noFill/>
        <a:ln>
          <a:noFill/>
        </a:ln>
      </p:spPr>
      <p:txBody>
        <a:bodyPr wrap="square" anchor="t"/>
        <a:lstStyle/>
        <a:p>
          <a:pPr algn="ctr"/>
          <a:r>
            <a:rPr lang="vi-VN" sz="2500" dirty="0">
              <a:b/>
              <a:solidFill>
                <a:srgbClr val="EEFDF8"/>
              </a:solidFill>
              <a:latin typeface="Aptos Display"/>
              <a:cs typeface="Arial"/>
            </a:rPr>
            <a:t>melphins</a:t>
          </a:r>
        </a:p>
      </p:txBody>
    </p:sp>
    <p:sp>
      <p:nvSpPr>
        <p:cNvPr id="14" name="Text"/>
        <p:cNvSpPr txBox="1"/>
        <p:nvPr/>
      </p:nvSpPr>
      <p:spPr>
        <a:xfrm>
          <a:off x="10716768" y="6272784"/>
          <a:ext cx="868680" cy="146304"/>
        </a:xfrm>
        <a:prstGeom prst="rect">
          <a:avLst/>
        </a:prstGeom>
        <a:noFill/>
        <a:ln>
          <a:noFill/>
        </a:ln>
      </p:spPr>
      <p:txBody>
        <a:bodyPr wrap="square" anchor="t"/>
        <a:lstStyle/>
        <a:p>
          <a:pPr algn="r"/>
          <a:r>
            <a:rPr lang="vi-VN" sz="850" dirty="0">
              <a:b/>
              <a:solidFill>
                <a:srgbClr val="A8C4C0"/>
              </a:solidFill>
              <a:latin typeface="Aptos Display"/>
              <a:cs typeface="Arial"/>
            </a:rPr>
            <a:t>13 / 13</a:t>
          </a:r>
        </a:p>
      </p:txBody>
    </p:sp>
  </p:cSld>
  <p:clrMapOvr>
    <a:masterClrMapping/>
  </p:clrMapOvr>
</p:sld>
</file>

<file path=ppt/theme/theme1.xml><?xml version="1.0" encoding="utf-8"?>
<a:theme xmlns:a="http://schemas.openxmlformats.org/drawingml/2006/main" name="SYL Theme">
  <a:themeElements>
    <a:clrScheme name="SYL">
      <a:dk1>
        <a:srgbClr val="102018"/>
      </a:dk1>
      <a:lt1>
        <a:srgbClr val="EEFDF8"/>
      </a:lt1>
      <a:dk2>
        <a:srgbClr val="1F3022"/>
      </a:dk2>
      <a:lt2>
        <a:srgbClr val="A8C4C0"/>
      </a:lt2>
      <a:accent1>
        <a:srgbClr val="59E0D0"/>
      </a:accent1>
      <a:accent2>
        <a:srgbClr val="70F0A8"/>
      </a:accent2>
      <a:accent3>
        <a:srgbClr val="FFD166"/>
      </a:accent3>
      <a:accent4>
        <a:srgbClr val="FF8A9A"/>
      </a:accent4>
      <a:accent5>
        <a:srgbClr val="6E8F55"/>
      </a:accent5>
      <a:accent6>
        <a:srgbClr val="2B3A24"/>
      </a:accent6>
      <a:hlink>
        <a:srgbClr val="59E0D0"/>
      </a:hlink>
      <a:folHlink>
        <a:srgbClr val="70F0A8"/>
      </a:folHlink>
    </a:clrScheme>
    <a:fontScheme name="SYL">
      <a:majorFont>
        <a:latin typeface="Aptos Display"/>
        <a:ea typeface=""/>
        <a:cs typeface="Arial"/>
      </a:majorFont>
      <a:minorFont>
        <a:latin typeface="Aptos"/>
        <a:ea typeface=""/>
        <a:cs typeface="Arial"/>
      </a:minorFont>
    </a:fontScheme>
    <a:fmtScheme name="SYL">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theme>
</file>