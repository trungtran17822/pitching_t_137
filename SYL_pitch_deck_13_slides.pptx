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13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13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người khảo sát có người lớn tuổi trong gia đình và lo lắng khi họ ở nhà một mình.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theo dõi hoặc hỗ trợ người thân lớn tuổi tại nhà.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59% / 38,5%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quan tâm đến sản phẩm / chắc chắn muốn tham gia trải nghiệm demo.</a:t>
          </a:r>
        </a:p>
      </p:txBody>
    </p:sp>
    <p:sp>
      <p:nvSpPr>
        <p:cNvPr id="23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422392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13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13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13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658368" y="2487168"/>
          <a:ext cx="7086600" cy="340156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22960" y="2651760"/>
          <a:ext cx="6748272" cy="3072384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7973568" y="2487168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138160" y="2587752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138160" y="2816352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7973568" y="3337560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138160" y="3438144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138160" y="3666744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7973568" y="4187952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138160" y="4288536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138160" y="4517136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7973568" y="5038344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138160" y="5138928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138160" y="5367528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13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13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422392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13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13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Gateway AI + hợp tác phân phối B2B2C.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Giai đoạn đầu bán sỉ qua đối tác camera; dài hạn chuyển sang hoa hồng/doanh thu theo sản phẩm bán ra.</a:t>
          </a:r>
        </a:p>
      </p:txBody>
    </p:sp>
    <p:sp>
      <p:nvSpPr>
        <p:cNvPr id="15" name="Panel"/>
        <p:cNvSpPr/>
        <p:nvPr/>
      </p:nvSpPr>
      <p:spPr>
        <a:xfrm>
          <a:off x="841248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Standard · 5.2tr</a:t>
          </a:r>
        </a:p>
      </p:txBody>
    </p:sp>
    <p:sp>
      <p:nvSpPr>
        <p:cNvPr id="17" name="Text"/>
        <p:cNvSpPr txBox="1"/>
        <p:nvPr/>
      </p:nvSpPr>
      <p:spPr>
        <a:xfrm>
          <a:off x="987552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4401312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Plus · 8.5tr</a:t>
          </a:r>
        </a:p>
      </p:txBody>
    </p:sp>
    <p:sp>
      <p:nvSpPr>
        <p:cNvPr id="20" name="Text"/>
        <p:cNvSpPr txBox="1"/>
        <p:nvPr/>
      </p:nvSpPr>
      <p:spPr>
        <a:xfrm>
          <a:off x="4547616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1" name="Panel"/>
        <p:cNvSpPr/>
        <p:nvPr/>
      </p:nvSpPr>
      <p:spPr>
        <a:xfrm>
          <a:off x="7961376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Pro · 10tr</a:t>
          </a:r>
        </a:p>
      </p:txBody>
    </p:sp>
    <p:sp>
      <p:nvSpPr>
        <p:cNvPr id="23" name="Text"/>
        <p:cNvSpPr txBox="1"/>
        <p:nvPr/>
      </p:nvSpPr>
      <p:spPr>
        <a:xfrm>
          <a:off x="8107680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13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nằm giữa camera phổ thông và hệ thống chuyên dụng đắt tiền.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17" name="Panel"/>
        <p:cNvSpPr/>
        <p:nvPr/>
      </p:nvSpPr>
      <p:spPr>
        <a:xfrm>
          <a:off x="4401312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19" name="Text"/>
        <p:cNvSpPr txBox="1"/>
        <p:nvPr/>
      </p:nvSpPr>
      <p:spPr>
        <a:xfrm>
          <a:off x="4547616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20" name="Panel"/>
        <p:cNvSpPr/>
        <p:nvPr/>
      </p:nvSpPr>
      <p:spPr>
        <a:xfrm>
          <a:off x="7961376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22" name="Text"/>
        <p:cNvSpPr txBox="1"/>
        <p:nvPr/>
      </p:nvSpPr>
      <p:spPr>
        <a:xfrm>
          <a:off x="8107680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2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13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0–1 tháng</a:t>
          </a:r>
        </a:p>
      </p:txBody>
    </p:sp>
    <p:sp>
      <p:nvSpPr>
        <p:cNvPr id="16" name="Text"/>
        <p:cNvSpPr txBox="1"/>
        <p:nvPr/>
      </p:nvSpPr>
      <p:spPr>
        <a:xfrm>
          <a:off x="996696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3 · 1–3 tháng</a:t>
          </a:r>
        </a:p>
      </p:txBody>
    </p:sp>
    <p:sp>
      <p:nvSpPr>
        <p:cNvPr id="22" name="Text"/>
        <p:cNvSpPr txBox="1"/>
        <p:nvPr/>
      </p:nvSpPr>
      <p:spPr>
        <a:xfrm>
          <a:off x="996696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Trial với đối tác camera, chủ nhà, viện dưỡng lão hoặc trung tâm phục hồi chức năng để kiểm chứng chức năng và giá.</a:t>
          </a:r>
        </a:p>
      </p:txBody>
    </p:sp>
    <p:sp>
      <p:nvSpPr>
        <p:cNvPr id="23" name="Panel"/>
        <p:cNvSpPr/>
        <p:nvPr/>
      </p:nvSpPr>
      <p:spPr>
        <a:xfrm>
          <a:off x="6199632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Kêu gọi đối tác</a:t>
          </a:r>
        </a:p>
      </p:txBody>
    </p:sp>
    <p:sp>
      <p:nvSpPr>
        <p:cNvPr id="25" name="Text"/>
        <p:cNvSpPr txBox="1"/>
        <p:nvPr/>
      </p:nvSpPr>
      <p:spPr>
        <a:xfrm>
          <a:off x="6355080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Tìm 1–2 cặp đối tác thử nghiệm và cùng đưa sản phẩm Việt Nam ra thị trường quốc tế với tính năng ổn định hơn, giá thấp hơn.</a:t>
          </a:r>
        </a:p>
      </p:txBody>
    </p:sp>
    <p:sp>
      <p:nvSpPr>
        <p:cNvPr id="26" name="Panel"/>
        <p:cNvSpPr/>
        <p:nvPr/>
      </p:nvSpPr>
      <p:spPr>
        <a:xfrm>
          <a:off x="841248" y="5413248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55040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2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13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13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