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yl-her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urvey-missed-alert.png"/><Relationship Id="rId4" Type="http://schemas.openxmlformats.org/officeDocument/2006/relationships/image" Target="../media/survey-support-solution.png"/><Relationship Id="rId5" Type="http://schemas.openxmlformats.org/officeDocument/2006/relationships/image" Target="../media/survey-early-access.png"/><Relationship Id="rId6" Type="http://schemas.openxmlformats.org/officeDocument/2006/relationships/image" Target="../media/survey-false-alarm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overview-diagram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video" Target="../media/demo.mp4"/><Relationship Id="rId4" Type="http://schemas.microsoft.com/office/2007/relationships/media" Target="../media/demo.mp4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syl-hero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  <p:sp>
      <p:nvSpPr>
        <p:cNvPr id="12" name="Overlay"/>
        <p:cNvSpPr/>
        <p:nvPr/>
      </p:nvSpPr>
      <p:spPr>
        <a:xfrm>
          <a:off x="0" y="0"/>
          <a:ext cx="12191999" cy="6858000"/>
        </a:xfrm>
        <a:prstGeom prst="rect">
          <a:avLst/>
        </a:prstGeom>
        <a:solidFill>
          <a:srgbClr val="102018">
            <a:alpha val="28000"/>
          </a:srgbClr>
        </a:solidFill>
        <a:ln>
          <a:noFill/>
        </a:ln>
      </p:spPr>
    </p:sp>
    <p:pic>
      <p:nvPicPr>
        <p:cNvPr id="13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4" name="Text"/>
        <p:cNvSpPr txBox="1"/>
        <p:nvPr/>
      </p:nvSpPr>
      <p:spPr>
        <a:xfrm>
          <a:off x="841248" y="1234440"/>
          <a:ext cx="6217920" cy="31089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59E0D0"/>
              </a:solidFill>
              <a:latin typeface="Aptos Display"/>
              <a:cs typeface="Arial"/>
            </a:rPr>
            <a:t>Fall detection · Stranger alert · Privacy by role</a:t>
          </a:r>
        </a:p>
      </p:txBody>
    </p:sp>
    <p:sp>
      <p:nvSpPr>
        <p:cNvPr id="15" name="Text"/>
        <p:cNvSpPr txBox="1"/>
        <p:nvPr/>
      </p:nvSpPr>
      <p:spPr>
        <a:xfrm>
          <a:off x="804672" y="1664208"/>
          <a:ext cx="3749039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20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16" name="Text"/>
        <p:cNvSpPr txBox="1"/>
        <p:nvPr/>
      </p:nvSpPr>
      <p:spPr>
        <a:xfrm>
          <a:off x="877824" y="2743200"/>
          <a:ext cx="5943600" cy="6217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00" dirty="0">
              <a:solidFill>
                <a:srgbClr val="D8F4EF"/>
              </a:solidFill>
              <a:latin typeface="Aptos Display"/>
              <a:cs typeface="Arial"/>
            </a:rPr>
            <a:t>Lớp AI an toàn cho gia đình có người cao tuổi: phát hiện té ngã, cảnh báo người lạ và kích hoạt hỗ trợ khẩn cấp đúng lúc.</a:t>
          </a:r>
        </a:p>
      </p:txBody>
    </p:sp>
    <p:sp>
      <p:nvSpPr>
        <p:cNvPr id="17" name="Panel"/>
        <p:cNvSpPr/>
        <p:nvPr/>
      </p:nvSpPr>
      <p:spPr>
        <a:xfrm>
          <a:off x="877824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950976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YOLO Pose</a:t>
          </a:r>
        </a:p>
      </p:txBody>
    </p:sp>
    <p:sp>
      <p:nvSpPr>
        <p:cNvPr id="19" name="Panel"/>
        <p:cNvSpPr/>
        <p:nvPr/>
      </p:nvSpPr>
      <p:spPr>
        <a:xfrm>
          <a:off x="2578608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2651760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Real-time alerts</a:t>
          </a:r>
        </a:p>
      </p:txBody>
    </p:sp>
    <p:sp>
      <p:nvSpPr>
        <p:cNvPr id="21" name="Panel"/>
        <p:cNvSpPr/>
        <p:nvPr/>
      </p:nvSpPr>
      <p:spPr>
        <a:xfrm>
          <a:off x="4279392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4352544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WebRTC/HLS streaming</a:t>
          </a:r>
        </a:p>
      </p:txBody>
    </p:sp>
    <p:sp>
      <p:nvSpPr>
        <p:cNvPr id="23" name="Panel"/>
        <p:cNvSpPr/>
        <p:nvPr/>
      </p:nvSpPr>
      <p:spPr>
        <a:xfrm>
          <a:off x="5980176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053328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B2B2C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01 / 13</a:t>
          </a:r>
        </a:p>
      </p:txBody>
    </p:sp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Problem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Khoảnh khắc nguy hiểm nhất thường xảy ra khi không ai đang nhìn.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 đình cần một hệ thống biết phân biệt sự cố thật với chuyển động bình thường, thay vì chỉ gửi thêm nhiều thông báo nhiễu.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trễ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Người đi làm hoặc sống xa không thể luôn theo dõi camera để biết cha mẹ gặp sự cố.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Alert fatigue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Motion alert quá nhiều khiến người dùng dễ tắt thông báo và bỏ lỡ cảnh báo quan trọng.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Rủi ro riêng tư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Camera gia đình phải kiểm soát ai được xem, xem trong bao lâu và xem vì lý do gì.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Risk stack</a:t>
          </a:r>
        </a:p>
      </p:txBody>
    </p:sp>
    <p:sp>
      <p:nvSpPr>
        <p:cNvPr id="26" name="Panel"/>
        <p:cNvSpPr/>
        <p:nvPr/>
      </p:nvSpPr>
      <p:spPr>
        <a:xfrm>
          <a:off x="1005840" y="5734019"/>
          <a:ext cx="292608" cy="11814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1399032" y="5640750"/>
          <a:ext cx="292608" cy="21140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Panel"/>
        <p:cNvSpPr/>
        <p:nvPr/>
      </p:nvSpPr>
      <p:spPr>
        <a:xfrm>
          <a:off x="1792224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False alarm</a:t>
          </a:r>
        </a:p>
      </p:txBody>
    </p:sp>
    <p:sp>
      <p:nvSpPr>
        <p:cNvPr id="31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32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544982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Missed alert</a:t>
          </a:r>
        </a:p>
      </p:txBody>
    </p:sp>
    <p:sp>
      <p:nvSpPr>
        <p:cNvPr id="34" name="Text"/>
        <p:cNvSpPr txBox="1"/>
        <p:nvPr/>
      </p:nvSpPr>
      <p:spPr>
        <a:xfrm>
          <a:off x="643737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02 / 13</a:t>
          </a:r>
        </a:p>
      </p:txBody>
    </p:sp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Market Signal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Survey xác nhận nỗi lo thật và mức sẵn sàng thử nghiệm.</a:t>
          </a:r>
        </a:p>
      </p:txBody>
    </p:sp>
    <p:sp>
      <p:nvSpPr>
        <p:cNvPr id="14" name="Panel"/>
        <p:cNvSpPr/>
        <p:nvPr/>
      </p:nvSpPr>
      <p:spPr>
        <a:xfrm>
          <a:off x="841248" y="2743200"/>
          <a:ext cx="1508760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50976" y="2889504"/>
          <a:ext cx="1289304" cy="30175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00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16" name="Text"/>
        <p:cNvSpPr txBox="1"/>
        <p:nvPr/>
      </p:nvSpPr>
      <p:spPr>
        <a:xfrm>
          <a:off x="950976" y="3273552"/>
          <a:ext cx="128930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câu trả lời khảo sát về nhu cầu chăm sóc người thân lớn tuổi tại nhà.</a:t>
          </a:r>
        </a:p>
      </p:txBody>
    </p:sp>
    <p:sp>
      <p:nvSpPr>
        <p:cNvPr id="17" name="Panel"/>
        <p:cNvSpPr/>
        <p:nvPr/>
      </p:nvSpPr>
      <p:spPr>
        <a:xfrm>
          <a:off x="2505456" y="2743200"/>
          <a:ext cx="1508760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2615184" y="2889504"/>
          <a:ext cx="1289304" cy="30175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00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19" name="Text"/>
        <p:cNvSpPr txBox="1"/>
        <p:nvPr/>
      </p:nvSpPr>
      <p:spPr>
        <a:xfrm>
          <a:off x="2615184" y="3273552"/>
          <a:ext cx="128930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từng gặp sự cố thật nhưng camera không cảnh báo kịp thời.</a:t>
          </a:r>
        </a:p>
      </p:txBody>
    </p:sp>
    <p:sp>
      <p:nvSpPr>
        <p:cNvPr id="20" name="Panel"/>
        <p:cNvSpPr/>
        <p:nvPr/>
      </p:nvSpPr>
      <p:spPr>
        <a:xfrm>
          <a:off x="4169664" y="2743200"/>
          <a:ext cx="1508760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4279392" y="2889504"/>
          <a:ext cx="1289304" cy="30175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000" dirty="0">
              <a:b/>
              <a:solidFill>
                <a:srgbClr val="70F0A8"/>
              </a:solidFill>
              <a:latin typeface="Aptos Display"/>
              <a:cs typeface="Arial"/>
            </a:rPr>
            <a:t>94,2%</a:t>
          </a:r>
        </a:p>
      </p:txBody>
    </p:sp>
    <p:sp>
      <p:nvSpPr>
        <p:cNvPr id="22" name="Text"/>
        <p:cNvSpPr txBox="1"/>
        <p:nvPr/>
      </p:nvSpPr>
      <p:spPr>
        <a:xfrm>
          <a:off x="4279392" y="3273552"/>
          <a:ext cx="128930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quan tâm hoặc sẵn sàng tham gia trải nghiệm thử sản phẩm.</a:t>
          </a:r>
        </a:p>
      </p:txBody>
    </p:sp>
    <p:sp>
      <p:nvSpPr>
        <p:cNvPr id="23" name="Panel"/>
        <p:cNvSpPr/>
        <p:nvPr/>
      </p:nvSpPr>
      <p:spPr>
        <a:xfrm>
          <a:off x="841248" y="3977639"/>
          <a:ext cx="4892040" cy="129844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4114800"/>
          <a:ext cx="44805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50" dirty="0">
              <a:b/>
              <a:solidFill>
                <a:srgbClr val="EEFDF8"/>
              </a:solidFill>
              <a:latin typeface="Aptos Display"/>
              <a:cs typeface="Arial"/>
            </a:rPr>
            <a:t>Tín hiệu nhu cầu từ khảo sát</a:t>
          </a:r>
        </a:p>
      </p:txBody>
    </p:sp>
    <p:sp>
      <p:nvSpPr>
        <p:cNvPr id="25" name="Text"/>
        <p:cNvSpPr txBox="1"/>
        <p:nvPr/>
      </p:nvSpPr>
      <p:spPr>
        <a:xfrm>
          <a:off x="1024128" y="4407408"/>
          <a:ext cx="14173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Thiết bị điện tử</a:t>
          </a:r>
        </a:p>
      </p:txBody>
    </p:sp>
    <p:sp>
      <p:nvSpPr>
        <p:cNvPr id="26" name="Panel"/>
        <p:cNvSpPr/>
        <p:nvPr/>
      </p:nvSpPr>
      <p:spPr>
        <a:xfrm>
          <a:off x="2487168" y="4416552"/>
          <a:ext cx="2331720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2487168" y="4416552"/>
          <a:ext cx="1434007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4956048" y="4407408"/>
          <a:ext cx="45720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80" dirty="0">
              <a:b/>
              <a:solidFill>
                <a:srgbClr val="70F0A8"/>
              </a:solidFill>
              <a:latin typeface="Aptos Display"/>
              <a:cs typeface="Arial"/>
            </a:rPr>
            <a:t>61,5%</a:t>
          </a:r>
        </a:p>
      </p:txBody>
    </p:sp>
    <p:sp>
      <p:nvSpPr>
        <p:cNvPr id="29" name="Text"/>
        <p:cNvSpPr txBox="1"/>
        <p:nvPr/>
      </p:nvSpPr>
      <p:spPr>
        <a:xfrm>
          <a:off x="1024128" y="4608576"/>
          <a:ext cx="14173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Quan tâm demo</a:t>
          </a:r>
        </a:p>
      </p:txBody>
    </p:sp>
    <p:sp>
      <p:nvSpPr>
        <p:cNvPr id="30" name="Panel"/>
        <p:cNvSpPr/>
        <p:nvPr/>
      </p:nvSpPr>
      <p:spPr>
        <a:xfrm>
          <a:off x="2487168" y="4617720"/>
          <a:ext cx="2331720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2487168" y="4617720"/>
          <a:ext cx="1254465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4956048" y="4608576"/>
          <a:ext cx="45720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80" dirty="0">
              <a:b/>
              <a:solidFill>
                <a:srgbClr val="70F0A8"/>
              </a:solidFill>
              <a:latin typeface="Aptos Display"/>
              <a:cs typeface="Arial"/>
            </a:rPr>
            <a:t>53,8%</a:t>
          </a:r>
        </a:p>
      </p:txBody>
    </p:sp>
    <p:sp>
      <p:nvSpPr>
        <p:cNvPr id="33" name="Text"/>
        <p:cNvSpPr txBox="1"/>
        <p:nvPr/>
      </p:nvSpPr>
      <p:spPr>
        <a:xfrm>
          <a:off x="1024128" y="4809744"/>
          <a:ext cx="14173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Sự cố bị miss</a:t>
          </a:r>
        </a:p>
      </p:txBody>
    </p:sp>
    <p:sp>
      <p:nvSpPr>
        <p:cNvPr id="34" name="Panel"/>
        <p:cNvSpPr/>
        <p:nvPr/>
      </p:nvSpPr>
      <p:spPr>
        <a:xfrm>
          <a:off x="2487168" y="4818888"/>
          <a:ext cx="2331720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2487168" y="4818888"/>
          <a:ext cx="1077254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4956048" y="4809744"/>
          <a:ext cx="45720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8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37" name="Text"/>
        <p:cNvSpPr txBox="1"/>
        <p:nvPr/>
      </p:nvSpPr>
      <p:spPr>
        <a:xfrm>
          <a:off x="1024128" y="5010912"/>
          <a:ext cx="14173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Sẵn sàng thử</a:t>
          </a:r>
        </a:p>
      </p:txBody>
    </p:sp>
    <p:sp>
      <p:nvSpPr>
        <p:cNvPr id="38" name="Panel"/>
        <p:cNvSpPr/>
        <p:nvPr/>
      </p:nvSpPr>
      <p:spPr>
        <a:xfrm>
          <a:off x="2487168" y="5020056"/>
          <a:ext cx="2331720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2487168" y="5020056"/>
          <a:ext cx="942014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Text"/>
        <p:cNvSpPr txBox="1"/>
        <p:nvPr/>
      </p:nvSpPr>
      <p:spPr>
        <a:xfrm>
          <a:off x="4956048" y="5010912"/>
          <a:ext cx="45720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80" dirty="0">
              <a:b/>
              <a:solidFill>
                <a:srgbClr val="70F0A8"/>
              </a:solidFill>
              <a:latin typeface="Aptos Display"/>
              <a:cs typeface="Arial"/>
            </a:rPr>
            <a:t>40,4%</a:t>
          </a:r>
        </a:p>
      </p:txBody>
    </p:sp>
    <p:sp>
      <p:nvSpPr>
        <p:cNvPr id="41" name="Panel"/>
        <p:cNvSpPr/>
        <p:nvPr/>
      </p:nvSpPr>
      <p:spPr>
        <a:xfrm>
          <a:off x="5961888" y="2606040"/>
          <a:ext cx="2487168" cy="11247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42" name="missed-alert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6044184" y="2688336"/>
          <a:ext cx="2322576" cy="960120"/>
        </a:xfrm>
        <a:prstGeom prst="rect">
          <a:avLst/>
        </a:prstGeom>
      </p:spPr>
    </p:pic>
    <p:sp>
      <p:nvSpPr>
        <p:cNvPr id="43" name="Panel"/>
        <p:cNvSpPr/>
        <p:nvPr/>
      </p:nvSpPr>
      <p:spPr>
        <a:xfrm>
          <a:off x="8641080" y="2606040"/>
          <a:ext cx="2487168" cy="11247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44" name="support-solution.png"/>
        <p:cNvPicPr>
          <a:picLocks noChangeAspect="1"/>
        </p:cNvPicPr>
        <p:nvPr/>
      </p:nvPicPr>
      <p:blipFill>
        <a:blip r:embed="rId4"/>
        <a:stretch>
          <a:fillRect/>
        </a:stretch>
      </p:blipFill>
      <p:spPr>
        <a:xfrm>
          <a:off x="8723376" y="2688336"/>
          <a:ext cx="2322576" cy="960120"/>
        </a:xfrm>
        <a:prstGeom prst="rect">
          <a:avLst/>
        </a:prstGeom>
      </p:spPr>
    </p:pic>
    <p:sp>
      <p:nvSpPr>
        <p:cNvPr id="45" name="Panel"/>
        <p:cNvSpPr/>
        <p:nvPr/>
      </p:nvSpPr>
      <p:spPr>
        <a:xfrm>
          <a:off x="5961888" y="3886200"/>
          <a:ext cx="2487168" cy="11247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46" name="early-access.png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6044184" y="3968496"/>
          <a:ext cx="2322576" cy="960120"/>
        </a:xfrm>
        <a:prstGeom prst="rect">
          <a:avLst/>
        </a:prstGeom>
      </p:spPr>
    </p:pic>
    <p:sp>
      <p:nvSpPr>
        <p:cNvPr id="47" name="Panel"/>
        <p:cNvSpPr/>
        <p:nvPr/>
      </p:nvSpPr>
      <p:spPr>
        <a:xfrm>
          <a:off x="8641080" y="3886200"/>
          <a:ext cx="2487168" cy="11247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48" name="false-alarm.png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8723376" y="3968496"/>
          <a:ext cx="2322576" cy="960120"/>
        </a:xfrm>
        <a:prstGeom prst="rect">
          <a:avLst/>
        </a:prstGeom>
      </p:spPr>
    </p:pic>
    <p:sp>
      <p:nvSpPr>
        <p:cNvPr id="49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50" name="Text"/>
        <p:cNvSpPr txBox="1"/>
        <p:nvPr/>
      </p:nvSpPr>
      <p:spPr>
        <a:xfrm>
          <a:off x="1024128" y="5413248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Nền thị trường: khoảng 16,1 triệu người cao tuổi tại Việt Nam và 1,5–1,9 triệu ca té ngã mỗi năm tạo nhu cầu rõ cho cảnh báo sớm tại nhà.</a:t>
          </a:r>
        </a:p>
      </p:txBody>
    </p:sp>
    <p:sp>
      <p:nvSpPr>
        <p:cNvPr id="51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03 / 13</a:t>
          </a:r>
        </a:p>
      </p:txBody>
    </p:sp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Solution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biến camera hiện có thành hệ thống chăm sóc chủ động.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Gateway AI kết nối camera IP, phân tích hình ảnh thời gian thực và gửi cảnh báo có bằng chứng đến đúng người xử lý.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té ngã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Nhận biết tư thế/ngữ cảnh nguy hiểm để kích hoạt cảnh báo khẩn.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người lạ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Đối chiếu người nhà với người lạ để giảm rủi ro an ninh trong nhà.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Bằng chứng tức thì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Email/app gửi snapshot hoặc video evidence để gia đình xác minh nhanh.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Fall recall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≥85%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Stranger F1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Evidence flow</a:t>
          </a:r>
        </a:p>
      </p:txBody>
    </p:sp>
    <p:sp>
      <p:nvSpPr>
        <p:cNvPr id="32" name="Panel"/>
        <p:cNvSpPr/>
        <p:nvPr/>
      </p:nvSpPr>
      <p:spPr>
        <a:xfrm>
          <a:off x="5486400" y="5758891"/>
          <a:ext cx="292608" cy="9326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879592" y="5671840"/>
          <a:ext cx="292608" cy="18031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6272784" y="5584789"/>
          <a:ext cx="292608" cy="26737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04 / 13</a:t>
          </a:r>
        </a:p>
      </p:txBody>
    </p:sp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Product Flow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camera đến hành động khẩn cấp trong vài bước.</a:t>
          </a:r>
        </a:p>
      </p:txBody>
    </p:sp>
    <p:sp>
      <p:nvSpPr>
        <p:cNvPr id="14" name="Panel"/>
        <p:cNvSpPr/>
        <p:nvPr/>
      </p:nvSpPr>
      <p:spPr>
        <a:xfrm>
          <a:off x="841248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60120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01</a:t>
          </a:r>
        </a:p>
      </p:txBody>
    </p:sp>
    <p:sp>
      <p:nvSpPr>
        <p:cNvPr id="16" name="Text"/>
        <p:cNvSpPr txBox="1"/>
        <p:nvPr/>
      </p:nvSpPr>
      <p:spPr>
        <a:xfrm>
          <a:off x="960120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Stream</a:t>
          </a:r>
        </a:p>
      </p:txBody>
    </p:sp>
    <p:sp>
      <p:nvSpPr>
        <p:cNvPr id="17" name="Text"/>
        <p:cNvSpPr txBox="1"/>
        <p:nvPr/>
      </p:nvSpPr>
      <p:spPr>
        <a:xfrm>
          <a:off x="960120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Camera IP gửi RTSP qua mạng LAN hoặc tunnel bảo mật.</a:t>
          </a:r>
        </a:p>
      </p:txBody>
    </p:sp>
    <p:sp>
      <p:nvSpPr>
        <p:cNvPr id="18" name="Panel"/>
        <p:cNvSpPr/>
        <p:nvPr/>
      </p:nvSpPr>
      <p:spPr>
        <a:xfrm>
          <a:off x="2968142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3087014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02</a:t>
          </a:r>
        </a:p>
      </p:txBody>
    </p:sp>
    <p:sp>
      <p:nvSpPr>
        <p:cNvPr id="20" name="Text"/>
        <p:cNvSpPr txBox="1"/>
        <p:nvPr/>
      </p:nvSpPr>
      <p:spPr>
        <a:xfrm>
          <a:off x="3087014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Infer</a:t>
          </a:r>
        </a:p>
      </p:txBody>
    </p:sp>
    <p:sp>
      <p:nvSpPr>
        <p:cNvPr id="21" name="Text"/>
        <p:cNvSpPr txBox="1"/>
        <p:nvPr/>
      </p:nvSpPr>
      <p:spPr>
        <a:xfrm>
          <a:off x="3087014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Model pose/face chạy inference và bám theo người trong khung hình.</a:t>
          </a:r>
        </a:p>
      </p:txBody>
    </p:sp>
    <p:sp>
      <p:nvSpPr>
        <p:cNvPr id="22" name="Panel"/>
        <p:cNvSpPr/>
        <p:nvPr/>
      </p:nvSpPr>
      <p:spPr>
        <a:xfrm>
          <a:off x="5095036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5213908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03</a:t>
          </a:r>
        </a:p>
      </p:txBody>
    </p:sp>
    <p:sp>
      <p:nvSpPr>
        <p:cNvPr id="24" name="Text"/>
        <p:cNvSpPr txBox="1"/>
        <p:nvPr/>
      </p:nvSpPr>
      <p:spPr>
        <a:xfrm>
          <a:off x="5213908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Classify</a:t>
          </a:r>
        </a:p>
      </p:txBody>
    </p:sp>
    <p:sp>
      <p:nvSpPr>
        <p:cNvPr id="25" name="Text"/>
        <p:cNvSpPr txBox="1"/>
        <p:nvPr/>
      </p:nvSpPr>
      <p:spPr>
        <a:xfrm>
          <a:off x="5213908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Temporal classifier xác định té ngã, bất động hoặc người lạ.</a:t>
          </a:r>
        </a:p>
      </p:txBody>
    </p:sp>
    <p:sp>
      <p:nvSpPr>
        <p:cNvPr id="26" name="Panel"/>
        <p:cNvSpPr/>
        <p:nvPr/>
      </p:nvSpPr>
      <p:spPr>
        <a:xfrm>
          <a:off x="7221931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7340803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04</a:t>
          </a:r>
        </a:p>
      </p:txBody>
    </p:sp>
    <p:sp>
      <p:nvSpPr>
        <p:cNvPr id="28" name="Text"/>
        <p:cNvSpPr txBox="1"/>
        <p:nvPr/>
      </p:nvSpPr>
      <p:spPr>
        <a:xfrm>
          <a:off x="7340803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Alert</a:t>
          </a:r>
        </a:p>
      </p:txBody>
    </p:sp>
    <p:sp>
      <p:nvSpPr>
        <p:cNvPr id="29" name="Text"/>
        <p:cNvSpPr txBox="1"/>
        <p:nvPr/>
      </p:nvSpPr>
      <p:spPr>
        <a:xfrm>
          <a:off x="7340803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Hệ thống gửi cảnh báo real-time kèm bằng chứng.</a:t>
          </a:r>
        </a:p>
      </p:txBody>
    </p:sp>
    <p:sp>
      <p:nvSpPr>
        <p:cNvPr id="30" name="Panel"/>
        <p:cNvSpPr/>
        <p:nvPr/>
      </p:nvSpPr>
      <p:spPr>
        <a:xfrm>
          <a:off x="9348825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9467697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05</a:t>
          </a:r>
        </a:p>
      </p:txBody>
    </p:sp>
    <p:sp>
      <p:nvSpPr>
        <p:cNvPr id="32" name="Text"/>
        <p:cNvSpPr txBox="1"/>
        <p:nvPr/>
      </p:nvSpPr>
      <p:spPr>
        <a:xfrm>
          <a:off x="9467697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Respond</a:t>
          </a:r>
        </a:p>
      </p:txBody>
    </p:sp>
    <p:sp>
      <p:nvSpPr>
        <p:cNvPr id="33" name="Text"/>
        <p:cNvSpPr txBox="1"/>
        <p:nvPr/>
      </p:nvSpPr>
      <p:spPr>
        <a:xfrm>
          <a:off x="9467697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Gia đình/admin/bác sĩ phối hợp xử lý trên app.</a:t>
          </a:r>
        </a:p>
      </p:txBody>
    </p:sp>
    <p:sp>
      <p:nvSpPr>
        <p:cNvPr id="3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Camera</a:t>
          </a:r>
        </a:p>
      </p:txBody>
    </p:sp>
    <p:sp>
      <p:nvSpPr>
        <p:cNvPr id="36" name="Panel"/>
        <p:cNvSpPr/>
        <p:nvPr/>
      </p:nvSpPr>
      <p:spPr>
        <a:xfrm>
          <a:off x="1005840" y="5696712"/>
          <a:ext cx="292608" cy="1554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1399032" y="5634532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40" name="Panel"/>
        <p:cNvSpPr/>
        <p:nvPr/>
      </p:nvSpPr>
      <p:spPr>
        <a:xfrm>
          <a:off x="3246120" y="5743346"/>
          <a:ext cx="292608" cy="10881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1" name="Panel"/>
        <p:cNvSpPr/>
        <p:nvPr/>
      </p:nvSpPr>
      <p:spPr>
        <a:xfrm>
          <a:off x="3639312" y="5650077"/>
          <a:ext cx="292608" cy="20208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2" name="Panel"/>
        <p:cNvSpPr/>
        <p:nvPr/>
      </p:nvSpPr>
      <p:spPr>
        <a:xfrm>
          <a:off x="4032504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Response</a:t>
          </a:r>
        </a:p>
      </p:txBody>
    </p:sp>
    <p:sp>
      <p:nvSpPr>
        <p:cNvPr id="45" name="Panel"/>
        <p:cNvSpPr/>
        <p:nvPr/>
      </p:nvSpPr>
      <p:spPr>
        <a:xfrm>
          <a:off x="548640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Panel"/>
        <p:cNvSpPr/>
        <p:nvPr/>
      </p:nvSpPr>
      <p:spPr>
        <a:xfrm>
          <a:off x="5879592" y="5603443"/>
          <a:ext cx="292608" cy="24871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05 / 13</a:t>
          </a:r>
        </a:p>
      </p:txBody>
    </p:sp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System Architecture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Kiến trúc triển khai thật: camera LAN, AI services, streaming và web app.</a:t>
          </a:r>
        </a:p>
      </p:txBody>
    </p:sp>
    <p:sp>
      <p:nvSpPr>
        <p:cNvPr id="14" name="Panel"/>
        <p:cNvSpPr/>
        <p:nvPr/>
      </p:nvSpPr>
      <p:spPr>
        <a:xfrm>
          <a:off x="658368" y="2487168"/>
          <a:ext cx="7086600" cy="340156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overview-diagram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822960" y="2651760"/>
          <a:ext cx="6748272" cy="3072384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7973568" y="2487168"/>
          <a:ext cx="3547872" cy="69494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Text"/>
        <p:cNvSpPr txBox="1"/>
        <p:nvPr/>
      </p:nvSpPr>
      <p:spPr>
        <a:xfrm>
          <a:off x="8138160" y="2587752"/>
          <a:ext cx="32004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80" dirty="0">
              <a:b/>
              <a:solidFill>
                <a:srgbClr val="EEFDF8"/>
              </a:solidFill>
              <a:latin typeface="Aptos Display"/>
              <a:cs typeface="Arial"/>
            </a:rPr>
            <a:t>Ingestion</a:t>
          </a:r>
        </a:p>
      </p:txBody>
    </p:sp>
    <p:sp>
      <p:nvSpPr>
        <p:cNvPr id="18" name="Text"/>
        <p:cNvSpPr txBox="1"/>
        <p:nvPr/>
      </p:nvSpPr>
      <p:spPr>
        <a:xfrm>
          <a:off x="8138160" y="2816352"/>
          <a:ext cx="3182112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50" dirty="0">
              <a:solidFill>
                <a:srgbClr val="A8C4C0"/>
              </a:solidFill>
              <a:latin typeface="Aptos Display"/>
              <a:cs typeface="Arial"/>
            </a:rPr>
            <a:t>IMOU/IP Camera qua RTSP, SSH reverse tunnel, MediaMTX và FFmpeg.</a:t>
          </a:r>
        </a:p>
      </p:txBody>
    </p:sp>
    <p:sp>
      <p:nvSpPr>
        <p:cNvPr id="19" name="Panel"/>
        <p:cNvSpPr/>
        <p:nvPr/>
      </p:nvSpPr>
      <p:spPr>
        <a:xfrm>
          <a:off x="7973568" y="3337560"/>
          <a:ext cx="3547872" cy="69494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8138160" y="3438144"/>
          <a:ext cx="32004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21" name="Text"/>
        <p:cNvSpPr txBox="1"/>
        <p:nvPr/>
      </p:nvSpPr>
      <p:spPr>
        <a:xfrm>
          <a:off x="8138160" y="3666744"/>
          <a:ext cx="3182112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50" dirty="0">
              <a:solidFill>
                <a:srgbClr val="A8C4C0"/>
              </a:solidFill>
              <a:latin typeface="Aptos Display"/>
              <a:cs typeface="Arial"/>
            </a:rPr>
            <a:t>YOLO Pose ONNX, ONNX Runtime, OpenCV, ByteTrack, Temporal Fall Classifier, YuNet &amp; SFace.</a:t>
          </a:r>
        </a:p>
      </p:txBody>
    </p:sp>
    <p:sp>
      <p:nvSpPr>
        <p:cNvPr id="22" name="Panel"/>
        <p:cNvSpPr/>
        <p:nvPr/>
      </p:nvSpPr>
      <p:spPr>
        <a:xfrm>
          <a:off x="7973568" y="4187952"/>
          <a:ext cx="3547872" cy="69494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8138160" y="4288536"/>
          <a:ext cx="32004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8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4" name="Text"/>
        <p:cNvSpPr txBox="1"/>
        <p:nvPr/>
      </p:nvSpPr>
      <p:spPr>
        <a:xfrm>
          <a:off x="8138160" y="4517136"/>
          <a:ext cx="3182112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5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điều phối alert và quyền truy cập.</a:t>
          </a:r>
        </a:p>
      </p:txBody>
    </p:sp>
    <p:sp>
      <p:nvSpPr>
        <p:cNvPr id="25" name="Panel"/>
        <p:cNvSpPr/>
        <p:nvPr/>
      </p:nvSpPr>
      <p:spPr>
        <a:xfrm>
          <a:off x="7973568" y="5038344"/>
          <a:ext cx="3547872" cy="69494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8138160" y="5138928"/>
          <a:ext cx="32004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80" dirty="0">
              <a:b/>
              <a:solidFill>
                <a:srgbClr val="EEFDF8"/>
              </a:solidFill>
              <a:latin typeface="Aptos Display"/>
              <a:cs typeface="Arial"/>
            </a:rPr>
            <a:t>Data layer</a:t>
          </a:r>
        </a:p>
      </p:txBody>
    </p:sp>
    <p:sp>
      <p:nvSpPr>
        <p:cNvPr id="27" name="Text"/>
        <p:cNvSpPr txBox="1"/>
        <p:nvPr/>
      </p:nvSpPr>
      <p:spPr>
        <a:xfrm>
          <a:off x="8138160" y="5367528"/>
          <a:ext cx="3182112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50" dirty="0">
              <a:solidFill>
                <a:srgbClr val="A8C4C0"/>
              </a:solidFill>
              <a:latin typeface="Aptos Display"/>
              <a:cs typeface="Arial"/>
            </a:rPr>
            <a:t>PostgreSQL metadata, Redis cache, MinIO cho snapshot/video evidence.</a:t>
          </a:r>
        </a:p>
      </p:txBody>
    </p:sp>
    <p:sp>
      <p:nvSpPr>
        <p:cNvPr id="28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30" name="Panel"/>
        <p:cNvSpPr/>
        <p:nvPr/>
      </p:nvSpPr>
      <p:spPr>
        <a:xfrm>
          <a:off x="100584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1399032" y="5609661"/>
          <a:ext cx="292608" cy="24249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Panel"/>
        <p:cNvSpPr/>
        <p:nvPr/>
      </p:nvSpPr>
      <p:spPr>
        <a:xfrm>
          <a:off x="1792224" y="5671840"/>
          <a:ext cx="292608" cy="18031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4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AI services</a:t>
          </a:r>
        </a:p>
      </p:txBody>
    </p:sp>
    <p:sp>
      <p:nvSpPr>
        <p:cNvPr id="35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6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7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38" name="Panel"/>
        <p:cNvSpPr/>
        <p:nvPr/>
      </p:nvSpPr>
      <p:spPr>
        <a:xfrm>
          <a:off x="5486400" y="5603443"/>
          <a:ext cx="292608" cy="24871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5879592" y="5702929"/>
          <a:ext cx="292608" cy="14923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Panel"/>
        <p:cNvSpPr/>
        <p:nvPr/>
      </p:nvSpPr>
      <p:spPr>
        <a:xfrm>
          <a:off x="6272784" y="5653186"/>
          <a:ext cx="292608" cy="19897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06 / 13</a:t>
          </a:r>
        </a:p>
      </p:txBody>
    </p:sp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Tech Stack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Nền tảng đủ sâu để chạy real-time, đủ gọn để triển khai thực tế.</a:t>
          </a:r>
        </a:p>
      </p:txBody>
    </p:sp>
    <p:sp>
      <p:nvSpPr>
        <p:cNvPr id="14" name="Panel"/>
        <p:cNvSpPr/>
        <p:nvPr/>
      </p:nvSpPr>
      <p:spPr>
        <a:xfrm>
          <a:off x="841248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Computer Vision</a:t>
          </a:r>
        </a:p>
      </p:txBody>
    </p:sp>
    <p:sp>
      <p:nvSpPr>
        <p:cNvPr id="16" name="Text"/>
        <p:cNvSpPr txBox="1"/>
        <p:nvPr/>
      </p:nvSpPr>
      <p:spPr>
        <a:xfrm>
          <a:off x="987552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Pose, ONNX Runtime, OpenCV, ByteTrack, Temporal Fall Classifier, YuNet &amp; SFace.</a:t>
          </a:r>
        </a:p>
      </p:txBody>
    </p:sp>
    <p:sp>
      <p:nvSpPr>
        <p:cNvPr id="17" name="Panel"/>
        <p:cNvSpPr/>
        <p:nvPr/>
      </p:nvSpPr>
      <p:spPr>
        <a:xfrm>
          <a:off x="4401312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19" name="Text"/>
        <p:cNvSpPr txBox="1"/>
        <p:nvPr/>
      </p:nvSpPr>
      <p:spPr>
        <a:xfrm>
          <a:off x="4547616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MediaMTX, WebRTC/HLS, FFmpeg và SSH Reverse Tunnel cho camera LAN.</a:t>
          </a:r>
        </a:p>
      </p:txBody>
    </p:sp>
    <p:sp>
      <p:nvSpPr>
        <p:cNvPr id="20" name="Panel"/>
        <p:cNvSpPr/>
        <p:nvPr/>
      </p:nvSpPr>
      <p:spPr>
        <a:xfrm>
          <a:off x="7961376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Frontend</a:t>
          </a:r>
        </a:p>
      </p:txBody>
    </p:sp>
    <p:sp>
      <p:nvSpPr>
        <p:cNvPr id="22" name="Text"/>
        <p:cNvSpPr txBox="1"/>
        <p:nvPr/>
      </p:nvSpPr>
      <p:spPr>
        <a:xfrm>
          <a:off x="8107680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React, TypeScript, Vite, hls.js, Canvas overlay; prototype React Native.</a:t>
          </a:r>
        </a:p>
      </p:txBody>
    </p:sp>
    <p:sp>
      <p:nvSpPr>
        <p:cNvPr id="23" name="Panel"/>
        <p:cNvSpPr/>
        <p:nvPr/>
      </p:nvSpPr>
      <p:spPr>
        <a:xfrm>
          <a:off x="841248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987552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5" name="Text"/>
        <p:cNvSpPr txBox="1"/>
        <p:nvPr/>
      </p:nvSpPr>
      <p:spPr>
        <a:xfrm>
          <a:off x="987552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cho workflow cảnh báo.</a:t>
          </a:r>
        </a:p>
      </p:txBody>
    </p:sp>
    <p:sp>
      <p:nvSpPr>
        <p:cNvPr id="26" name="Panel"/>
        <p:cNvSpPr/>
        <p:nvPr/>
      </p:nvSpPr>
      <p:spPr>
        <a:xfrm>
          <a:off x="4401312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4547616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28" name="Text"/>
        <p:cNvSpPr txBox="1"/>
        <p:nvPr/>
      </p:nvSpPr>
      <p:spPr>
        <a:xfrm>
          <a:off x="4547616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PostgreSQL, Redis và MinIO để lưu metadata, cache và object evidence.</a:t>
          </a:r>
        </a:p>
      </p:txBody>
    </p:sp>
    <p:sp>
      <p:nvSpPr>
        <p:cNvPr id="29" name="Panel"/>
        <p:cNvSpPr/>
        <p:nvPr/>
      </p:nvSpPr>
      <p:spPr>
        <a:xfrm>
          <a:off x="7961376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8107680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DevOps</a:t>
          </a:r>
        </a:p>
      </p:txBody>
    </p:sp>
    <p:sp>
      <p:nvSpPr>
        <p:cNvPr id="31" name="Text"/>
        <p:cNvSpPr txBox="1"/>
        <p:nvPr/>
      </p:nvSpPr>
      <p:spPr>
        <a:xfrm>
          <a:off x="8107680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Docker Compose, Caddy HTTPS, uv, pnpm, Pytest, Ruff và MyPy.</a:t>
          </a:r>
        </a:p>
      </p:txBody>
    </p:sp>
    <p:sp>
      <p:nvSpPr>
        <p:cNvPr id="32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Runtime</a:t>
          </a:r>
        </a:p>
      </p:txBody>
    </p:sp>
    <p:sp>
      <p:nvSpPr>
        <p:cNvPr id="34" name="Panel"/>
        <p:cNvSpPr/>
        <p:nvPr/>
      </p:nvSpPr>
      <p:spPr>
        <a:xfrm>
          <a:off x="1005840" y="5687385"/>
          <a:ext cx="292608" cy="16477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1399032" y="5625205"/>
          <a:ext cx="292608" cy="22695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Coverage</a:t>
          </a:r>
        </a:p>
      </p:txBody>
    </p:sp>
    <p:sp>
      <p:nvSpPr>
        <p:cNvPr id="3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4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Pipeline</a:t>
          </a:r>
        </a:p>
      </p:txBody>
    </p:sp>
    <p:sp>
      <p:nvSpPr>
        <p:cNvPr id="42" name="Panel"/>
        <p:cNvSpPr/>
        <p:nvPr/>
      </p:nvSpPr>
      <p:spPr>
        <a:xfrm>
          <a:off x="5486400" y="5727801"/>
          <a:ext cx="292608" cy="12435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879592" y="5659404"/>
          <a:ext cx="292608" cy="19275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6272784" y="5615879"/>
          <a:ext cx="292608" cy="23628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6665976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07 / 13</a:t>
          </a:r>
        </a:p>
      </p:txBody>
    </p:sp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Traction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Không chỉ là ý tưởng: hệ thống đã chạy được end-to-end.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240/240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automated tests passed; Ruff và TypeScript type-check đạt 100%.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8–15 FPS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runtime YOLO26n-pose, phụ thuộc cấu hình máy và điều kiện mạng.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83.05%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F1 cho bài toán phát hiện người lạ trong thử nghiệm nội bộ.</a:t>
          </a:r>
        </a:p>
      </p:txBody>
    </p:sp>
    <p:sp>
      <p:nvSpPr>
        <p:cNvPr id="23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Web, API và Media Gateway đã triển khai trên VPS; kết nối thành công camera IP LAN qua SSH Tunnel và gửi email kèm snapshot/video evidence.</a:t>
          </a:r>
        </a:p>
      </p:txBody>
    </p:sp>
    <p:sp>
      <p:nvSpPr>
        <p:cNvPr id="25" name="Panel"/>
        <p:cNvSpPr/>
        <p:nvPr/>
      </p:nvSpPr>
      <p:spPr>
        <a:xfrm>
          <a:off x="84124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96926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Test pass</a:t>
          </a:r>
        </a:p>
      </p:txBody>
    </p:sp>
    <p:sp>
      <p:nvSpPr>
        <p:cNvPr id="27" name="Text"/>
        <p:cNvSpPr txBox="1"/>
        <p:nvPr/>
      </p:nvSpPr>
      <p:spPr>
        <a:xfrm>
          <a:off x="195681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28" name="Panel"/>
        <p:cNvSpPr/>
        <p:nvPr/>
      </p:nvSpPr>
      <p:spPr>
        <a:xfrm>
          <a:off x="308152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3209544" y="5102352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FPS range</a:t>
          </a:r>
        </a:p>
      </p:txBody>
    </p:sp>
    <p:sp>
      <p:nvSpPr>
        <p:cNvPr id="30" name="Panel"/>
        <p:cNvSpPr/>
        <p:nvPr/>
      </p:nvSpPr>
      <p:spPr>
        <a:xfrm>
          <a:off x="3246120" y="5266815"/>
          <a:ext cx="292608" cy="11534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639312" y="5223290"/>
          <a:ext cx="292608" cy="15886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Panel"/>
        <p:cNvSpPr/>
        <p:nvPr/>
      </p:nvSpPr>
      <p:spPr>
        <a:xfrm>
          <a:off x="4032504" y="5164531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32180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4" name="Text"/>
        <p:cNvSpPr txBox="1"/>
        <p:nvPr/>
      </p:nvSpPr>
      <p:spPr>
        <a:xfrm>
          <a:off x="544982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F1 score</a:t>
          </a:r>
        </a:p>
      </p:txBody>
    </p:sp>
    <p:sp>
      <p:nvSpPr>
        <p:cNvPr id="35" name="Text"/>
        <p:cNvSpPr txBox="1"/>
        <p:nvPr/>
      </p:nvSpPr>
      <p:spPr>
        <a:xfrm>
          <a:off x="643737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08 / 13</a:t>
          </a:r>
        </a:p>
      </p:txBody>
    </p:sp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Demo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7772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Product demo: SYL phát hiện, ghi nhận và cảnh báo theo thời gian thực.</a:t>
          </a:r>
        </a:p>
      </p:txBody>
    </p:sp>
    <p:sp>
      <p:nvSpPr>
        <p:cNvPr id="14" name="Panel"/>
        <p:cNvSpPr/>
        <p:nvPr/>
      </p:nvSpPr>
      <p:spPr>
        <a:xfrm>
          <a:off x="960120" y="2331720"/>
          <a:ext cx="10287000" cy="3456432"/>
        </a:xfrm>
        <a:prstGeom prst="roundRect">
          <a:avLst/>
        </a:prstGeom>
        <a:solidFill>
          <a:srgbClr val="050807">
            <a:alpha val="96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demo.mp4">
          <a:hlinkClick action="ppaction://media"/>
        </p:cNvPr>
        <p:cNvPicPr>
          <a:picLocks noChangeAspect="1"/>
        </p:cNvPicPr>
        <p:nvPr>
          <a:videoFile r:link="rId3"/>
          <p:extLst>
            <p:ext uri="{DAA4B4D4-6D71-4841-9C94-3DE7FCFBF8DC}">
              <p14:media r:embed="rId4"/>
            </p:ext>
          </p:extLst>
        </p:nvPr>
      </p:nvPicPr>
      <p:blipFill>
        <a:blip r:embed="rId2"/>
        <a:stretch>
          <a:fillRect/>
        </a:stretch>
      </p:blipFill>
      <p:spPr>
        <a:xfrm>
          <a:off x="1170432" y="2514600"/>
          <a:ext cx="9857232" cy="3090672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841248" y="5870448"/>
          <a:ext cx="105156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050" dirty="0">
              <a:b/>
              <a:solidFill>
                <a:srgbClr val="A8C4C0"/>
              </a:solidFill>
              <a:latin typeface="Aptos Display"/>
              <a:cs typeface="Arial"/>
            </a:rPr>
            <a:t>Demo video: demo.mp4</a:t>
          </a:r>
        </a:p>
      </p:txBody>
    </p:sp>
    <p:sp>
      <p:nvSpPr>
        <p:cNvPr id="1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09 / 13</a:t>
          </a:r>
        </a:p>
      </p:txBody>
    </p:sp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Business Model · Competitive Position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có mức giá dễ tiếp cận hơn camera chuyên dụng, nhưng thông minh hơn camera phổ thông.</a:t>
          </a:r>
        </a:p>
      </p:txBody>
    </p:sp>
    <p:sp>
      <p:nvSpPr>
        <p:cNvPr id="14" name="Panel"/>
        <p:cNvSpPr/>
        <p:nvPr/>
      </p:nvSpPr>
      <p:spPr>
        <a:xfrm>
          <a:off x="841248" y="274320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285292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Standard</a:t>
          </a:r>
        </a:p>
      </p:txBody>
    </p:sp>
    <p:sp>
      <p:nvSpPr>
        <p:cNvPr id="16" name="Text"/>
        <p:cNvSpPr txBox="1"/>
        <p:nvPr/>
      </p:nvSpPr>
      <p:spPr>
        <a:xfrm>
          <a:off x="2971800" y="285292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5.2tr</a:t>
          </a:r>
        </a:p>
      </p:txBody>
    </p:sp>
    <p:sp>
      <p:nvSpPr>
        <p:cNvPr id="17" name="Text"/>
        <p:cNvSpPr txBox="1"/>
        <p:nvPr/>
      </p:nvSpPr>
      <p:spPr>
        <a:xfrm>
          <a:off x="1005840" y="312724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4GB + hệ thống SYL cho nhu cầu cơ bản.</a:t>
          </a:r>
        </a:p>
      </p:txBody>
    </p:sp>
    <p:sp>
      <p:nvSpPr>
        <p:cNvPr id="18" name="Panel"/>
        <p:cNvSpPr/>
        <p:nvPr/>
      </p:nvSpPr>
      <p:spPr>
        <a:xfrm>
          <a:off x="841248" y="370332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1005840" y="381304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Plus</a:t>
          </a:r>
        </a:p>
      </p:txBody>
    </p:sp>
    <p:sp>
      <p:nvSpPr>
        <p:cNvPr id="20" name="Text"/>
        <p:cNvSpPr txBox="1"/>
        <p:nvPr/>
      </p:nvSpPr>
      <p:spPr>
        <a:xfrm>
          <a:off x="2971800" y="381304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8.5tr</a:t>
          </a:r>
        </a:p>
      </p:txBody>
    </p:sp>
    <p:sp>
      <p:nvSpPr>
        <p:cNvPr id="21" name="Text"/>
        <p:cNvSpPr txBox="1"/>
        <p:nvPr/>
      </p:nvSpPr>
      <p:spPr>
        <a:xfrm>
          <a:off x="1005840" y="408736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8GB + hệ thống SYL cho cấu hình mạnh hơn.</a:t>
          </a:r>
        </a:p>
      </p:txBody>
    </p:sp>
    <p:sp>
      <p:nvSpPr>
        <p:cNvPr id="22" name="Panel"/>
        <p:cNvSpPr/>
        <p:nvPr/>
      </p:nvSpPr>
      <p:spPr>
        <a:xfrm>
          <a:off x="841248" y="466344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1005840" y="477316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Pro</a:t>
          </a:r>
        </a:p>
      </p:txBody>
    </p:sp>
    <p:sp>
      <p:nvSpPr>
        <p:cNvPr id="24" name="Text"/>
        <p:cNvSpPr txBox="1"/>
        <p:nvPr/>
      </p:nvSpPr>
      <p:spPr>
        <a:xfrm>
          <a:off x="2971800" y="477316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10tr</a:t>
          </a:r>
        </a:p>
      </p:txBody>
    </p:sp>
    <p:sp>
      <p:nvSpPr>
        <p:cNvPr id="25" name="Text"/>
        <p:cNvSpPr txBox="1"/>
        <p:nvPr/>
      </p:nvSpPr>
      <p:spPr>
        <a:xfrm>
          <a:off x="1005840" y="504748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8GB + nâng cấp bản mới nhất, miễn phí 6 tháng đăng ký đầu.</a:t>
          </a:r>
        </a:p>
      </p:txBody>
    </p:sp>
    <p:sp>
      <p:nvSpPr>
        <p:cNvPr id="26" name="Panel"/>
        <p:cNvSpPr/>
        <p:nvPr/>
      </p:nvSpPr>
      <p:spPr>
        <a:xfrm>
          <a:off x="6080760" y="274320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6245352" y="285292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EZVIZ/IMOU</a:t>
          </a:r>
        </a:p>
      </p:txBody>
    </p:sp>
    <p:sp>
      <p:nvSpPr>
        <p:cNvPr id="28" name="Text"/>
        <p:cNvSpPr txBox="1"/>
        <p:nvPr/>
      </p:nvSpPr>
      <p:spPr>
        <a:xfrm>
          <a:off x="6245352" y="312724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Mạnh về giá và phân phối, nhưng chủ yếu là motion detection hoặc human detection.</a:t>
          </a:r>
        </a:p>
      </p:txBody>
    </p:sp>
    <p:sp>
      <p:nvSpPr>
        <p:cNvPr id="29" name="Panel"/>
        <p:cNvSpPr/>
        <p:nvPr/>
      </p:nvSpPr>
      <p:spPr>
        <a:xfrm>
          <a:off x="6080760" y="370332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6245352" y="381304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Hanwha/i-PRO/Hikvision</a:t>
          </a:r>
        </a:p>
      </p:txBody>
    </p:sp>
    <p:sp>
      <p:nvSpPr>
        <p:cNvPr id="31" name="Text"/>
        <p:cNvSpPr txBox="1"/>
        <p:nvPr/>
      </p:nvSpPr>
      <p:spPr>
        <a:xfrm>
          <a:off x="6245352" y="408736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Có hướng fall detection chuyên dụng nhưng chi phí cao hoặc chưa dễ tiếp cận tại Việt Nam.</a:t>
          </a:r>
        </a:p>
      </p:txBody>
    </p:sp>
    <p:sp>
      <p:nvSpPr>
        <p:cNvPr id="32" name="Panel"/>
        <p:cNvSpPr/>
        <p:nvPr/>
      </p:nvSpPr>
      <p:spPr>
        <a:xfrm>
          <a:off x="6080760" y="466344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6245352" y="477316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34" name="Text"/>
        <p:cNvSpPr txBox="1"/>
        <p:nvPr/>
      </p:nvSpPr>
      <p:spPr>
        <a:xfrm>
          <a:off x="6245352" y="504748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Định vị là lớp AI chăm sóc: fall detection, stranger alert, evidence và phân quyền.</a:t>
          </a:r>
        </a:p>
      </p:txBody>
    </p:sp>
    <p:sp>
      <p:nvSpPr>
        <p:cNvPr id="35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Price ladder</a:t>
          </a:r>
        </a:p>
      </p:txBody>
    </p:sp>
    <p:sp>
      <p:nvSpPr>
        <p:cNvPr id="37" name="Panel"/>
        <p:cNvSpPr/>
        <p:nvPr/>
      </p:nvSpPr>
      <p:spPr>
        <a:xfrm>
          <a:off x="1005840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1399032" y="5587898"/>
          <a:ext cx="292608" cy="264261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Positioning</a:t>
          </a:r>
        </a:p>
      </p:txBody>
    </p:sp>
    <p:sp>
      <p:nvSpPr>
        <p:cNvPr id="42" name="Panel"/>
        <p:cNvSpPr/>
        <p:nvPr/>
      </p:nvSpPr>
      <p:spPr>
        <a:xfrm>
          <a:off x="324612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3639312" y="5618988"/>
          <a:ext cx="292608" cy="23317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4032504" y="5681167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Go-to-market</a:t>
          </a:r>
        </a:p>
      </p:txBody>
    </p:sp>
    <p:sp>
      <p:nvSpPr>
        <p:cNvPr id="47" name="Panel"/>
        <p:cNvSpPr/>
        <p:nvPr/>
      </p:nvSpPr>
      <p:spPr>
        <a:xfrm>
          <a:off x="5486400" y="5702929"/>
          <a:ext cx="292608" cy="14923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Panel"/>
        <p:cNvSpPr/>
        <p:nvPr/>
      </p:nvSpPr>
      <p:spPr>
        <a:xfrm>
          <a:off x="5879592" y="5609661"/>
          <a:ext cx="292608" cy="24249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9" name="Panel"/>
        <p:cNvSpPr/>
        <p:nvPr/>
      </p:nvSpPr>
      <p:spPr>
        <a:xfrm>
          <a:off x="6272784" y="5553699"/>
          <a:ext cx="292608" cy="29846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50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10 / 13</a:t>
          </a:r>
        </a:p>
      </p:txBody>
    </p:sp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Privacy &amp; Roles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Cảnh báo khẩn cấp phải đi cùng quyền riêng tư có kiểm soát.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Admin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Thêm camera, phân quyền, xem dashboard và kiểm tra lỗi hệ thống.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Gia đình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Chỉ xem camera được cấp phép và nhận cảnh báo liên quan đến người thân.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Bác sĩ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Được cấp quyền tạm thời khi có sự cố, phục vụ tư vấn hoặc đánh giá nhanh.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5 phút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Quyền xem tình huống khẩn cấp tự thu hồi để giảm rủi ro lạm dụng dữ liệu.</a:t>
          </a:r>
        </a:p>
      </p:txBody>
    </p:sp>
    <p:sp>
      <p:nvSpPr>
        <p:cNvPr id="26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Access scope</a:t>
          </a:r>
        </a:p>
      </p:txBody>
    </p:sp>
    <p:sp>
      <p:nvSpPr>
        <p:cNvPr id="28" name="Panel"/>
        <p:cNvSpPr/>
        <p:nvPr/>
      </p:nvSpPr>
      <p:spPr>
        <a:xfrm>
          <a:off x="1005840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1399032" y="5653186"/>
          <a:ext cx="292608" cy="19897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0" name="Panel"/>
        <p:cNvSpPr/>
        <p:nvPr/>
      </p:nvSpPr>
      <p:spPr>
        <a:xfrm>
          <a:off x="1792224" y="5740237"/>
          <a:ext cx="292608" cy="11192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Doctor window</a:t>
          </a:r>
        </a:p>
      </p:txBody>
    </p:sp>
    <p:sp>
      <p:nvSpPr>
        <p:cNvPr id="33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5p</a:t>
          </a:r>
        </a:p>
      </p:txBody>
    </p:sp>
    <p:sp>
      <p:nvSpPr>
        <p:cNvPr id="34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Data risk</a:t>
          </a:r>
        </a:p>
      </p:txBody>
    </p:sp>
    <p:sp>
      <p:nvSpPr>
        <p:cNvPr id="36" name="Panel"/>
        <p:cNvSpPr/>
        <p:nvPr/>
      </p:nvSpPr>
      <p:spPr>
        <a:xfrm>
          <a:off x="5486400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5879592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6272784" y="5777544"/>
          <a:ext cx="292608" cy="7461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11 / 13</a:t>
          </a:r>
        </a:p>
      </p:txBody>
    </p:sp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Next Step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ý tưởng đến sản phẩm thị trường trong 19 tuần.</a:t>
          </a:r>
        </a:p>
      </p:txBody>
    </p:sp>
    <p:sp>
      <p:nvSpPr>
        <p:cNvPr id="14" name="Panel"/>
        <p:cNvSpPr/>
        <p:nvPr/>
      </p:nvSpPr>
      <p:spPr>
        <a:xfrm>
          <a:off x="841248" y="2926080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96696" y="303580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1 · 0–1 tháng</a:t>
          </a:r>
        </a:p>
      </p:txBody>
    </p:sp>
    <p:sp>
      <p:nvSpPr>
        <p:cNvPr id="16" name="Text"/>
        <p:cNvSpPr txBox="1"/>
        <p:nvPr/>
      </p:nvSpPr>
      <p:spPr>
        <a:xfrm>
          <a:off x="996696" y="3319272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Hoàn thiện MVP: access control, emergency alerts và demo run ổn định.</a:t>
          </a:r>
        </a:p>
      </p:txBody>
    </p:sp>
    <p:sp>
      <p:nvSpPr>
        <p:cNvPr id="17" name="Panel"/>
        <p:cNvSpPr/>
        <p:nvPr/>
      </p:nvSpPr>
      <p:spPr>
        <a:xfrm>
          <a:off x="6199632" y="2926080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6355080" y="303580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2 · 3 tuần</a:t>
          </a:r>
        </a:p>
      </p:txBody>
    </p:sp>
    <p:sp>
      <p:nvSpPr>
        <p:cNvPr id="19" name="Text"/>
        <p:cNvSpPr txBox="1"/>
        <p:nvPr/>
      </p:nvSpPr>
      <p:spPr>
        <a:xfrm>
          <a:off x="6355080" y="3319272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Benchmark trên các gateway/camera phổ biến để đo FPS, độ trễ và độ ổn định.</a:t>
          </a:r>
        </a:p>
      </p:txBody>
    </p:sp>
    <p:sp>
      <p:nvSpPr>
        <p:cNvPr id="20" name="Panel"/>
        <p:cNvSpPr/>
        <p:nvPr/>
      </p:nvSpPr>
      <p:spPr>
        <a:xfrm>
          <a:off x="841248" y="4133088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996696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3 · 1–3 tháng</a:t>
          </a:r>
        </a:p>
      </p:txBody>
    </p:sp>
    <p:sp>
      <p:nvSpPr>
        <p:cNvPr id="22" name="Text"/>
        <p:cNvSpPr txBox="1"/>
        <p:nvPr/>
      </p:nvSpPr>
      <p:spPr>
        <a:xfrm>
          <a:off x="996696" y="4526280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Trial với đối tác camera, chủ nhà, viện dưỡng lão hoặc trung tâm phục hồi chức năng để kiểm chứng chức năng và giá.</a:t>
          </a:r>
        </a:p>
      </p:txBody>
    </p:sp>
    <p:sp>
      <p:nvSpPr>
        <p:cNvPr id="23" name="Panel"/>
        <p:cNvSpPr/>
        <p:nvPr/>
      </p:nvSpPr>
      <p:spPr>
        <a:xfrm>
          <a:off x="6199632" y="4133088"/>
          <a:ext cx="5074920" cy="96012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355080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Kêu gọi đối tác</a:t>
          </a:r>
        </a:p>
      </p:txBody>
    </p:sp>
    <p:sp>
      <p:nvSpPr>
        <p:cNvPr id="25" name="Text"/>
        <p:cNvSpPr txBox="1"/>
        <p:nvPr/>
      </p:nvSpPr>
      <p:spPr>
        <a:xfrm>
          <a:off x="6355080" y="4526280"/>
          <a:ext cx="4709160" cy="3931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80" dirty="0">
              <a:solidFill>
                <a:srgbClr val="A8C4C0"/>
              </a:solidFill>
              <a:latin typeface="Aptos Display"/>
              <a:cs typeface="Arial"/>
            </a:rPr>
            <a:t>Tìm 1–2 cặp đối tác thử nghiệm và cùng đưa sản phẩm Việt Nam ra thị trường quốc tế với tính năng ổn định hơn, giá thấp hơn.</a:t>
          </a:r>
        </a:p>
      </p:txBody>
    </p:sp>
    <p:sp>
      <p:nvSpPr>
        <p:cNvPr id="26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Kết luận: SYL có thể triển khai và launch ra thị trường trong 19 tuần, tính từ lúc hình thành ý tưởng đến sản phẩm hoàn chỉnh.</a:t>
          </a:r>
        </a:p>
      </p:txBody>
    </p:sp>
    <p:sp>
      <p:nvSpPr>
        <p:cNvPr id="28" name="Panel"/>
        <p:cNvSpPr/>
        <p:nvPr/>
      </p:nvSpPr>
      <p:spPr>
        <a:xfrm>
          <a:off x="84124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96926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MVP</a:t>
          </a:r>
        </a:p>
      </p:txBody>
    </p:sp>
    <p:sp>
      <p:nvSpPr>
        <p:cNvPr id="30" name="Panel"/>
        <p:cNvSpPr/>
        <p:nvPr/>
      </p:nvSpPr>
      <p:spPr>
        <a:xfrm>
          <a:off x="1005840" y="5374193"/>
          <a:ext cx="292608" cy="564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Benchmark</a:t>
          </a:r>
        </a:p>
      </p:txBody>
    </p:sp>
    <p:sp>
      <p:nvSpPr>
        <p:cNvPr id="33" name="Panel"/>
        <p:cNvSpPr/>
        <p:nvPr/>
      </p:nvSpPr>
      <p:spPr>
        <a:xfrm>
          <a:off x="3246120" y="5387873"/>
          <a:ext cx="292608" cy="427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532180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Trial</a:t>
          </a:r>
        </a:p>
      </p:txBody>
    </p:sp>
    <p:sp>
      <p:nvSpPr>
        <p:cNvPr id="36" name="Panel"/>
        <p:cNvSpPr/>
        <p:nvPr/>
      </p:nvSpPr>
      <p:spPr>
        <a:xfrm>
          <a:off x="5486400" y="5259628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12 / 13</a:t>
          </a:r>
        </a:p>
      </p:txBody>
    </p:sp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sp>
      <p:nvSpPr>
        <p:cNvPr id="11" name="Panel"/>
        <p:cNvSpPr/>
        <p:nvPr/>
      </p:nvSpPr>
      <p:spPr>
        <a:xfrm>
          <a:off x="1353312" y="640080"/>
          <a:ext cx="9491472" cy="4572000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2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1783080" y="1097280"/>
          <a:ext cx="8641080" cy="3703320"/>
        </a:xfrm>
        <a:prstGeom prst="rect">
          <a:avLst/>
        </a:prstGeom>
      </p:spPr>
    </p:pic>
    <p:sp>
      <p:nvSpPr>
        <p:cNvPr id="13" name="Text"/>
        <p:cNvSpPr txBox="1"/>
        <p:nvPr/>
      </p:nvSpPr>
      <p:spPr>
        <a:xfrm>
          <a:off x="841248" y="5486400"/>
          <a:ext cx="105156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2500" dirty="0">
              <a:b/>
              <a:solidFill>
                <a:srgbClr val="EEFDF8"/>
              </a:solidFill>
              <a:latin typeface="Aptos Display"/>
              <a:cs typeface="Arial"/>
            </a:rPr>
            <a:t>melphins</a:t>
          </a:r>
        </a:p>
      </p:txBody>
    </p:sp>
    <p:sp>
      <p:nvSpPr>
        <p:cNvPr id="1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13 / 13</a:t>
          </a:r>
        </a:p>
      </p:txBody>
    </p:sp>
  </p:cSld>
  <p:clrMapOvr>
    <a:masterClrMapping/>
  </p:clrMapOvr>
</p:sld>
</file>

<file path=ppt/theme/theme1.xml><?xml version="1.0" encoding="utf-8"?>
<a:theme xmlns:a="http://schemas.openxmlformats.org/drawingml/2006/main" name="SYL Theme">
  <a:themeElements>
    <a:clrScheme name="SYL">
      <a:dk1>
        <a:srgbClr val="102018"/>
      </a:dk1>
      <a:lt1>
        <a:srgbClr val="EEFDF8"/>
      </a:lt1>
      <a:dk2>
        <a:srgbClr val="1F3022"/>
      </a:dk2>
      <a:lt2>
        <a:srgbClr val="A8C4C0"/>
      </a:lt2>
      <a:accent1>
        <a:srgbClr val="59E0D0"/>
      </a:accent1>
      <a:accent2>
        <a:srgbClr val="70F0A8"/>
      </a:accent2>
      <a:accent3>
        <a:srgbClr val="FFD166"/>
      </a:accent3>
      <a:accent4>
        <a:srgbClr val="FF8A9A"/>
      </a:accent4>
      <a:accent5>
        <a:srgbClr val="6E8F55"/>
      </a:accent5>
      <a:accent6>
        <a:srgbClr val="2B3A24"/>
      </a:accent6>
      <a:hlink>
        <a:srgbClr val="59E0D0"/>
      </a:hlink>
      <a:folHlink>
        <a:srgbClr val="70F0A8"/>
      </a:folHlink>
    </a:clrScheme>
    <a:fontScheme name="SYL">
      <a:majorFont>
        <a:latin typeface="Aptos Display"/>
        <a:ea typeface=""/>
        <a:cs typeface="Arial"/>
      </a:majorFont>
      <a:minorFont>
        <a:latin typeface="Aptos"/>
        <a:ea typeface=""/>
        <a:cs typeface="Arial"/>
      </a:minorFont>
    </a:fontScheme>
    <a:fmtScheme name="SY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