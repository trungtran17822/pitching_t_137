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13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Risk stack</a:t>
          </a:r>
        </a:p>
      </p:txBody>
    </p:sp>
    <p:sp>
      <p:nvSpPr>
        <p:cNvPr id="26" name="Panel"/>
        <p:cNvSpPr/>
        <p:nvPr/>
      </p:nvSpPr>
      <p:spPr>
        <a:xfrm>
          <a:off x="1005840" y="5734019"/>
          <a:ext cx="292608" cy="11814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1399032" y="5640750"/>
          <a:ext cx="292608" cy="21140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Panel"/>
        <p:cNvSpPr/>
        <p:nvPr/>
      </p:nvSpPr>
      <p:spPr>
        <a:xfrm>
          <a:off x="1792224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False alarm</a:t>
          </a:r>
        </a:p>
      </p:txBody>
    </p:sp>
    <p:sp>
      <p:nvSpPr>
        <p:cNvPr id="31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2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Missed alert</a:t>
          </a:r>
        </a:p>
      </p:txBody>
    </p:sp>
    <p:sp>
      <p:nvSpPr>
        <p:cNvPr id="34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13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từng gặp sự cố thật nhưng camera không cảnh báo kịp thời.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94,2%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quan tâm hoặc sẵn sàng tham gia trải nghiệm thử sản phẩm.</a:t>
          </a:r>
        </a:p>
      </p:txBody>
    </p:sp>
    <p:sp>
      <p:nvSpPr>
        <p:cNvPr id="23" name="Panel"/>
        <p:cNvSpPr/>
        <p:nvPr/>
      </p:nvSpPr>
      <p:spPr>
        <a:xfrm>
          <a:off x="658368" y="3986784"/>
          <a:ext cx="4480560" cy="133502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412394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2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khảo sát</a:t>
          </a:r>
        </a:p>
      </p:txBody>
    </p:sp>
    <p:sp>
      <p:nvSpPr>
        <p:cNvPr id="25" name="Text"/>
        <p:cNvSpPr txBox="1"/>
        <p:nvPr/>
      </p:nvSpPr>
      <p:spPr>
        <a:xfrm>
          <a:off x="841248" y="4425696"/>
          <a:ext cx="1261872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60" dirty="0">
              <a:solidFill>
                <a:srgbClr val="A8C4C0"/>
              </a:solidFill>
              <a:latin typeface="Aptos Display"/>
              <a:cs typeface="Arial"/>
            </a:rPr>
            <a:t>Thiết bị điện tử</a:t>
          </a:r>
        </a:p>
      </p:txBody>
    </p:sp>
    <p:sp>
      <p:nvSpPr>
        <p:cNvPr id="26" name="Panel"/>
        <p:cNvSpPr/>
        <p:nvPr/>
      </p:nvSpPr>
      <p:spPr>
        <a:xfrm>
          <a:off x="2139696" y="4434840"/>
          <a:ext cx="214884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139696" y="4434840"/>
          <a:ext cx="1321536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425696" y="4425696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60" dirty="0">
              <a:b/>
              <a:solidFill>
                <a:srgbClr val="70F0A8"/>
              </a:solidFill>
              <a:latin typeface="Aptos Display"/>
              <a:cs typeface="Arial"/>
            </a:rPr>
            <a:t>61,5%</a:t>
          </a:r>
        </a:p>
      </p:txBody>
    </p:sp>
    <p:sp>
      <p:nvSpPr>
        <p:cNvPr id="29" name="Text"/>
        <p:cNvSpPr txBox="1"/>
        <p:nvPr/>
      </p:nvSpPr>
      <p:spPr>
        <a:xfrm>
          <a:off x="841248" y="4626864"/>
          <a:ext cx="1261872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60" dirty="0">
              <a:solidFill>
                <a:srgbClr val="A8C4C0"/>
              </a:solidFill>
              <a:latin typeface="Aptos Display"/>
              <a:cs typeface="Arial"/>
            </a:rPr>
            <a:t>Quan tâm demo</a:t>
          </a:r>
        </a:p>
      </p:txBody>
    </p:sp>
    <p:sp>
      <p:nvSpPr>
        <p:cNvPr id="30" name="Panel"/>
        <p:cNvSpPr/>
        <p:nvPr/>
      </p:nvSpPr>
      <p:spPr>
        <a:xfrm>
          <a:off x="2139696" y="4636007"/>
          <a:ext cx="214884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139696" y="4636007"/>
          <a:ext cx="115607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425696" y="4626864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60" dirty="0">
              <a:b/>
              <a:solidFill>
                <a:srgbClr val="70F0A8"/>
              </a:solidFill>
              <a:latin typeface="Aptos Display"/>
              <a:cs typeface="Arial"/>
            </a:rPr>
            <a:t>53,8%</a:t>
          </a:r>
        </a:p>
      </p:txBody>
    </p:sp>
    <p:sp>
      <p:nvSpPr>
        <p:cNvPr id="33" name="Text"/>
        <p:cNvSpPr txBox="1"/>
        <p:nvPr/>
      </p:nvSpPr>
      <p:spPr>
        <a:xfrm>
          <a:off x="841248" y="4828032"/>
          <a:ext cx="1261872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60" dirty="0">
              <a:solidFill>
                <a:srgbClr val="A8C4C0"/>
              </a:solidFill>
              <a:latin typeface="Aptos Display"/>
              <a:cs typeface="Arial"/>
            </a:rPr>
            <a:t>Sự cố bị miss</a:t>
          </a:r>
        </a:p>
      </p:txBody>
    </p:sp>
    <p:sp>
      <p:nvSpPr>
        <p:cNvPr id="34" name="Panel"/>
        <p:cNvSpPr/>
        <p:nvPr/>
      </p:nvSpPr>
      <p:spPr>
        <a:xfrm>
          <a:off x="2139696" y="4837176"/>
          <a:ext cx="214884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139696" y="4837176"/>
          <a:ext cx="992764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425696" y="4828032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6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7" name="Text"/>
        <p:cNvSpPr txBox="1"/>
        <p:nvPr/>
      </p:nvSpPr>
      <p:spPr>
        <a:xfrm>
          <a:off x="841248" y="5029200"/>
          <a:ext cx="1261872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60" dirty="0">
              <a:solidFill>
                <a:srgbClr val="A8C4C0"/>
              </a:solidFill>
              <a:latin typeface="Aptos Display"/>
              <a:cs typeface="Arial"/>
            </a:rPr>
            <a:t>Sẵn sàng thử</a:t>
          </a:r>
        </a:p>
      </p:txBody>
    </p:sp>
    <p:sp>
      <p:nvSpPr>
        <p:cNvPr id="38" name="Panel"/>
        <p:cNvSpPr/>
        <p:nvPr/>
      </p:nvSpPr>
      <p:spPr>
        <a:xfrm>
          <a:off x="2139696" y="5038344"/>
          <a:ext cx="214884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139696" y="5038344"/>
          <a:ext cx="86813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425696" y="5029200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60" dirty="0">
              <a:b/>
              <a:solidFill>
                <a:srgbClr val="70F0A8"/>
              </a:solidFill>
              <a:latin typeface="Aptos Display"/>
              <a:cs typeface="Arial"/>
            </a:rPr>
            <a:t>40,4%</a:t>
          </a:r>
        </a:p>
      </p:txBody>
    </p:sp>
    <p:sp>
      <p:nvSpPr>
        <p:cNvPr id="41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2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43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4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45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6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47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8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49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1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13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13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13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13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13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13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13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13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13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0–1 tháng</a:t>
          </a:r>
        </a:p>
      </p:txBody>
    </p:sp>
    <p:sp>
      <p:nvSpPr>
        <p:cNvPr id="16" name="Text"/>
        <p:cNvSpPr txBox="1"/>
        <p:nvPr/>
      </p:nvSpPr>
      <p:spPr>
        <a:xfrm>
          <a:off x="996696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3 · 1–3 tháng</a:t>
          </a:r>
        </a:p>
      </p:txBody>
    </p:sp>
    <p:sp>
      <p:nvSpPr>
        <p:cNvPr id="22" name="Text"/>
        <p:cNvSpPr txBox="1"/>
        <p:nvPr/>
      </p:nvSpPr>
      <p:spPr>
        <a:xfrm>
          <a:off x="996696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Trial với đối tác camera, chủ nhà, viện dưỡng lão hoặc trung tâm phục hồi chức năng để kiểm chứng chức năng và giá.</a:t>
          </a:r>
        </a:p>
      </p:txBody>
    </p:sp>
    <p:sp>
      <p:nvSpPr>
        <p:cNvPr id="23" name="Panel"/>
        <p:cNvSpPr/>
        <p:nvPr/>
      </p:nvSpPr>
      <p:spPr>
        <a:xfrm>
          <a:off x="6199632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Kêu gọi đối tác</a:t>
          </a:r>
        </a:p>
      </p:txBody>
    </p:sp>
    <p:sp>
      <p:nvSpPr>
        <p:cNvPr id="25" name="Text"/>
        <p:cNvSpPr txBox="1"/>
        <p:nvPr/>
      </p:nvSpPr>
      <p:spPr>
        <a:xfrm>
          <a:off x="6355080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Tìm 1–2 cặp đối tác thử nghiệm và cùng đưa sản phẩm Việt Nam ra thị trường quốc tế với tính năng ổn định hơn, giá thấp hơn.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13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13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