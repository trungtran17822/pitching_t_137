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yl-hero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pic>
      <p:nvPicPr>
        <p:cNvPr id="11" name="syl-hero.png"/>
        <p:cNvPicPr>
          <a:picLocks noChangeAspect="1"/>
        </p:cNvPicPr>
        <p:nvPr/>
      </p:nvPicPr>
      <p:blipFill>
        <a:blip r:embed="rId2"/>
        <a:stretch>
          <a:fillRect/>
        </a:stretch>
      </p:blipFill>
      <p:spPr>
        <a:xfrm>
          <a:off x="0" y="0"/>
          <a:ext cx="12191999" cy="6858000"/>
        </a:xfrm>
        <a:prstGeom prst="rect">
          <a:avLst/>
        </a:prstGeom>
      </p:spPr>
    </p:pic>
    <p:sp>
      <p:nvSpPr>
        <p:cNvPr id="12" name="Overlay"/>
        <p:cNvSpPr/>
        <p:nvPr/>
      </p:nvSpPr>
      <p:spPr>
        <a:xfrm>
          <a:off x="0" y="0"/>
          <a:ext cx="12191999" cy="6858000"/>
        </a:xfrm>
        <a:prstGeom prst="rect">
          <a:avLst/>
        </a:prstGeom>
        <a:solidFill>
          <a:srgbClr val="102018">
            <a:alpha val="30000"/>
          </a:srgbClr>
        </a:solidFill>
        <a:ln>
          <a:noFill/>
        </a:ln>
      </p:spPr>
    </p:sp>
    <p:sp>
      <p:nvSpPr>
        <p:cNvPr id="13" name="Text"/>
        <p:cNvSpPr txBox="1"/>
        <p:nvPr/>
      </p:nvSpPr>
      <p:spPr>
        <a:xfrm>
          <a:off x="685800" y="411480"/>
          <a:ext cx="4114800" cy="2743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4" name="Text"/>
        <p:cNvSpPr txBox="1"/>
        <p:nvPr/>
      </p:nvSpPr>
      <p:spPr>
        <a:xfrm>
          <a:off x="841248" y="1234440"/>
          <a:ext cx="6217920" cy="310896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200" dirty="0">
              <a:b/>
              <a:solidFill>
                <a:srgbClr val="59E0D0"/>
              </a:solidFill>
              <a:latin typeface="Aptos Display"/>
              <a:cs typeface="Arial"/>
            </a:rPr>
            <a:t>AI Safety Camera · 2026</a:t>
          </a:r>
        </a:p>
      </p:txBody>
    </p:sp>
    <p:sp>
      <p:nvSpPr>
        <p:cNvPr id="15" name="Text"/>
        <p:cNvSpPr txBox="1"/>
        <p:nvPr/>
      </p:nvSpPr>
      <p:spPr>
        <a:xfrm>
          <a:off x="804672" y="1664208"/>
          <a:ext cx="3749039" cy="9601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72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6" name="Text"/>
        <p:cNvSpPr txBox="1"/>
        <p:nvPr/>
      </p:nvSpPr>
      <p:spPr>
        <a:xfrm>
          <a:off x="877824" y="2743200"/>
          <a:ext cx="5943600" cy="53035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2200" dirty="0">
              <a:solidFill>
                <a:srgbClr val="D8F4EF"/>
              </a:solidFill>
              <a:latin typeface="Aptos Display"/>
              <a:cs typeface="Arial"/>
            </a:rPr>
            <a:t>Camera cảnh báo té ngã ở người già và phát hiện người lạ.</a:t>
          </a:r>
        </a:p>
      </p:txBody>
    </p:sp>
    <p:sp>
      <p:nvSpPr>
        <p:cNvPr id="17" name="Panel"/>
        <p:cNvSpPr/>
        <p:nvPr/>
      </p:nvSpPr>
      <p:spPr>
        <a:xfrm>
          <a:off x="877824" y="3520440"/>
          <a:ext cx="1417320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950976" y="3602736"/>
          <a:ext cx="1261872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50" dirty="0">
              <a:b/>
              <a:solidFill>
                <a:srgbClr val="D8F4EF"/>
              </a:solidFill>
              <a:latin typeface="Aptos Display"/>
              <a:cs typeface="Arial"/>
            </a:rPr>
            <a:t>Fall detection</a:t>
          </a:r>
        </a:p>
      </p:txBody>
    </p:sp>
    <p:sp>
      <p:nvSpPr>
        <p:cNvPr id="19" name="Panel"/>
        <p:cNvSpPr/>
        <p:nvPr/>
      </p:nvSpPr>
      <p:spPr>
        <a:xfrm>
          <a:off x="2450591" y="3520440"/>
          <a:ext cx="1417320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0" name="Text"/>
        <p:cNvSpPr txBox="1"/>
        <p:nvPr/>
      </p:nvSpPr>
      <p:spPr>
        <a:xfrm>
          <a:off x="2523744" y="3602736"/>
          <a:ext cx="1261872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50" dirty="0">
              <a:b/>
              <a:solidFill>
                <a:srgbClr val="D8F4EF"/>
              </a:solidFill>
              <a:latin typeface="Aptos Display"/>
              <a:cs typeface="Arial"/>
            </a:rPr>
            <a:t>Stranger alert</a:t>
          </a:r>
        </a:p>
      </p:txBody>
    </p:sp>
    <p:sp>
      <p:nvSpPr>
        <p:cNvPr id="21" name="Panel"/>
        <p:cNvSpPr/>
        <p:nvPr/>
      </p:nvSpPr>
      <p:spPr>
        <a:xfrm>
          <a:off x="4023359" y="3520440"/>
          <a:ext cx="1417320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4096511" y="3602736"/>
          <a:ext cx="1261872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50" dirty="0">
              <a:b/>
              <a:solidFill>
                <a:srgbClr val="D8F4EF"/>
              </a:solidFill>
              <a:latin typeface="Aptos Display"/>
              <a:cs typeface="Arial"/>
            </a:rPr>
            <a:t>Privacy by role</a:t>
          </a:r>
        </a:p>
      </p:txBody>
    </p:sp>
    <p:sp>
      <p:nvSpPr>
        <p:cNvPr id="23" name="Panel"/>
        <p:cNvSpPr/>
        <p:nvPr/>
      </p:nvSpPr>
      <p:spPr>
        <a:xfrm>
          <a:off x="5596127" y="3520440"/>
          <a:ext cx="1417320" cy="329184"/>
        </a:xfrm>
        <a:prstGeom prst="roundRect">
          <a:avLst/>
        </a:prstGeom>
        <a:solidFill>
          <a:srgbClr val="E7D8B5">
            <a:alpha val="17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5669279" y="3602736"/>
          <a:ext cx="1261872" cy="11887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ctr"/>
          <a:r>
            <a:rPr lang="vi-VN" sz="850" dirty="0">
              <a:b/>
              <a:solidFill>
                <a:srgbClr val="D8F4EF"/>
              </a:solidFill>
              <a:latin typeface="Aptos Display"/>
              <a:cs typeface="Arial"/>
            </a:rPr>
            <a:t>B2B2C</a:t>
          </a:r>
        </a:p>
      </p:txBody>
    </p:sp>
    <p:sp>
      <p:nvSpPr>
        <p:cNvPr id="25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01 / 10</a:t>
          </a:r>
        </a:p>
      </p:txBody>
    </p:sp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Problem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Người già ngã tại nhà, gia đình biết quá muộn.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00" dirty="0">
              <a:solidFill>
                <a:srgbClr val="CFE7E3"/>
              </a:solidFill>
              <a:latin typeface="Aptos Display"/>
              <a:cs typeface="Arial"/>
            </a:rPr>
            <a:t>Camera chuyển động gây nhiễu; sản phẩm fall detection nhập khẩu lại đắt và chưa phổ biến tại Việt Nam.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Phát hiện trễ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Người đi làm hoặc sống xa không có tín hiệu đủ nhanh khi cha mẹ gặp sự cố.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Bỏ lỡ cảnh báo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Motion alert quá nhiều khiến chủ nhà tắt thông báo và bỏ qua sự kiện thật.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Rủi ro riêng tư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Camera gia đình có nguy cơ bị truy cập trái phép, lộ ảnh hoặc video nhạy cảm.</a:t>
          </a:r>
        </a:p>
      </p:txBody>
    </p:sp>
    <p:sp>
      <p:nvSpPr>
        <p:cNvPr id="24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02 / 10</a:t>
          </a:r>
        </a:p>
      </p:txBody>
    </p:sp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Market Signal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Thị trường chăm sóc người cao tuổi đã đủ lớn để bắt đầu.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100" dirty="0">
              <a:b/>
              <a:solidFill>
                <a:srgbClr val="70F0A8"/>
              </a:solidFill>
              <a:latin typeface="Aptos Display"/>
              <a:cs typeface="Arial"/>
            </a:rPr>
            <a:t>16,1 triệu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solidFill>
                <a:srgbClr val="A8C4C0"/>
              </a:solidFill>
              <a:latin typeface="Aptos Display"/>
              <a:cs typeface="Arial"/>
            </a:rPr>
            <a:t>người cao tuổi tại Việt Nam theo dữ liệu dân cư quốc gia, cập nhật năm 2025.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100" dirty="0">
              <a:b/>
              <a:solidFill>
                <a:srgbClr val="70F0A8"/>
              </a:solidFill>
              <a:latin typeface="Aptos Display"/>
              <a:cs typeface="Arial"/>
            </a:rPr>
            <a:t>&gt;16%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solidFill>
                <a:srgbClr val="A8C4C0"/>
              </a:solidFill>
              <a:latin typeface="Aptos Display"/>
              <a:cs typeface="Arial"/>
            </a:rPr>
            <a:t>dân số Việt Nam là người cao tuổi; dân số trung bình năm 2025 khoảng 102,3 triệu.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100" dirty="0">
              <a:b/>
              <a:solidFill>
                <a:srgbClr val="70F0A8"/>
              </a:solidFill>
              <a:latin typeface="Aptos Display"/>
              <a:cs typeface="Arial"/>
            </a:rPr>
            <a:t>1,5–1,9 triệu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solidFill>
                <a:srgbClr val="A8C4C0"/>
              </a:solidFill>
              <a:latin typeface="Aptos Display"/>
              <a:cs typeface="Arial"/>
            </a:rPr>
            <a:t>người cao tuổi té ngã mỗi năm, tạo nhu cầu cảnh báo sớm tại nhà.</a:t>
          </a:r>
        </a:p>
      </p:txBody>
    </p:sp>
    <p:sp>
      <p:nvSpPr>
        <p:cNvPr id="23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422392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solidFill>
                <a:srgbClr val="D8F4EF"/>
              </a:solidFill>
              <a:latin typeface="Aptos Display"/>
              <a:cs typeface="Arial"/>
            </a:rPr>
            <a:t>Dân số già hóa nhanh + con cái đi làm xa + camera gia đình đã phổ biến tạo thời điểm phù hợp cho một lớp AI an toàn giá hợp lý.</a:t>
          </a:r>
        </a:p>
      </p:txBody>
    </p:sp>
    <p:sp>
      <p:nvSpPr>
        <p:cNvPr id="25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03 / 10</a:t>
          </a:r>
        </a:p>
      </p:txBody>
    </p:sp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Solution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SYL biến camera thành hệ thống chăm sóc chủ động.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00" dirty="0">
              <a:solidFill>
                <a:srgbClr val="CFE7E3"/>
              </a:solidFill>
              <a:latin typeface="Aptos Display"/>
              <a:cs typeface="Arial"/>
            </a:rPr>
            <a:t>Gateway AI kết nối camera, phát hiện té ngã và người lạ, rồi gửi cảnh báo đúng người đúng quyền.</a:t>
          </a:r>
        </a:p>
      </p:txBody>
    </p:sp>
    <p:sp>
      <p:nvSpPr>
        <p:cNvPr id="15" name="Panel"/>
        <p:cNvSpPr/>
        <p:nvPr/>
      </p:nvSpPr>
      <p:spPr>
        <a:xfrm>
          <a:off x="841248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Té ngã</a:t>
          </a:r>
        </a:p>
      </p:txBody>
    </p:sp>
    <p:sp>
      <p:nvSpPr>
        <p:cNvPr id="17" name="Text"/>
        <p:cNvSpPr txBox="1"/>
        <p:nvPr/>
      </p:nvSpPr>
      <p:spPr>
        <a:xfrm>
          <a:off x="987552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Ưu tiên recall cao để giảm nguy cơ bỏ sót ca ngã thật.</a:t>
          </a:r>
        </a:p>
      </p:txBody>
    </p:sp>
    <p:sp>
      <p:nvSpPr>
        <p:cNvPr id="18" name="Panel"/>
        <p:cNvSpPr/>
        <p:nvPr/>
      </p:nvSpPr>
      <p:spPr>
        <a:xfrm>
          <a:off x="4401312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Người lạ</a:t>
          </a:r>
        </a:p>
      </p:txBody>
    </p:sp>
    <p:sp>
      <p:nvSpPr>
        <p:cNvPr id="20" name="Text"/>
        <p:cNvSpPr txBox="1"/>
        <p:nvPr/>
      </p:nvSpPr>
      <p:spPr>
        <a:xfrm>
          <a:off x="4547616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Nhận diện người nhà và cảnh báo khi phát hiện đối tượng lạ.</a:t>
          </a:r>
        </a:p>
      </p:txBody>
    </p:sp>
    <p:sp>
      <p:nvSpPr>
        <p:cNvPr id="21" name="Panel"/>
        <p:cNvSpPr/>
        <p:nvPr/>
      </p:nvSpPr>
      <p:spPr>
        <a:xfrm>
          <a:off x="7961376" y="3749039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867911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Quyền 5 phút</a:t>
          </a:r>
        </a:p>
      </p:txBody>
    </p:sp>
    <p:sp>
      <p:nvSpPr>
        <p:cNvPr id="23" name="Text"/>
        <p:cNvSpPr txBox="1"/>
        <p:nvPr/>
      </p:nvSpPr>
      <p:spPr>
        <a:xfrm>
          <a:off x="8107680" y="416052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Bác sĩ được cấp quyền tạm thời khi có sự cố, sau đó tự thu hồi.</a:t>
          </a:r>
        </a:p>
      </p:txBody>
    </p:sp>
    <p:sp>
      <p:nvSpPr>
        <p:cNvPr id="24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04 / 10</a:t>
          </a:r>
        </a:p>
      </p:txBody>
    </p:sp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How It Works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Từ tín hiệu camera đến hành động khẩn cấp.</a:t>
          </a:r>
        </a:p>
      </p:txBody>
    </p:sp>
    <p:sp>
      <p:nvSpPr>
        <p:cNvPr id="14" name="Panel"/>
        <p:cNvSpPr/>
        <p:nvPr/>
      </p:nvSpPr>
      <p:spPr>
        <a:xfrm>
          <a:off x="841248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60120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01</a:t>
          </a:r>
        </a:p>
      </p:txBody>
    </p:sp>
    <p:sp>
      <p:nvSpPr>
        <p:cNvPr id="16" name="Text"/>
        <p:cNvSpPr txBox="1"/>
        <p:nvPr/>
      </p:nvSpPr>
      <p:spPr>
        <a:xfrm>
          <a:off x="960120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600" dirty="0">
              <a:b/>
              <a:solidFill>
                <a:srgbClr val="EEFDF8"/>
              </a:solidFill>
              <a:latin typeface="Aptos Display"/>
              <a:cs typeface="Arial"/>
            </a:rPr>
            <a:t>Camera</a:t>
          </a:r>
        </a:p>
      </p:txBody>
    </p:sp>
    <p:sp>
      <p:nvSpPr>
        <p:cNvPr id="17" name="Text"/>
        <p:cNvSpPr txBox="1"/>
        <p:nvPr/>
      </p:nvSpPr>
      <p:spPr>
        <a:xfrm>
          <a:off x="960120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9" dirty="0">
              <a:solidFill>
                <a:srgbClr val="A8C4C0"/>
              </a:solidFill>
              <a:latin typeface="Aptos Display"/>
              <a:cs typeface="Arial"/>
            </a:rPr>
            <a:t>Ghi nhận khu vực đã cấu hình.</a:t>
          </a:r>
        </a:p>
      </p:txBody>
    </p:sp>
    <p:sp>
      <p:nvSpPr>
        <p:cNvPr id="18" name="Panel"/>
        <p:cNvSpPr/>
        <p:nvPr/>
      </p:nvSpPr>
      <p:spPr>
        <a:xfrm>
          <a:off x="2968142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3087014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02</a:t>
          </a:r>
        </a:p>
      </p:txBody>
    </p:sp>
    <p:sp>
      <p:nvSpPr>
        <p:cNvPr id="20" name="Text"/>
        <p:cNvSpPr txBox="1"/>
        <p:nvPr/>
      </p:nvSpPr>
      <p:spPr>
        <a:xfrm>
          <a:off x="3087014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600" dirty="0">
              <a:b/>
              <a:solidFill>
                <a:srgbClr val="EEFDF8"/>
              </a:solidFill>
              <a:latin typeface="Aptos Display"/>
              <a:cs typeface="Arial"/>
            </a:rPr>
            <a:t>AI pose</a:t>
          </a:r>
        </a:p>
      </p:txBody>
    </p:sp>
    <p:sp>
      <p:nvSpPr>
        <p:cNvPr id="21" name="Text"/>
        <p:cNvSpPr txBox="1"/>
        <p:nvPr/>
      </p:nvSpPr>
      <p:spPr>
        <a:xfrm>
          <a:off x="3087014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9" dirty="0">
              <a:solidFill>
                <a:srgbClr val="A8C4C0"/>
              </a:solidFill>
              <a:latin typeface="Aptos Display"/>
              <a:cs typeface="Arial"/>
            </a:rPr>
            <a:t>Phân tích tư thế, chuyển động, đối tượng.</a:t>
          </a:r>
        </a:p>
      </p:txBody>
    </p:sp>
    <p:sp>
      <p:nvSpPr>
        <p:cNvPr id="22" name="Panel"/>
        <p:cNvSpPr/>
        <p:nvPr/>
      </p:nvSpPr>
      <p:spPr>
        <a:xfrm>
          <a:off x="5095036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3" name="Text"/>
        <p:cNvSpPr txBox="1"/>
        <p:nvPr/>
      </p:nvSpPr>
      <p:spPr>
        <a:xfrm>
          <a:off x="5213908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03</a:t>
          </a:r>
        </a:p>
      </p:txBody>
    </p:sp>
    <p:sp>
      <p:nvSpPr>
        <p:cNvPr id="24" name="Text"/>
        <p:cNvSpPr txBox="1"/>
        <p:nvPr/>
      </p:nvSpPr>
      <p:spPr>
        <a:xfrm>
          <a:off x="5213908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600" dirty="0">
              <a:b/>
              <a:solidFill>
                <a:srgbClr val="EEFDF8"/>
              </a:solidFill>
              <a:latin typeface="Aptos Display"/>
              <a:cs typeface="Arial"/>
            </a:rPr>
            <a:t>Cảnh báo</a:t>
          </a:r>
        </a:p>
      </p:txBody>
    </p:sp>
    <p:sp>
      <p:nvSpPr>
        <p:cNvPr id="25" name="Text"/>
        <p:cNvSpPr txBox="1"/>
        <p:nvPr/>
      </p:nvSpPr>
      <p:spPr>
        <a:xfrm>
          <a:off x="5213908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9" dirty="0">
              <a:solidFill>
                <a:srgbClr val="A8C4C0"/>
              </a:solidFill>
              <a:latin typeface="Aptos Display"/>
              <a:cs typeface="Arial"/>
            </a:rPr>
            <a:t>Tạo alert theo mức ưu tiên.</a:t>
          </a:r>
        </a:p>
      </p:txBody>
    </p:sp>
    <p:sp>
      <p:nvSpPr>
        <p:cNvPr id="26" name="Panel"/>
        <p:cNvSpPr/>
        <p:nvPr/>
      </p:nvSpPr>
      <p:spPr>
        <a:xfrm>
          <a:off x="7221931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7" name="Text"/>
        <p:cNvSpPr txBox="1"/>
        <p:nvPr/>
      </p:nvSpPr>
      <p:spPr>
        <a:xfrm>
          <a:off x="7340803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04</a:t>
          </a:r>
        </a:p>
      </p:txBody>
    </p:sp>
    <p:sp>
      <p:nvSpPr>
        <p:cNvPr id="28" name="Text"/>
        <p:cNvSpPr txBox="1"/>
        <p:nvPr/>
      </p:nvSpPr>
      <p:spPr>
        <a:xfrm>
          <a:off x="7340803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600" dirty="0">
              <a:b/>
              <a:solidFill>
                <a:srgbClr val="EEFDF8"/>
              </a:solidFill>
              <a:latin typeface="Aptos Display"/>
              <a:cs typeface="Arial"/>
            </a:rPr>
            <a:t>Liên hệ</a:t>
          </a:r>
        </a:p>
      </p:txBody>
    </p:sp>
    <p:sp>
      <p:nvSpPr>
        <p:cNvPr id="29" name="Text"/>
        <p:cNvSpPr txBox="1"/>
        <p:nvPr/>
      </p:nvSpPr>
      <p:spPr>
        <a:xfrm>
          <a:off x="7340803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9" dirty="0">
              <a:solidFill>
                <a:srgbClr val="A8C4C0"/>
              </a:solidFill>
              <a:latin typeface="Aptos Display"/>
              <a:cs typeface="Arial"/>
            </a:rPr>
            <a:t>Gọi admin, gia đình hoặc bác sĩ.</a:t>
          </a:r>
        </a:p>
      </p:txBody>
    </p:sp>
    <p:sp>
      <p:nvSpPr>
        <p:cNvPr id="30" name="Panel"/>
        <p:cNvSpPr/>
        <p:nvPr/>
      </p:nvSpPr>
      <p:spPr>
        <a:xfrm>
          <a:off x="9348825" y="3520440"/>
          <a:ext cx="2008022" cy="1508760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31" name="Text"/>
        <p:cNvSpPr txBox="1"/>
        <p:nvPr/>
      </p:nvSpPr>
      <p:spPr>
        <a:xfrm>
          <a:off x="9467697" y="3694176"/>
          <a:ext cx="1770278" cy="23774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70F0A8"/>
              </a:solidFill>
              <a:latin typeface="Aptos Display"/>
              <a:cs typeface="Arial"/>
            </a:rPr>
            <a:t>05</a:t>
          </a:r>
        </a:p>
      </p:txBody>
    </p:sp>
    <p:sp>
      <p:nvSpPr>
        <p:cNvPr id="32" name="Text"/>
        <p:cNvSpPr txBox="1"/>
        <p:nvPr/>
      </p:nvSpPr>
      <p:spPr>
        <a:xfrm>
          <a:off x="9467697" y="4133087"/>
          <a:ext cx="177027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600" dirty="0">
              <a:b/>
              <a:solidFill>
                <a:srgbClr val="EEFDF8"/>
              </a:solidFill>
              <a:latin typeface="Aptos Display"/>
              <a:cs typeface="Arial"/>
            </a:rPr>
            <a:t>Thu hồi</a:t>
          </a:r>
        </a:p>
      </p:txBody>
    </p:sp>
    <p:sp>
      <p:nvSpPr>
        <p:cNvPr id="33" name="Text"/>
        <p:cNvSpPr txBox="1"/>
        <p:nvPr/>
      </p:nvSpPr>
      <p:spPr>
        <a:xfrm>
          <a:off x="9467697" y="4489704"/>
          <a:ext cx="1770278" cy="38404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969" dirty="0">
              <a:solidFill>
                <a:srgbClr val="A8C4C0"/>
              </a:solidFill>
              <a:latin typeface="Aptos Display"/>
              <a:cs typeface="Arial"/>
            </a:rPr>
            <a:t>Quyền xem khẩn cấp hết hạn sau 5 phút.</a:t>
          </a:r>
        </a:p>
      </p:txBody>
    </p:sp>
    <p:sp>
      <p:nvSpPr>
        <p:cNvPr id="34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05 / 10</a:t>
          </a:r>
        </a:p>
      </p:txBody>
    </p:sp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Technical Edge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Ưu tiên không bỏ sót sự cố thật.</a:t>
          </a:r>
        </a:p>
      </p:txBody>
    </p:sp>
    <p:sp>
      <p:nvSpPr>
        <p:cNvPr id="14" name="Panel"/>
        <p:cNvSpPr/>
        <p:nvPr/>
      </p:nvSpPr>
      <p:spPr>
        <a:xfrm>
          <a:off x="841248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1005840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100" dirty="0">
              <a:b/>
              <a:solidFill>
                <a:srgbClr val="70F0A8"/>
              </a:solidFill>
              <a:latin typeface="Aptos Display"/>
              <a:cs typeface="Arial"/>
            </a:rPr>
            <a:t>≥85%</a:t>
          </a:r>
        </a:p>
      </p:txBody>
    </p:sp>
    <p:sp>
      <p:nvSpPr>
        <p:cNvPr id="16" name="Text"/>
        <p:cNvSpPr txBox="1"/>
        <p:nvPr/>
      </p:nvSpPr>
      <p:spPr>
        <a:xfrm>
          <a:off x="1005840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solidFill>
                <a:srgbClr val="A8C4C0"/>
              </a:solidFill>
              <a:latin typeface="Aptos Display"/>
              <a:cs typeface="Arial"/>
            </a:rPr>
            <a:t>recall mục tiêu cho phát hiện té ngã.</a:t>
          </a:r>
        </a:p>
      </p:txBody>
    </p:sp>
    <p:sp>
      <p:nvSpPr>
        <p:cNvPr id="17" name="Panel"/>
        <p:cNvSpPr/>
        <p:nvPr/>
      </p:nvSpPr>
      <p:spPr>
        <a:xfrm>
          <a:off x="4434840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99432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100" dirty="0">
              <a:b/>
              <a:solidFill>
                <a:srgbClr val="70F0A8"/>
              </a:solidFill>
              <a:latin typeface="Aptos Display"/>
              <a:cs typeface="Arial"/>
            </a:rPr>
            <a:t>83.05%</a:t>
          </a:r>
        </a:p>
      </p:txBody>
    </p:sp>
    <p:sp>
      <p:nvSpPr>
        <p:cNvPr id="19" name="Text"/>
        <p:cNvSpPr txBox="1"/>
        <p:nvPr/>
      </p:nvSpPr>
      <p:spPr>
        <a:xfrm>
          <a:off x="4599432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solidFill>
                <a:srgbClr val="A8C4C0"/>
              </a:solidFill>
              <a:latin typeface="Aptos Display"/>
              <a:cs typeface="Arial"/>
            </a:rPr>
            <a:t>F1 cho phát hiện người lạ trong thử nghiệm nội bộ.</a:t>
          </a:r>
        </a:p>
      </p:txBody>
    </p:sp>
    <p:sp>
      <p:nvSpPr>
        <p:cNvPr id="20" name="Panel"/>
        <p:cNvSpPr/>
        <p:nvPr/>
      </p:nvSpPr>
      <p:spPr>
        <a:xfrm>
          <a:off x="8028432" y="3703320"/>
          <a:ext cx="3337560" cy="1207008"/>
        </a:xfrm>
        <a:prstGeom prst="roundRect">
          <a:avLst/>
        </a:prstGeom>
        <a:solidFill>
          <a:srgbClr val="1A2B20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93024" y="3877056"/>
          <a:ext cx="2971800" cy="41148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100" dirty="0">
              <a:b/>
              <a:solidFill>
                <a:srgbClr val="70F0A8"/>
              </a:solidFill>
              <a:latin typeface="Aptos Display"/>
              <a:cs typeface="Arial"/>
            </a:rPr>
            <a:t>85.96%</a:t>
          </a:r>
        </a:p>
      </p:txBody>
    </p:sp>
    <p:sp>
      <p:nvSpPr>
        <p:cNvPr id="22" name="Text"/>
        <p:cNvSpPr txBox="1"/>
        <p:nvPr/>
      </p:nvSpPr>
      <p:spPr>
        <a:xfrm>
          <a:off x="8193024" y="4416552"/>
          <a:ext cx="2971800" cy="32004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80" dirty="0">
              <a:solidFill>
                <a:srgbClr val="A8C4C0"/>
              </a:solidFill>
              <a:latin typeface="Aptos Display"/>
              <a:cs typeface="Arial"/>
            </a:rPr>
            <a:t>recall cho stranger detection.</a:t>
          </a:r>
        </a:p>
      </p:txBody>
    </p:sp>
    <p:sp>
      <p:nvSpPr>
        <p:cNvPr id="23" name="Panel"/>
        <p:cNvSpPr/>
        <p:nvPr/>
      </p:nvSpPr>
      <p:spPr>
        <a:xfrm>
          <a:off x="841248" y="5285232"/>
          <a:ext cx="9875520" cy="502920"/>
        </a:xfrm>
        <a:prstGeom prst="roundRect">
          <a:avLst/>
        </a:prstGeom>
        <a:solidFill>
          <a:srgbClr val="2B3A24">
            <a:alpha val="76000"/>
          </a:srgbClr>
        </a:solidFill>
        <a:ln w="12700">
          <a:solidFill>
            <a:srgbClr val="7FB069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1024128" y="5422392"/>
          <a:ext cx="9326880" cy="201168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solidFill>
                <a:srgbClr val="D8F4EF"/>
              </a:solidFill>
              <a:latin typeface="Aptos Display"/>
              <a:cs typeface="Arial"/>
            </a:rPr>
            <a:t>Báo động giả có thể xử lý ở tầng xác nhận; bỏ sót ca ngã thật là rủi ro lớn hơn.</a:t>
          </a:r>
        </a:p>
      </p:txBody>
    </p:sp>
    <p:sp>
      <p:nvSpPr>
        <p:cNvPr id="25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06 / 10</a:t>
          </a:r>
        </a:p>
      </p:txBody>
    </p:sp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Users &amp; Roles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Thiết kế cho gia đình, chủ nhà và người chăm sóc.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Admin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Thêm camera, phân quyền, kiểm tra lỗi trên dashboard.</a:t>
          </a:r>
        </a:p>
      </p:txBody>
    </p:sp>
    <p:sp>
      <p:nvSpPr>
        <p:cNvPr id="17" name="Panel"/>
        <p:cNvSpPr/>
        <p:nvPr/>
      </p:nvSpPr>
      <p:spPr>
        <a:xfrm>
          <a:off x="3511296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3657600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Gia đình</a:t>
          </a:r>
        </a:p>
      </p:txBody>
    </p:sp>
    <p:sp>
      <p:nvSpPr>
        <p:cNvPr id="19" name="Text"/>
        <p:cNvSpPr txBox="1"/>
        <p:nvPr/>
      </p:nvSpPr>
      <p:spPr>
        <a:xfrm>
          <a:off x="3657600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Chỉ xem camera được cấp phép và nhận cảnh báo liên quan.</a:t>
          </a:r>
        </a:p>
      </p:txBody>
    </p:sp>
    <p:sp>
      <p:nvSpPr>
        <p:cNvPr id="20" name="Panel"/>
        <p:cNvSpPr/>
        <p:nvPr/>
      </p:nvSpPr>
      <p:spPr>
        <a:xfrm>
          <a:off x="6181344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6327648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Bác sĩ</a:t>
          </a:r>
        </a:p>
      </p:txBody>
    </p:sp>
    <p:sp>
      <p:nvSpPr>
        <p:cNvPr id="22" name="Text"/>
        <p:cNvSpPr txBox="1"/>
        <p:nvPr/>
      </p:nvSpPr>
      <p:spPr>
        <a:xfrm>
          <a:off x="6327648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Xem tạm thời camera phòng người lớn tuổi khi có sự cố.</a:t>
          </a:r>
        </a:p>
      </p:txBody>
    </p:sp>
    <p:sp>
      <p:nvSpPr>
        <p:cNvPr id="23" name="Panel"/>
        <p:cNvSpPr/>
        <p:nvPr/>
      </p:nvSpPr>
      <p:spPr>
        <a:xfrm>
          <a:off x="8851392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997696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Người cao tuổi</a:t>
          </a:r>
        </a:p>
      </p:txBody>
    </p:sp>
    <p:sp>
      <p:nvSpPr>
        <p:cNvPr id="25" name="Text"/>
        <p:cNvSpPr txBox="1"/>
        <p:nvPr/>
      </p:nvSpPr>
      <p:spPr>
        <a:xfrm>
          <a:off x="8997696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Không cần thao tác, không cần nhớ đeo thiết bị.</a:t>
          </a:r>
        </a:p>
      </p:txBody>
    </p:sp>
    <p:sp>
      <p:nvSpPr>
        <p:cNvPr id="26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07 / 10</a:t>
          </a:r>
        </a:p>
      </p:txBody>
    </p:sp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Business Model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Gateway AI + hợp tác phân phối B2B2C.</a:t>
          </a:r>
        </a:p>
      </p:txBody>
    </p:sp>
    <p:sp>
      <p:nvSpPr>
        <p:cNvPr id="14" name="Text"/>
        <p:cNvSpPr txBox="1"/>
        <p:nvPr/>
      </p:nvSpPr>
      <p:spPr>
        <a:xfrm>
          <a:off x="859536" y="2542032"/>
          <a:ext cx="8595360" cy="50292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500" dirty="0">
              <a:solidFill>
                <a:srgbClr val="CFE7E3"/>
              </a:solidFill>
              <a:latin typeface="Aptos Display"/>
              <a:cs typeface="Arial"/>
            </a:rPr>
            <a:t>Giai đoạn đầu bán sỉ qua đối tác camera; dài hạn chuyển sang hoa hồng/doanh thu.</a:t>
          </a:r>
        </a:p>
      </p:txBody>
    </p:sp>
    <p:sp>
      <p:nvSpPr>
        <p:cNvPr id="15" name="Panel"/>
        <p:cNvSpPr/>
        <p:nvPr/>
      </p:nvSpPr>
      <p:spPr>
        <a:xfrm>
          <a:off x="841248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6" name="Text"/>
        <p:cNvSpPr txBox="1"/>
        <p:nvPr/>
      </p:nvSpPr>
      <p:spPr>
        <a:xfrm>
          <a:off x="987552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Standard · 5.2tr</a:t>
          </a:r>
        </a:p>
      </p:txBody>
    </p:sp>
    <p:sp>
      <p:nvSpPr>
        <p:cNvPr id="17" name="Text"/>
        <p:cNvSpPr txBox="1"/>
        <p:nvPr/>
      </p:nvSpPr>
      <p:spPr>
        <a:xfrm>
          <a:off x="987552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Raspberry Pi 5 4GB + hệ thống SYL.</a:t>
          </a:r>
        </a:p>
      </p:txBody>
    </p:sp>
    <p:sp>
      <p:nvSpPr>
        <p:cNvPr id="18" name="Panel"/>
        <p:cNvSpPr/>
        <p:nvPr/>
      </p:nvSpPr>
      <p:spPr>
        <a:xfrm>
          <a:off x="4401312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9" name="Text"/>
        <p:cNvSpPr txBox="1"/>
        <p:nvPr/>
      </p:nvSpPr>
      <p:spPr>
        <a:xfrm>
          <a:off x="4547616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Plus · 8.5tr</a:t>
          </a:r>
        </a:p>
      </p:txBody>
    </p:sp>
    <p:sp>
      <p:nvSpPr>
        <p:cNvPr id="20" name="Text"/>
        <p:cNvSpPr txBox="1"/>
        <p:nvPr/>
      </p:nvSpPr>
      <p:spPr>
        <a:xfrm>
          <a:off x="4547616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Raspberry Pi 5 8GB + hệ thống SYL.</a:t>
          </a:r>
        </a:p>
      </p:txBody>
    </p:sp>
    <p:sp>
      <p:nvSpPr>
        <p:cNvPr id="21" name="Panel"/>
        <p:cNvSpPr/>
        <p:nvPr/>
      </p:nvSpPr>
      <p:spPr>
        <a:xfrm>
          <a:off x="7961376" y="365760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2" name="Text"/>
        <p:cNvSpPr txBox="1"/>
        <p:nvPr/>
      </p:nvSpPr>
      <p:spPr>
        <a:xfrm>
          <a:off x="8107680" y="377647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Pro · 10tr</a:t>
          </a:r>
        </a:p>
      </p:txBody>
    </p:sp>
    <p:sp>
      <p:nvSpPr>
        <p:cNvPr id="23" name="Text"/>
        <p:cNvSpPr txBox="1"/>
        <p:nvPr/>
      </p:nvSpPr>
      <p:spPr>
        <a:xfrm>
          <a:off x="8107680" y="4069080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8GB + nâng cấp bản mới nhất, miễn phí 6 tháng đầu.</a:t>
          </a:r>
        </a:p>
      </p:txBody>
    </p:sp>
    <p:sp>
      <p:nvSpPr>
        <p:cNvPr id="24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08 / 10</a:t>
          </a:r>
        </a:p>
      </p:txBody>
    </p:sp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Competition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Nằm giữa camera phổ thông và hệ thống chuyên dụng đắt tiền.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Camera phổ thông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EZVIZ/IMOU mạnh về giá, nhưng chủ yếu motion/human detection.</a:t>
          </a:r>
        </a:p>
      </p:txBody>
    </p:sp>
    <p:sp>
      <p:nvSpPr>
        <p:cNvPr id="17" name="Panel"/>
        <p:cNvSpPr/>
        <p:nvPr/>
      </p:nvSpPr>
      <p:spPr>
        <a:xfrm>
          <a:off x="4401312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4547616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Camera chuyên dụng</a:t>
          </a:r>
        </a:p>
      </p:txBody>
    </p:sp>
    <p:sp>
      <p:nvSpPr>
        <p:cNvPr id="19" name="Text"/>
        <p:cNvSpPr txBox="1"/>
        <p:nvPr/>
      </p:nvSpPr>
      <p:spPr>
        <a:xfrm>
          <a:off x="4547616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Hanwha, i-PRO, Hikvision có fall detection nhưng chi phí cao hoặc khó mua tại VN.</a:t>
          </a:r>
        </a:p>
      </p:txBody>
    </p:sp>
    <p:sp>
      <p:nvSpPr>
        <p:cNvPr id="20" name="Panel"/>
        <p:cNvSpPr/>
        <p:nvPr/>
      </p:nvSpPr>
      <p:spPr>
        <a:xfrm>
          <a:off x="7961376" y="3566160"/>
          <a:ext cx="3395472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8107680" y="3685032"/>
          <a:ext cx="3102864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22" name="Text"/>
        <p:cNvSpPr txBox="1"/>
        <p:nvPr/>
      </p:nvSpPr>
      <p:spPr>
        <a:xfrm>
          <a:off x="8107680" y="3977639"/>
          <a:ext cx="3102864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Tập trung fall detection + stranger alert, gateway phổ biến, dễ tích hợp.</a:t>
          </a:r>
        </a:p>
      </p:txBody>
    </p:sp>
    <p:sp>
      <p:nvSpPr>
        <p:cNvPr id="23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09 / 10</a:t>
          </a:r>
        </a:p>
      </p:txBody>
    </p:sp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8"/>
        </a:solidFill>
        <a:effectLst/>
      </p:bgPr>
    </p:bg>
    <p:sp>
      <p:nvSpPr>
        <p:cNvPr id="11" name="Text"/>
        <p:cNvSpPr txBox="1"/>
        <p:nvPr/>
      </p:nvSpPr>
      <p:spPr>
        <a:xfrm>
          <a:off x="685800" y="384048"/>
          <a:ext cx="384048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300" dirty="0">
              <a:b/>
              <a:solidFill>
                <a:srgbClr val="EEFDF8"/>
              </a:solidFill>
              <a:latin typeface="Aptos Display"/>
              <a:cs typeface="Arial"/>
            </a:rPr>
            <a:t>SYL</a:t>
          </a:r>
        </a:p>
      </p:txBody>
    </p:sp>
    <p:sp>
      <p:nvSpPr>
        <p:cNvPr id="12" name="Text"/>
        <p:cNvSpPr txBox="1"/>
        <p:nvPr/>
      </p:nvSpPr>
      <p:spPr>
        <a:xfrm>
          <a:off x="841248" y="932688"/>
          <a:ext cx="4389120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150" dirty="0">
              <a:b/>
              <a:solidFill>
                <a:srgbClr val="59E0D0"/>
              </a:solidFill>
              <a:latin typeface="Aptos Display"/>
              <a:cs typeface="Arial"/>
            </a:rPr>
            <a:t>Roadmap &amp; Ask</a:t>
          </a:r>
        </a:p>
      </p:txBody>
    </p:sp>
    <p:sp>
      <p:nvSpPr>
        <p:cNvPr id="13" name="Text"/>
        <p:cNvSpPr txBox="1"/>
        <p:nvPr/>
      </p:nvSpPr>
      <p:spPr>
        <a:xfrm>
          <a:off x="804672" y="1344168"/>
          <a:ext cx="10515600" cy="1051560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3400" dirty="0">
              <a:b/>
              <a:solidFill>
                <a:srgbClr val="EEFDF8"/>
              </a:solidFill>
              <a:latin typeface="Aptos Display"/>
              <a:cs typeface="Arial"/>
            </a:rPr>
            <a:t>Cần phần cứng thật, dữ liệu thật, đối tác thật.</a:t>
          </a:r>
        </a:p>
      </p:txBody>
    </p:sp>
    <p:sp>
      <p:nvSpPr>
        <p:cNvPr id="14" name="Panel"/>
        <p:cNvSpPr/>
        <p:nvPr/>
      </p:nvSpPr>
      <p:spPr>
        <a:xfrm>
          <a:off x="841248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5" name="Text"/>
        <p:cNvSpPr txBox="1"/>
        <p:nvPr/>
      </p:nvSpPr>
      <p:spPr>
        <a:xfrm>
          <a:off x="987552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0–3 tháng</a:t>
          </a:r>
        </a:p>
      </p:txBody>
    </p:sp>
    <p:sp>
      <p:nvSpPr>
        <p:cNvPr id="16" name="Text"/>
        <p:cNvSpPr txBox="1"/>
        <p:nvPr/>
      </p:nvSpPr>
      <p:spPr>
        <a:xfrm>
          <a:off x="987552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Hoàn thiện MVP, dashboard admin, phân quyền, cảnh báo khẩn.</a:t>
          </a:r>
        </a:p>
      </p:txBody>
    </p:sp>
    <p:sp>
      <p:nvSpPr>
        <p:cNvPr id="17" name="Panel"/>
        <p:cNvSpPr/>
        <p:nvPr/>
      </p:nvSpPr>
      <p:spPr>
        <a:xfrm>
          <a:off x="3511296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18" name="Text"/>
        <p:cNvSpPr txBox="1"/>
        <p:nvPr/>
      </p:nvSpPr>
      <p:spPr>
        <a:xfrm>
          <a:off x="3657600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3–6 tháng</a:t>
          </a:r>
        </a:p>
      </p:txBody>
    </p:sp>
    <p:sp>
      <p:nvSpPr>
        <p:cNvPr id="19" name="Text"/>
        <p:cNvSpPr txBox="1"/>
        <p:nvPr/>
      </p:nvSpPr>
      <p:spPr>
        <a:xfrm>
          <a:off x="3657600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Benchmark trên camera/gateway phổ biến, dữ liệu đồng ý/ẩn danh.</a:t>
          </a:r>
        </a:p>
      </p:txBody>
    </p:sp>
    <p:sp>
      <p:nvSpPr>
        <p:cNvPr id="20" name="Panel"/>
        <p:cNvSpPr/>
        <p:nvPr/>
      </p:nvSpPr>
      <p:spPr>
        <a:xfrm>
          <a:off x="6181344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1" name="Text"/>
        <p:cNvSpPr txBox="1"/>
        <p:nvPr/>
      </p:nvSpPr>
      <p:spPr>
        <a:xfrm>
          <a:off x="6327648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6–12 tháng</a:t>
          </a:r>
        </a:p>
      </p:txBody>
    </p:sp>
    <p:sp>
      <p:nvSpPr>
        <p:cNvPr id="22" name="Text"/>
        <p:cNvSpPr txBox="1"/>
        <p:nvPr/>
      </p:nvSpPr>
      <p:spPr>
        <a:xfrm>
          <a:off x="6327648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Pilot với đối tác camera, chủ nhà hoặc cơ sở chăm sóc.</a:t>
          </a:r>
        </a:p>
      </p:txBody>
    </p:sp>
    <p:sp>
      <p:nvSpPr>
        <p:cNvPr id="23" name="Panel"/>
        <p:cNvSpPr/>
        <p:nvPr/>
      </p:nvSpPr>
      <p:spPr>
        <a:xfrm>
          <a:off x="8851392" y="3566160"/>
          <a:ext cx="2505456" cy="987552"/>
        </a:xfrm>
        <a:prstGeom prst="roundRect">
          <a:avLst/>
        </a:prstGeom>
        <a:solidFill>
          <a:srgbClr val="1F3022">
            <a:alpha val="85000"/>
          </a:srgbClr>
        </a:solidFill>
        <a:ln w="12700">
          <a:solidFill>
            <a:srgbClr val="B8D8A4">
              <a:alpha val="52000"/>
            </a:srgbClr>
          </a:solidFill>
        </a:ln>
      </p:spPr>
    </p:sp>
    <p:sp>
      <p:nvSpPr>
        <p:cNvPr id="24" name="Text"/>
        <p:cNvSpPr txBox="1"/>
        <p:nvPr/>
      </p:nvSpPr>
      <p:spPr>
        <a:xfrm>
          <a:off x="8997696" y="3685032"/>
          <a:ext cx="2212848" cy="256032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800" dirty="0">
              <a:b/>
              <a:solidFill>
                <a:srgbClr val="EEFDF8"/>
              </a:solidFill>
              <a:latin typeface="Aptos Display"/>
              <a:cs typeface="Arial"/>
            </a:rPr>
            <a:t>Kêu gọi</a:t>
          </a:r>
        </a:p>
      </p:txBody>
    </p:sp>
    <p:sp>
      <p:nvSpPr>
        <p:cNvPr id="25" name="Text"/>
        <p:cNvSpPr txBox="1"/>
        <p:nvPr/>
      </p:nvSpPr>
      <p:spPr>
        <a:xfrm>
          <a:off x="8997696" y="3977639"/>
          <a:ext cx="2212848" cy="42062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l"/>
          <a:r>
            <a:rPr lang="vi-VN" sz="1070" dirty="0">
              <a:solidFill>
                <a:srgbClr val="A8C4C0"/>
              </a:solidFill>
              <a:latin typeface="Aptos Display"/>
              <a:cs typeface="Arial"/>
            </a:rPr>
            <a:t>Tìm 1–2 đối tác thử nghiệm, bộ camera/gateway và cố vấn AI biên.</a:t>
          </a:r>
        </a:p>
      </p:txBody>
    </p:sp>
    <p:sp>
      <p:nvSpPr>
        <p:cNvPr id="26" name="Text"/>
        <p:cNvSpPr txBox="1"/>
        <p:nvPr/>
      </p:nvSpPr>
      <p:spPr>
        <a:xfrm>
          <a:off x="10771632" y="6272784"/>
          <a:ext cx="822960" cy="146304"/>
        </a:xfrm>
        <a:prstGeom prst="rect">
          <a:avLst/>
        </a:prstGeom>
        <a:noFill/>
        <a:ln>
          <a:noFill/>
        </a:ln>
      </p:spPr>
      <p:txBody>
        <a:bodyPr wrap="square" anchor="t"/>
        <a:lstStyle/>
        <a:p>
          <a:pPr algn="r"/>
          <a:r>
            <a:rPr lang="vi-VN" sz="850" dirty="0">
              <a:b/>
              <a:solidFill>
                <a:srgbClr val="A8C4C0"/>
              </a:solidFill>
              <a:latin typeface="Aptos Display"/>
              <a:cs typeface="Arial"/>
            </a:rPr>
            <a:t>10 / 10</a:t>
          </a:r>
        </a:p>
      </p:txBody>
    </p:sp>
  </p:cSld>
  <p:clrMapOvr>
    <a:masterClrMapping/>
  </p:clrMapOvr>
</p:sld>
</file>

<file path=ppt/theme/theme1.xml><?xml version="1.0" encoding="utf-8"?>
<a:theme xmlns:a="http://schemas.openxmlformats.org/drawingml/2006/main" name="SYL Theme">
  <a:themeElements>
    <a:clrScheme name="SYL">
      <a:dk1>
        <a:srgbClr val="102018"/>
      </a:dk1>
      <a:lt1>
        <a:srgbClr val="EEFDF8"/>
      </a:lt1>
      <a:dk2>
        <a:srgbClr val="1F3022"/>
      </a:dk2>
      <a:lt2>
        <a:srgbClr val="A8C4C0"/>
      </a:lt2>
      <a:accent1>
        <a:srgbClr val="59E0D0"/>
      </a:accent1>
      <a:accent2>
        <a:srgbClr val="70F0A8"/>
      </a:accent2>
      <a:accent3>
        <a:srgbClr val="FFD166"/>
      </a:accent3>
      <a:accent4>
        <a:srgbClr val="FF8A9A"/>
      </a:accent4>
      <a:accent5>
        <a:srgbClr val="6E8F55"/>
      </a:accent5>
      <a:accent6>
        <a:srgbClr val="2B3A24"/>
      </a:accent6>
      <a:hlink>
        <a:srgbClr val="59E0D0"/>
      </a:hlink>
      <a:folHlink>
        <a:srgbClr val="70F0A8"/>
      </a:folHlink>
    </a:clrScheme>
    <a:fontScheme name="SYL">
      <a:majorFont>
        <a:latin typeface="Aptos Display"/>
        <a:ea typeface=""/>
        <a:cs typeface="Arial"/>
      </a:majorFont>
      <a:minorFont>
        <a:latin typeface="Aptos"/>
        <a:ea typeface=""/>
        <a:cs typeface="Arial"/>
      </a:minorFont>
    </a:fontScheme>
    <a:fmtScheme name="SY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